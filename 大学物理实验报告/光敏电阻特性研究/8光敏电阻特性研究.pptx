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16"/>
  </p:handoutMasterIdLst>
  <p:sldIdLst>
    <p:sldId id="457" r:id="rId4"/>
    <p:sldId id="398" r:id="rId5"/>
    <p:sldId id="426" r:id="rId6"/>
    <p:sldId id="442" r:id="rId8"/>
    <p:sldId id="448" r:id="rId9"/>
    <p:sldId id="443" r:id="rId10"/>
    <p:sldId id="444" r:id="rId11"/>
    <p:sldId id="452" r:id="rId12"/>
    <p:sldId id="454" r:id="rId13"/>
    <p:sldId id="461" r:id="rId14"/>
    <p:sldId id="462" r:id="rId1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00"/>
    <a:srgbClr val="FF0066"/>
    <a:srgbClr val="0E302F"/>
    <a:srgbClr val="006666"/>
    <a:srgbClr val="0000FF"/>
    <a:srgbClr val="7030A0"/>
    <a:srgbClr val="292929"/>
    <a:srgbClr val="4D4D4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8" autoAdjust="0"/>
    <p:restoredTop sz="97885" autoAdjust="0"/>
  </p:normalViewPr>
  <p:slideViewPr>
    <p:cSldViewPr snapToObjects="1" showGuides="1">
      <p:cViewPr>
        <p:scale>
          <a:sx n="100" d="100"/>
          <a:sy n="100" d="100"/>
        </p:scale>
        <p:origin x="888" y="-9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48" d="100"/>
          <a:sy n="48" d="100"/>
        </p:scale>
        <p:origin x="-19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2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2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2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0C61AE60-B9D4-42E7-AC7A-D937D48F684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D4712-BB5B-4640-A894-3A224A0A43E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43590-60A0-4A92-8B90-40FAC91FD6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A43590-60A0-4A92-8B90-40FAC91FD6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27" name="Group 20"/>
          <p:cNvGrpSpPr/>
          <p:nvPr userDrawn="1"/>
        </p:nvGrpSpPr>
        <p:grpSpPr bwMode="auto"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 userDrawn="1"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ACEAFE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>
              <a:spLocks noChangeShapeType="1"/>
            </p:cNvSpPr>
            <p:nvPr userDrawn="1"/>
          </p:nvSpPr>
          <p:spPr bwMode="auto">
            <a:xfrm>
              <a:off x="3647" y="3923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 rot="5400000">
            <a:off x="7471569" y="6479382"/>
            <a:ext cx="327025" cy="198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ACEAFE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 rot="16200000">
            <a:off x="8019256" y="6479382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ACEAFE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1030" name="Group 25"/>
          <p:cNvGrpSpPr/>
          <p:nvPr userDrawn="1"/>
        </p:nvGrpSpPr>
        <p:grpSpPr bwMode="auto"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 userDrawn="1"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ACEAFE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35" name="Line 27"/>
            <p:cNvSpPr>
              <a:spLocks noChangeShapeType="1"/>
            </p:cNvSpPr>
            <p:nvPr userDrawn="1"/>
          </p:nvSpPr>
          <p:spPr bwMode="auto">
            <a:xfrm>
              <a:off x="4558" y="3896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031" name="Picture 37" descr="bj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2" name="Rectangle 33"/>
          <p:cNvSpPr>
            <a:spLocks noChangeArrowheads="1"/>
          </p:cNvSpPr>
          <p:nvPr userDrawn="1"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033" name="Rectangle 34"/>
          <p:cNvSpPr>
            <a:spLocks noChangeArrowheads="1"/>
          </p:cNvSpPr>
          <p:nvPr userDrawn="1"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0" descr="bj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6134100"/>
            <a:ext cx="9144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27" name="Group 20"/>
          <p:cNvGrpSpPr/>
          <p:nvPr userDrawn="1"/>
        </p:nvGrpSpPr>
        <p:grpSpPr bwMode="auto">
          <a:xfrm>
            <a:off x="6805613" y="6415088"/>
            <a:ext cx="198437" cy="327025"/>
            <a:chOff x="3492" y="3902"/>
            <a:chExt cx="155" cy="257"/>
          </a:xfrm>
        </p:grpSpPr>
        <p:sp>
          <p:nvSpPr>
            <p:cNvPr id="462869" name="AutoShape 21">
              <a:hlinkClick r:id="" action="ppaction://hlinkshowjump?jump=lastslide"/>
            </p:cNvPr>
            <p:cNvSpPr>
              <a:spLocks noChangeArrowheads="1"/>
            </p:cNvSpPr>
            <p:nvPr userDrawn="1"/>
          </p:nvSpPr>
          <p:spPr bwMode="auto">
            <a:xfrm rot="5400000">
              <a:off x="3441" y="3953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ACEAFE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37" name="Line 22">
              <a:hlinkClick r:id="" action="ppaction://hlinkshowjump?jump=lastslide"/>
            </p:cNvPr>
            <p:cNvSpPr>
              <a:spLocks noChangeShapeType="1"/>
            </p:cNvSpPr>
            <p:nvPr userDrawn="1"/>
          </p:nvSpPr>
          <p:spPr bwMode="auto">
            <a:xfrm>
              <a:off x="3647" y="3923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62871" name="AutoShape 23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 rot="5400000">
            <a:off x="7471569" y="6479382"/>
            <a:ext cx="327025" cy="198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ACEAFE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62872" name="AutoShape 24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 rot="16200000">
            <a:off x="8019256" y="6479382"/>
            <a:ext cx="327025" cy="198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ACEAFE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1030" name="Group 25"/>
          <p:cNvGrpSpPr/>
          <p:nvPr userDrawn="1"/>
        </p:nvGrpSpPr>
        <p:grpSpPr bwMode="auto">
          <a:xfrm>
            <a:off x="8766175" y="6415088"/>
            <a:ext cx="198438" cy="327025"/>
            <a:chOff x="4558" y="3875"/>
            <a:chExt cx="155" cy="257"/>
          </a:xfrm>
        </p:grpSpPr>
        <p:sp>
          <p:nvSpPr>
            <p:cNvPr id="462874" name="AutoShape 26">
              <a:hlinkClick r:id="" action="ppaction://hlinkshowjump?jump=firstslide"/>
            </p:cNvPr>
            <p:cNvSpPr>
              <a:spLocks noChangeArrowheads="1"/>
            </p:cNvSpPr>
            <p:nvPr userDrawn="1"/>
          </p:nvSpPr>
          <p:spPr bwMode="auto">
            <a:xfrm rot="16200000">
              <a:off x="4507" y="3926"/>
              <a:ext cx="257" cy="1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ACEAFE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35" name="Line 27"/>
            <p:cNvSpPr>
              <a:spLocks noChangeShapeType="1"/>
            </p:cNvSpPr>
            <p:nvPr userDrawn="1"/>
          </p:nvSpPr>
          <p:spPr bwMode="auto">
            <a:xfrm>
              <a:off x="4558" y="3896"/>
              <a:ext cx="0" cy="204"/>
            </a:xfrm>
            <a:prstGeom prst="line">
              <a:avLst/>
            </a:prstGeom>
            <a:noFill/>
            <a:ln w="28575">
              <a:solidFill>
                <a:srgbClr val="ACEAFE"/>
              </a:solidFill>
              <a:round/>
            </a:ln>
            <a:effectLst>
              <a:prstShdw prst="shdw17" dist="17961" dir="2700000">
                <a:srgbClr val="678C98"/>
              </a:prstShdw>
            </a:effectLst>
          </p:spPr>
          <p:txBody>
            <a:bodyPr/>
            <a:lstStyle/>
            <a:p>
              <a:endParaRPr lang="zh-CN" altLang="en-US" sz="1800"/>
            </a:p>
          </p:txBody>
        </p:sp>
      </p:grpSp>
      <p:pic>
        <p:nvPicPr>
          <p:cNvPr id="1031" name="Picture 37" descr="bj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9144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2" name="Rectangle 33"/>
          <p:cNvSpPr>
            <a:spLocks noChangeArrowheads="1"/>
          </p:cNvSpPr>
          <p:nvPr userDrawn="1"/>
        </p:nvSpPr>
        <p:spPr bwMode="auto">
          <a:xfrm>
            <a:off x="0" y="692150"/>
            <a:ext cx="9144000" cy="73025"/>
          </a:xfrm>
          <a:prstGeom prst="rect">
            <a:avLst/>
          </a:prstGeom>
          <a:gradFill rotWithShape="1">
            <a:gsLst>
              <a:gs pos="0">
                <a:srgbClr val="FF33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1" hangingPunct="1"/>
            <a:endParaRPr lang="zh-CN" altLang="en-US" sz="1800"/>
          </a:p>
        </p:txBody>
      </p:sp>
      <p:sp>
        <p:nvSpPr>
          <p:cNvPr id="1033" name="Rectangle 34"/>
          <p:cNvSpPr>
            <a:spLocks noChangeArrowheads="1"/>
          </p:cNvSpPr>
          <p:nvPr userDrawn="1"/>
        </p:nvSpPr>
        <p:spPr bwMode="auto">
          <a:xfrm>
            <a:off x="0" y="6173788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FF3300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1" hangingPunct="1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NULL" TargetMode="External"/><Relationship Id="rId4" Type="http://schemas.openxmlformats.org/officeDocument/2006/relationships/image" Target="../media/image4.jpeg"/><Relationship Id="rId3" Type="http://schemas.openxmlformats.org/officeDocument/2006/relationships/hyperlink" Target="http://baike.baidu.com/view/267121.htm" TargetMode="External"/><Relationship Id="rId2" Type="http://schemas.openxmlformats.org/officeDocument/2006/relationships/hyperlink" Target="http://baike.baidu.com/view/19996.htm" TargetMode="External"/><Relationship Id="rId1" Type="http://schemas.openxmlformats.org/officeDocument/2006/relationships/hyperlink" Target="http://baike.baidu.com/view/3762.ht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hyperlink" Target="http://baike.baidu.com/view/546877.htm" TargetMode="Externa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baike.baidu.com/view/8193.htm" TargetMode="External"/><Relationship Id="rId1" Type="http://schemas.openxmlformats.org/officeDocument/2006/relationships/hyperlink" Target="http://baike.baidu.com/view/10954.htm" TargetMode="Externa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9.wmf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图片1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9275"/>
            <a:ext cx="9144000" cy="630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4"/>
          <p:cNvSpPr/>
          <p:nvPr/>
        </p:nvSpPr>
        <p:spPr>
          <a:xfrm>
            <a:off x="-357187" y="5949950"/>
            <a:ext cx="9144000" cy="908050"/>
          </a:xfrm>
          <a:prstGeom prst="rect">
            <a:avLst/>
          </a:prstGeom>
          <a:solidFill>
            <a:srgbClr val="0099FF"/>
          </a:solidFill>
          <a:ln w="2857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                                                  </a:t>
            </a:r>
            <a:endParaRPr lang="en-US" altLang="zh-CN" sz="2800" b="1" i="1" dirty="0">
              <a:solidFill>
                <a:srgbClr val="0000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00" name="Rectangle 5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rgbClr val="6699FF"/>
          </a:solidFill>
          <a:ln w="28575">
            <a:noFill/>
          </a:ln>
        </p:spPr>
        <p:txBody>
          <a:bodyPr wrap="none" anchor="ctr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5192" name="WordArt 8"/>
          <p:cNvSpPr>
            <a:spLocks noChangeArrowheads="1" noChangeShapeType="1" noTextEdit="1"/>
          </p:cNvSpPr>
          <p:nvPr/>
        </p:nvSpPr>
        <p:spPr bwMode="auto">
          <a:xfrm>
            <a:off x="4716463" y="4510088"/>
            <a:ext cx="3095625" cy="503237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大学物理实验</a:t>
            </a:r>
            <a:r>
              <a:rPr kumimoji="0" lang="en-US" altLang="zh-CN" sz="3600" b="1" i="0" u="none" strike="noStrike" kern="10" cap="none" spc="0" normalizeH="0" baseline="0" noProof="0" dirty="0">
                <a:ln w="9525">
                  <a:solidFill>
                    <a:srgbClr val="000066"/>
                  </a:solidFill>
                  <a:rou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1</a:t>
            </a:r>
            <a:endParaRPr kumimoji="0" lang="zh-CN" altLang="en-US" sz="3600" b="1" i="0" u="none" strike="noStrike" kern="10" cap="none" spc="0" normalizeH="0" baseline="0" noProof="0" dirty="0">
              <a:ln w="9525">
                <a:solidFill>
                  <a:srgbClr val="000066"/>
                </a:solidFill>
                <a:round/>
              </a:ln>
              <a:solidFill>
                <a:srgbClr val="000066"/>
              </a:soli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4102" name="WordArt 9"/>
          <p:cNvSpPr>
            <a:spLocks noTextEdit="1"/>
          </p:cNvSpPr>
          <p:nvPr/>
        </p:nvSpPr>
        <p:spPr>
          <a:xfrm>
            <a:off x="3851919" y="2386013"/>
            <a:ext cx="4647555" cy="12588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 dirty="0">
                <a:ln w="9525" cap="flat" cmpd="sng">
                  <a:solidFill>
                    <a:srgbClr val="000066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0066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光敏电阻特性研究</a:t>
            </a:r>
            <a:endParaRPr lang="zh-CN" altLang="en-US" sz="3600" b="1" dirty="0">
              <a:ln w="9525" cap="flat" cmpd="sng">
                <a:solidFill>
                  <a:srgbClr val="000066"/>
                </a:solidFill>
                <a:prstDash val="solid"/>
                <a:headEnd type="none" w="med" len="med"/>
                <a:tailEnd type="none" w="med" len="med"/>
              </a:ln>
              <a:solidFill>
                <a:srgbClr val="000066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4103" name="Text Box 11"/>
          <p:cNvSpPr txBox="1"/>
          <p:nvPr/>
        </p:nvSpPr>
        <p:spPr>
          <a:xfrm>
            <a:off x="2555875" y="6207125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292929"/>
                </a:solidFill>
                <a:latin typeface="Arial" panose="020B0604020202020204" pitchFamily="34" charset="0"/>
                <a:ea typeface="华文隶书" panose="02010800040101010101" pitchFamily="2" charset="-122"/>
              </a:rPr>
              <a:t>深圳大学物理实验教学中心</a:t>
            </a:r>
            <a:endParaRPr lang="zh-CN" altLang="en-US" sz="2400" b="1" dirty="0">
              <a:solidFill>
                <a:srgbClr val="292929"/>
              </a:solidFill>
              <a:latin typeface="Arial" panose="020B0604020202020204" pitchFamily="34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ChangeArrowheads="1"/>
          </p:cNvSpPr>
          <p:nvPr/>
        </p:nvSpPr>
        <p:spPr bwMode="auto">
          <a:xfrm>
            <a:off x="539552" y="71696"/>
            <a:ext cx="182614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历史回眸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6299" y="1390460"/>
            <a:ext cx="48611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光电效应由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德国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物理学家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赫兹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1887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年发现，对发展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量子理论</a:t>
            </a:r>
            <a:r>
              <a:rPr lang="zh-CN" altLang="en-US" sz="2800" b="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起了根本性作用。</a:t>
            </a:r>
            <a:r>
              <a:rPr lang="zh-CN" altLang="en-US" sz="28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5" descr="Gustav Ludwig Hertz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085" y="1556792"/>
            <a:ext cx="1550988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301085" y="3933056"/>
            <a:ext cx="18288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G.</a:t>
            </a:r>
            <a:r>
              <a:rPr lang="zh-CN" altLang="en-US" sz="1200">
                <a:latin typeface="Times New Roman" panose="02020603050405020304" pitchFamily="18" charset="0"/>
                <a:ea typeface="宋体" panose="02010600030101010101" pitchFamily="2" charset="-122"/>
              </a:rPr>
              <a:t>赫兹 </a:t>
            </a:r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Gustav Hertz</a:t>
            </a:r>
            <a:r>
              <a:rPr lang="zh-CN" altLang="en-US" sz="12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sz="12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1887—1975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95428" y="58267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  实验目的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30932" y="1384598"/>
            <a:ext cx="7886700" cy="1252314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测量光敏电阻的伏安特性；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测量光敏电阻的光照特性。</a:t>
            </a:r>
            <a:endParaRPr lang="zh-CN" altLang="en-US" sz="2800" b="1" dirty="0">
              <a:solidFill>
                <a:schemeClr val="tx1">
                  <a:lumMod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51520" y="58072"/>
            <a:ext cx="6378669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电阻下降的特性及原因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69861" y="907713"/>
            <a:ext cx="842486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/>
              <a:t>           </a:t>
            </a: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光敏电阻又称</a:t>
            </a:r>
            <a:r>
              <a:rPr lang="zh-CN" altLang="en-US" sz="2800" dirty="0">
                <a:solidFill>
                  <a:srgbClr val="CC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光导管</a:t>
            </a: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，在特定波长的光照射下，其阻值会迅速减小。 </a:t>
            </a:r>
            <a:endParaRPr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65" t="18608" b="16035"/>
          <a:stretch>
            <a:fillRect/>
          </a:stretch>
        </p:blipFill>
        <p:spPr bwMode="auto">
          <a:xfrm>
            <a:off x="1476375" y="4276725"/>
            <a:ext cx="8826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69861" y="2036594"/>
            <a:ext cx="88153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原因：光照后产生的载流子都参与导电，从而使</a:t>
            </a:r>
            <a:r>
              <a:rPr lang="zh-CN" altLang="en-US" sz="2800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光敏电阻</a:t>
            </a: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的阻值迅速下降（百兆欧到百欧）</a:t>
            </a:r>
            <a:endParaRPr lang="zh-CN" altLang="en-US" sz="28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1003300" y="5775325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292929"/>
                </a:solidFill>
              </a:rPr>
              <a:t>光敏电阻外观</a:t>
            </a:r>
            <a:endParaRPr lang="zh-CN" altLang="en-US" sz="2000" b="1" dirty="0">
              <a:solidFill>
                <a:srgbClr val="292929"/>
              </a:solidFill>
            </a:endParaRPr>
          </a:p>
        </p:txBody>
      </p:sp>
      <p:pic>
        <p:nvPicPr>
          <p:cNvPr id="2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4068763"/>
            <a:ext cx="2665412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6459538" y="5757863"/>
            <a:ext cx="2249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292929"/>
                </a:solidFill>
              </a:rPr>
              <a:t>光敏电阻光照特性</a:t>
            </a:r>
            <a:endParaRPr lang="zh-CN" altLang="en-US" sz="2000" b="1" dirty="0">
              <a:solidFill>
                <a:srgbClr val="292929"/>
              </a:solidFill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3752850" y="5775325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292929"/>
                </a:solidFill>
              </a:rPr>
              <a:t>光敏电阻符号</a:t>
            </a:r>
            <a:endParaRPr lang="zh-CN" altLang="en-US" sz="2000" b="1" dirty="0">
              <a:solidFill>
                <a:srgbClr val="292929"/>
              </a:solidFill>
            </a:endParaRPr>
          </a:p>
        </p:txBody>
      </p:sp>
      <p:grpSp>
        <p:nvGrpSpPr>
          <p:cNvPr id="25" name="Group 21"/>
          <p:cNvGrpSpPr/>
          <p:nvPr/>
        </p:nvGrpSpPr>
        <p:grpSpPr bwMode="auto">
          <a:xfrm>
            <a:off x="3906838" y="4872038"/>
            <a:ext cx="1385887" cy="573087"/>
            <a:chOff x="2325" y="2933"/>
            <a:chExt cx="873" cy="361"/>
          </a:xfrm>
        </p:grpSpPr>
        <p:sp>
          <p:nvSpPr>
            <p:cNvPr id="26" name="Freeform 18"/>
            <p:cNvSpPr/>
            <p:nvPr/>
          </p:nvSpPr>
          <p:spPr bwMode="auto">
            <a:xfrm>
              <a:off x="2634" y="2933"/>
              <a:ext cx="129" cy="227"/>
            </a:xfrm>
            <a:custGeom>
              <a:avLst/>
              <a:gdLst>
                <a:gd name="T0" fmla="*/ 0 w 129"/>
                <a:gd name="T1" fmla="*/ 0 h 227"/>
                <a:gd name="T2" fmla="*/ 129 w 129"/>
                <a:gd name="T3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9" h="227">
                  <a:moveTo>
                    <a:pt x="0" y="0"/>
                  </a:moveTo>
                  <a:lnTo>
                    <a:pt x="129" y="227"/>
                  </a:lnTo>
                </a:path>
              </a:pathLst>
            </a:custGeom>
            <a:noFill/>
            <a:ln w="28575" cmpd="sng">
              <a:solidFill>
                <a:srgbClr val="292929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>
              <a:off x="2325" y="3258"/>
              <a:ext cx="873" cy="0"/>
            </a:xfrm>
            <a:prstGeom prst="line">
              <a:avLst/>
            </a:prstGeom>
            <a:noFill/>
            <a:ln w="28575">
              <a:solidFill>
                <a:srgbClr val="29292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16"/>
            <p:cNvSpPr>
              <a:spLocks noChangeArrowheads="1"/>
            </p:cNvSpPr>
            <p:nvPr/>
          </p:nvSpPr>
          <p:spPr bwMode="auto">
            <a:xfrm>
              <a:off x="2589" y="3204"/>
              <a:ext cx="295" cy="9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2560" y="2959"/>
              <a:ext cx="129" cy="227"/>
            </a:xfrm>
            <a:custGeom>
              <a:avLst/>
              <a:gdLst>
                <a:gd name="T0" fmla="*/ 0 w 129"/>
                <a:gd name="T1" fmla="*/ 0 h 227"/>
                <a:gd name="T2" fmla="*/ 129 w 129"/>
                <a:gd name="T3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9" h="227">
                  <a:moveTo>
                    <a:pt x="0" y="0"/>
                  </a:moveTo>
                  <a:lnTo>
                    <a:pt x="129" y="227"/>
                  </a:lnTo>
                </a:path>
              </a:pathLst>
            </a:custGeom>
            <a:noFill/>
            <a:ln w="28575" cmpd="sng">
              <a:solidFill>
                <a:srgbClr val="292929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229671" y="42336"/>
            <a:ext cx="853203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光电效应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4" descr="光电效应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44824"/>
            <a:ext cx="4895850" cy="342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光电效应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75" y="2492896"/>
            <a:ext cx="3386138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229671" y="42336"/>
            <a:ext cx="853203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光敏电阻其它特性参数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250825" y="1306513"/>
            <a:ext cx="8675688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0066"/>
                </a:solidFill>
              </a:rPr>
              <a:t>　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暗电流、暗电阻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：在一定的</a:t>
            </a:r>
            <a:r>
              <a:rPr lang="zh-CN" altLang="en-US" sz="2400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电压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下，没有光照的时，流过的电流称为暗电流。外加电压与暗电流之比称为暗电阻。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灵敏度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：灵敏度是指暗电阻与受光照射时的亮电阻的相对变化值。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光谱响应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：是指光敏电阻在不同波长的光照下的灵敏度。多数在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540nm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附近出现峰值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温度系数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：光电效应受</a:t>
            </a:r>
            <a:r>
              <a:rPr lang="zh-CN" altLang="en-US" sz="2400" u="sng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温度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影响较大，部分光敏电阻在低温下的光电灵敏较高，而在高温下的灵敏度则较低。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额定功率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50~100mW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9671" y="42336"/>
            <a:ext cx="8532031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实验原理</a:t>
            </a:r>
            <a:r>
              <a:rPr lang="en-US" altLang="zh-CN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</a:t>
            </a:r>
            <a:r>
              <a:rPr lang="zh-CN" altLang="en-US" sz="2400" b="1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马吕斯定律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78"/>
          <p:cNvSpPr>
            <a:spLocks noChangeArrowheads="1"/>
          </p:cNvSpPr>
          <p:nvPr/>
        </p:nvSpPr>
        <p:spPr bwMode="auto">
          <a:xfrm>
            <a:off x="1225773" y="1407597"/>
            <a:ext cx="23503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偏振系统的作用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Group 97"/>
          <p:cNvGrpSpPr/>
          <p:nvPr/>
        </p:nvGrpSpPr>
        <p:grpSpPr bwMode="auto">
          <a:xfrm>
            <a:off x="1035684" y="2404268"/>
            <a:ext cx="2730500" cy="2049463"/>
            <a:chOff x="1171" y="2502"/>
            <a:chExt cx="1720" cy="1291"/>
          </a:xfrm>
        </p:grpSpPr>
        <p:grpSp>
          <p:nvGrpSpPr>
            <p:cNvPr id="34" name="Group 92"/>
            <p:cNvGrpSpPr/>
            <p:nvPr/>
          </p:nvGrpSpPr>
          <p:grpSpPr bwMode="auto">
            <a:xfrm>
              <a:off x="1171" y="2502"/>
              <a:ext cx="1720" cy="1079"/>
              <a:chOff x="2033" y="2690"/>
              <a:chExt cx="1720" cy="1079"/>
            </a:xfrm>
          </p:grpSpPr>
          <p:sp>
            <p:nvSpPr>
              <p:cNvPr id="37" name="Freeform 61"/>
              <p:cNvSpPr/>
              <p:nvPr/>
            </p:nvSpPr>
            <p:spPr bwMode="auto">
              <a:xfrm>
                <a:off x="2033" y="3220"/>
                <a:ext cx="453" cy="10"/>
              </a:xfrm>
              <a:custGeom>
                <a:avLst/>
                <a:gdLst>
                  <a:gd name="T0" fmla="*/ 0 w 453"/>
                  <a:gd name="T1" fmla="*/ 0 h 10"/>
                  <a:gd name="T2" fmla="*/ 453 w 453"/>
                  <a:gd name="T3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53" h="10">
                    <a:moveTo>
                      <a:pt x="0" y="0"/>
                    </a:moveTo>
                    <a:lnTo>
                      <a:pt x="453" y="10"/>
                    </a:lnTo>
                  </a:path>
                </a:pathLst>
              </a:custGeom>
              <a:noFill/>
              <a:ln w="38100">
                <a:solidFill>
                  <a:srgbClr val="0000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AutoShape 70"/>
              <p:cNvSpPr>
                <a:spLocks noChangeArrowheads="1"/>
              </p:cNvSpPr>
              <p:nvPr/>
            </p:nvSpPr>
            <p:spPr bwMode="auto">
              <a:xfrm>
                <a:off x="2327" y="2690"/>
                <a:ext cx="286" cy="1079"/>
              </a:xfrm>
              <a:prstGeom prst="cube">
                <a:avLst>
                  <a:gd name="adj" fmla="val 93532"/>
                </a:avLst>
              </a:prstGeom>
              <a:solidFill>
                <a:srgbClr val="33CCFF"/>
              </a:solidFill>
              <a:ln w="9525">
                <a:solidFill>
                  <a:srgbClr val="0099FF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" name="Object 71"/>
              <p:cNvGraphicFramePr>
                <a:graphicFrameLocks noChangeAspect="1"/>
              </p:cNvGraphicFramePr>
              <p:nvPr/>
            </p:nvGraphicFramePr>
            <p:xfrm>
              <a:off x="2361" y="2921"/>
              <a:ext cx="110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47" name="Equation" r:id="rId1" imgW="152400" imgH="228600" progId="Equation.DSMT4">
                      <p:embed/>
                    </p:oleObj>
                  </mc:Choice>
                  <mc:Fallback>
                    <p:oleObj name="Equation" r:id="rId1" imgW="152400" imgH="228600" progId="Equation.DSMT4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1" y="2921"/>
                            <a:ext cx="110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33CC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Line 72"/>
              <p:cNvSpPr>
                <a:spLocks noChangeShapeType="1"/>
              </p:cNvSpPr>
              <p:nvPr/>
            </p:nvSpPr>
            <p:spPr bwMode="auto">
              <a:xfrm>
                <a:off x="2486" y="3039"/>
                <a:ext cx="0" cy="38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85"/>
              <p:cNvSpPr/>
              <p:nvPr/>
            </p:nvSpPr>
            <p:spPr bwMode="auto">
              <a:xfrm>
                <a:off x="2493" y="3229"/>
                <a:ext cx="492" cy="1"/>
              </a:xfrm>
              <a:custGeom>
                <a:avLst/>
                <a:gdLst>
                  <a:gd name="T0" fmla="*/ 0 w 492"/>
                  <a:gd name="T1" fmla="*/ 0 h 1"/>
                  <a:gd name="T2" fmla="*/ 492 w 49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2" h="1">
                    <a:moveTo>
                      <a:pt x="0" y="0"/>
                    </a:moveTo>
                    <a:lnTo>
                      <a:pt x="492" y="0"/>
                    </a:lnTo>
                  </a:path>
                </a:pathLst>
              </a:custGeom>
              <a:noFill/>
              <a:ln w="38100">
                <a:solidFill>
                  <a:srgbClr val="0000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2" name="Group 88"/>
              <p:cNvGrpSpPr/>
              <p:nvPr/>
            </p:nvGrpSpPr>
            <p:grpSpPr bwMode="auto">
              <a:xfrm>
                <a:off x="2971" y="2690"/>
                <a:ext cx="286" cy="1079"/>
                <a:chOff x="2971" y="2690"/>
                <a:chExt cx="286" cy="1079"/>
              </a:xfrm>
            </p:grpSpPr>
            <p:grpSp>
              <p:nvGrpSpPr>
                <p:cNvPr id="46" name="Group 80"/>
                <p:cNvGrpSpPr/>
                <p:nvPr/>
              </p:nvGrpSpPr>
              <p:grpSpPr bwMode="auto">
                <a:xfrm>
                  <a:off x="2971" y="2690"/>
                  <a:ext cx="286" cy="1079"/>
                  <a:chOff x="793" y="1434"/>
                  <a:chExt cx="545" cy="1905"/>
                </a:xfrm>
              </p:grpSpPr>
              <p:sp>
                <p:nvSpPr>
                  <p:cNvPr id="51" name="AutoShape 81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1434"/>
                    <a:ext cx="545" cy="1905"/>
                  </a:xfrm>
                  <a:prstGeom prst="cube">
                    <a:avLst>
                      <a:gd name="adj" fmla="val 93532"/>
                    </a:avLst>
                  </a:prstGeom>
                  <a:solidFill>
                    <a:srgbClr val="33CCFF"/>
                  </a:solidFill>
                  <a:ln w="9525">
                    <a:solidFill>
                      <a:srgbClr val="0099FF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52" name="Object 82"/>
                  <p:cNvGraphicFramePr>
                    <a:graphicFrameLocks noChangeAspect="1"/>
                  </p:cNvGraphicFramePr>
                  <p:nvPr/>
                </p:nvGraphicFramePr>
                <p:xfrm>
                  <a:off x="850" y="1842"/>
                  <a:ext cx="227" cy="32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9248" name="Equation" r:id="rId3" imgW="165100" imgH="228600" progId="Equation.DSMT4">
                          <p:embed/>
                        </p:oleObj>
                      </mc:Choice>
                      <mc:Fallback>
                        <p:oleObj name="Equation" r:id="rId3" imgW="165100" imgH="228600" progId="Equation.DSMT4">
                          <p:embed/>
                          <p:pic>
                            <p:nvPicPr>
                              <p:cNvPr id="0" name="Object 8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50" y="1842"/>
                                <a:ext cx="227" cy="32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33CC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47" name="Freeform 83"/>
                <p:cNvSpPr/>
                <p:nvPr/>
              </p:nvSpPr>
              <p:spPr bwMode="auto">
                <a:xfrm>
                  <a:off x="3131" y="3046"/>
                  <a:ext cx="112" cy="373"/>
                </a:xfrm>
                <a:custGeom>
                  <a:avLst/>
                  <a:gdLst>
                    <a:gd name="T0" fmla="*/ 112 w 112"/>
                    <a:gd name="T1" fmla="*/ 0 h 373"/>
                    <a:gd name="T2" fmla="*/ 0 w 112"/>
                    <a:gd name="T3" fmla="*/ 373 h 3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2" h="373">
                      <a:moveTo>
                        <a:pt x="112" y="0"/>
                      </a:moveTo>
                      <a:lnTo>
                        <a:pt x="0" y="373"/>
                      </a:lnTo>
                    </a:path>
                  </a:pathLst>
                </a:custGeom>
                <a:noFill/>
                <a:ln w="38100">
                  <a:solidFill>
                    <a:srgbClr val="FF0066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Line 84"/>
                <p:cNvSpPr>
                  <a:spLocks noChangeShapeType="1"/>
                </p:cNvSpPr>
                <p:nvPr/>
              </p:nvSpPr>
              <p:spPr bwMode="auto">
                <a:xfrm>
                  <a:off x="3115" y="3080"/>
                  <a:ext cx="16" cy="339"/>
                </a:xfrm>
                <a:prstGeom prst="line">
                  <a:avLst/>
                </a:prstGeom>
                <a:noFill/>
                <a:ln w="28575" cap="rnd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9" name="Object 86"/>
                <p:cNvGraphicFramePr>
                  <a:graphicFrameLocks noChangeAspect="1"/>
                </p:cNvGraphicFramePr>
                <p:nvPr/>
              </p:nvGraphicFramePr>
              <p:xfrm>
                <a:off x="3102" y="3095"/>
                <a:ext cx="136" cy="1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249" name="Equation" r:id="rId5" imgW="152400" imgH="139700" progId="Equation.DSMT4">
                        <p:embed/>
                      </p:oleObj>
                    </mc:Choice>
                    <mc:Fallback>
                      <p:oleObj name="Equation" r:id="rId5" imgW="152400" imgH="139700" progId="Equation.DSMT4">
                        <p:embed/>
                        <p:pic>
                          <p:nvPicPr>
                            <p:cNvPr id="0" name="Object 8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102" y="3095"/>
                              <a:ext cx="136" cy="1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0" name="Freeform 87"/>
                <p:cNvSpPr/>
                <p:nvPr/>
              </p:nvSpPr>
              <p:spPr bwMode="auto">
                <a:xfrm>
                  <a:off x="3111" y="3247"/>
                  <a:ext cx="54" cy="2"/>
                </a:xfrm>
                <a:custGeom>
                  <a:avLst/>
                  <a:gdLst>
                    <a:gd name="T0" fmla="*/ 0 w 54"/>
                    <a:gd name="T1" fmla="*/ 2 h 2"/>
                    <a:gd name="T2" fmla="*/ 54 w 54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4" h="2">
                      <a:moveTo>
                        <a:pt x="0" y="2"/>
                      </a:moveTo>
                      <a:cubicBezTo>
                        <a:pt x="9" y="2"/>
                        <a:pt x="43" y="0"/>
                        <a:pt x="54" y="0"/>
                      </a:cubicBezTo>
                    </a:path>
                  </a:pathLst>
                </a:custGeom>
                <a:noFill/>
                <a:ln w="28575" cmpd="sng">
                  <a:solidFill>
                    <a:srgbClr val="FF33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43" name="Object 89"/>
              <p:cNvGraphicFramePr>
                <a:graphicFrameLocks noChangeAspect="1"/>
              </p:cNvGraphicFramePr>
              <p:nvPr/>
            </p:nvGraphicFramePr>
            <p:xfrm>
              <a:off x="2644" y="2986"/>
              <a:ext cx="169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0" name="Equation" r:id="rId7" imgW="152400" imgH="228600" progId="Equation.DSMT4">
                      <p:embed/>
                    </p:oleObj>
                  </mc:Choice>
                  <mc:Fallback>
                    <p:oleObj name="Equation" r:id="rId7" imgW="152400" imgH="228600" progId="Equation.DSMT4">
                      <p:embed/>
                      <p:pic>
                        <p:nvPicPr>
                          <p:cNvPr id="0" name="Object 8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4" y="2986"/>
                            <a:ext cx="169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" name="Freeform 90"/>
              <p:cNvSpPr/>
              <p:nvPr/>
            </p:nvSpPr>
            <p:spPr bwMode="auto">
              <a:xfrm>
                <a:off x="3257" y="3220"/>
                <a:ext cx="496" cy="1"/>
              </a:xfrm>
              <a:custGeom>
                <a:avLst/>
                <a:gdLst>
                  <a:gd name="T0" fmla="*/ 0 w 496"/>
                  <a:gd name="T1" fmla="*/ 0 h 1"/>
                  <a:gd name="T2" fmla="*/ 496 w 496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496" h="1">
                    <a:moveTo>
                      <a:pt x="0" y="0"/>
                    </a:moveTo>
                    <a:lnTo>
                      <a:pt x="496" y="0"/>
                    </a:lnTo>
                  </a:path>
                </a:pathLst>
              </a:custGeom>
              <a:noFill/>
              <a:ln w="28575" cmpd="sng">
                <a:solidFill>
                  <a:srgbClr val="000066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5" name="Object 91"/>
              <p:cNvGraphicFramePr>
                <a:graphicFrameLocks noChangeAspect="1"/>
              </p:cNvGraphicFramePr>
              <p:nvPr/>
            </p:nvGraphicFramePr>
            <p:xfrm>
              <a:off x="3403" y="2986"/>
              <a:ext cx="141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1" name="Equation" r:id="rId9" imgW="127000" imgH="165100" progId="Equation.DSMT4">
                      <p:embed/>
                    </p:oleObj>
                  </mc:Choice>
                  <mc:Fallback>
                    <p:oleObj name="Equation" r:id="rId9" imgW="127000" imgH="165100" progId="Equation.DSMT4">
                      <p:embed/>
                      <p:pic>
                        <p:nvPicPr>
                          <p:cNvPr id="0" name="Object 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3" y="2986"/>
                            <a:ext cx="141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" name="Text Box 93"/>
            <p:cNvSpPr txBox="1">
              <a:spLocks noChangeArrowheads="1"/>
            </p:cNvSpPr>
            <p:nvPr/>
          </p:nvSpPr>
          <p:spPr bwMode="auto">
            <a:xfrm>
              <a:off x="1282" y="3581"/>
              <a:ext cx="5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/>
                <a:t>偏振片</a:t>
              </a:r>
              <a:endParaRPr lang="zh-CN" altLang="en-US" sz="1600"/>
            </a:p>
          </p:txBody>
        </p:sp>
        <p:sp>
          <p:nvSpPr>
            <p:cNvPr id="36" name="Text Box 94"/>
            <p:cNvSpPr txBox="1">
              <a:spLocks noChangeArrowheads="1"/>
            </p:cNvSpPr>
            <p:nvPr/>
          </p:nvSpPr>
          <p:spPr bwMode="auto">
            <a:xfrm>
              <a:off x="2053" y="3581"/>
              <a:ext cx="5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/>
                <a:t>偏振片</a:t>
              </a:r>
              <a:endParaRPr lang="zh-CN" altLang="en-US" sz="1600"/>
            </a:p>
          </p:txBody>
        </p:sp>
      </p:grpSp>
      <p:graphicFrame>
        <p:nvGraphicFramePr>
          <p:cNvPr id="53" name="Object 95"/>
          <p:cNvGraphicFramePr>
            <a:graphicFrameLocks noChangeAspect="1"/>
          </p:cNvGraphicFramePr>
          <p:nvPr/>
        </p:nvGraphicFramePr>
        <p:xfrm>
          <a:off x="1444625" y="5230109"/>
          <a:ext cx="17287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11" imgW="799465" imgH="241300" progId="Equation.DSMT4">
                  <p:embed/>
                </p:oleObj>
              </mc:Choice>
              <mc:Fallback>
                <p:oleObj name="Equation" r:id="rId11" imgW="799465" imgH="241300" progId="Equation.DSMT4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5230109"/>
                        <a:ext cx="17287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96"/>
          <p:cNvSpPr txBox="1">
            <a:spLocks noChangeArrowheads="1"/>
          </p:cNvSpPr>
          <p:nvPr/>
        </p:nvSpPr>
        <p:spPr bwMode="auto">
          <a:xfrm>
            <a:off x="3997959" y="2917692"/>
            <a:ext cx="50212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通过控制偏振片的夹角，可以控制光强从</a:t>
            </a:r>
            <a:r>
              <a:rPr lang="en-US" altLang="zh-CN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i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aseline="-250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连续变化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5" name="Object 125"/>
          <p:cNvGraphicFramePr>
            <a:graphicFrameLocks noChangeAspect="1"/>
          </p:cNvGraphicFramePr>
          <p:nvPr/>
        </p:nvGraphicFramePr>
        <p:xfrm>
          <a:off x="4599032" y="5024528"/>
          <a:ext cx="15922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Equation" r:id="rId13" imgW="736600" imgH="431800" progId="Equation.DSMT4">
                  <p:embed/>
                </p:oleObj>
              </mc:Choice>
              <mc:Fallback>
                <p:oleObj name="Equation" r:id="rId13" imgW="736600" imgH="431800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032" y="5024528"/>
                        <a:ext cx="159226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 实验仪器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Group 58"/>
          <p:cNvGrpSpPr/>
          <p:nvPr/>
        </p:nvGrpSpPr>
        <p:grpSpPr bwMode="auto">
          <a:xfrm>
            <a:off x="701675" y="1241425"/>
            <a:ext cx="7164388" cy="2673350"/>
            <a:chOff x="272" y="921"/>
            <a:chExt cx="4513" cy="1684"/>
          </a:xfrm>
        </p:grpSpPr>
        <p:sp>
          <p:nvSpPr>
            <p:cNvPr id="20" name="AutoShape 22"/>
            <p:cNvSpPr>
              <a:spLocks noChangeArrowheads="1"/>
            </p:cNvSpPr>
            <p:nvPr/>
          </p:nvSpPr>
          <p:spPr bwMode="auto">
            <a:xfrm>
              <a:off x="272" y="2332"/>
              <a:ext cx="4513" cy="273"/>
            </a:xfrm>
            <a:prstGeom prst="cube">
              <a:avLst>
                <a:gd name="adj" fmla="val 48718"/>
              </a:avLst>
            </a:prstGeom>
            <a:solidFill>
              <a:srgbClr val="4D4D4D"/>
            </a:solidFill>
            <a:ln w="9525">
              <a:solidFill>
                <a:srgbClr val="EAEAEA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948" y="1348"/>
              <a:ext cx="113" cy="11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29292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621" y="1316"/>
              <a:ext cx="363" cy="181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757" y="1497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AutoShape 23"/>
            <p:cNvSpPr>
              <a:spLocks noChangeArrowheads="1"/>
            </p:cNvSpPr>
            <p:nvPr/>
          </p:nvSpPr>
          <p:spPr bwMode="auto">
            <a:xfrm>
              <a:off x="599" y="2214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20"/>
            <p:cNvSpPr>
              <a:spLocks noChangeArrowheads="1"/>
            </p:cNvSpPr>
            <p:nvPr/>
          </p:nvSpPr>
          <p:spPr bwMode="auto">
            <a:xfrm>
              <a:off x="657" y="1921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1397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AutoShape 27"/>
            <p:cNvSpPr>
              <a:spLocks noChangeArrowheads="1"/>
            </p:cNvSpPr>
            <p:nvPr/>
          </p:nvSpPr>
          <p:spPr bwMode="auto">
            <a:xfrm>
              <a:off x="1239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AutoShape 28"/>
            <p:cNvSpPr>
              <a:spLocks noChangeArrowheads="1"/>
            </p:cNvSpPr>
            <p:nvPr/>
          </p:nvSpPr>
          <p:spPr bwMode="auto">
            <a:xfrm>
              <a:off x="1297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041" y="1263"/>
              <a:ext cx="363" cy="25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2177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32"/>
            <p:cNvSpPr>
              <a:spLocks noChangeArrowheads="1"/>
            </p:cNvSpPr>
            <p:nvPr/>
          </p:nvSpPr>
          <p:spPr bwMode="auto">
            <a:xfrm>
              <a:off x="2019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utoShape 33"/>
            <p:cNvSpPr>
              <a:spLocks noChangeArrowheads="1"/>
            </p:cNvSpPr>
            <p:nvPr/>
          </p:nvSpPr>
          <p:spPr bwMode="auto">
            <a:xfrm>
              <a:off x="2077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3025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37"/>
            <p:cNvSpPr>
              <a:spLocks noChangeArrowheads="1"/>
            </p:cNvSpPr>
            <p:nvPr/>
          </p:nvSpPr>
          <p:spPr bwMode="auto">
            <a:xfrm>
              <a:off x="2867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utoShape 38"/>
            <p:cNvSpPr>
              <a:spLocks noChangeArrowheads="1"/>
            </p:cNvSpPr>
            <p:nvPr/>
          </p:nvSpPr>
          <p:spPr bwMode="auto">
            <a:xfrm>
              <a:off x="2925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Rectangle 40"/>
            <p:cNvSpPr>
              <a:spLocks noChangeArrowheads="1"/>
            </p:cNvSpPr>
            <p:nvPr/>
          </p:nvSpPr>
          <p:spPr bwMode="auto">
            <a:xfrm>
              <a:off x="3797" y="1314"/>
              <a:ext cx="363" cy="181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3933" y="1495"/>
              <a:ext cx="46" cy="499"/>
            </a:xfrm>
            <a:prstGeom prst="rect">
              <a:avLst/>
            </a:prstGeom>
            <a:gradFill rotWithShape="1">
              <a:gsLst>
                <a:gs pos="0">
                  <a:srgbClr val="4D4D4D"/>
                </a:gs>
                <a:gs pos="50000">
                  <a:schemeClr val="bg1"/>
                </a:gs>
                <a:gs pos="100000">
                  <a:srgbClr val="4D4D4D"/>
                </a:gs>
              </a:gsLst>
              <a:lin ang="0" scaled="1"/>
            </a:gra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AutoShape 42"/>
            <p:cNvSpPr>
              <a:spLocks noChangeArrowheads="1"/>
            </p:cNvSpPr>
            <p:nvPr/>
          </p:nvSpPr>
          <p:spPr bwMode="auto">
            <a:xfrm>
              <a:off x="3775" y="2212"/>
              <a:ext cx="358" cy="181"/>
            </a:xfrm>
            <a:prstGeom prst="cube">
              <a:avLst>
                <a:gd name="adj" fmla="val 25000"/>
              </a:avLst>
            </a:prstGeom>
            <a:solidFill>
              <a:srgbClr val="4D4D4D"/>
            </a:solidFill>
            <a:ln w="9525">
              <a:solidFill>
                <a:srgbClr val="29292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AutoShape 43"/>
            <p:cNvSpPr>
              <a:spLocks noChangeArrowheads="1"/>
            </p:cNvSpPr>
            <p:nvPr/>
          </p:nvSpPr>
          <p:spPr bwMode="auto">
            <a:xfrm>
              <a:off x="3833" y="1919"/>
              <a:ext cx="245" cy="322"/>
            </a:xfrm>
            <a:prstGeom prst="can">
              <a:avLst>
                <a:gd name="adj" fmla="val 13575"/>
              </a:avLst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round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4"/>
            <p:cNvSpPr>
              <a:spLocks noChangeArrowheads="1"/>
            </p:cNvSpPr>
            <p:nvPr/>
          </p:nvSpPr>
          <p:spPr bwMode="auto">
            <a:xfrm>
              <a:off x="1397" y="1209"/>
              <a:ext cx="46" cy="4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2012" y="1236"/>
              <a:ext cx="58" cy="295"/>
            </a:xfrm>
            <a:prstGeom prst="rect">
              <a:avLst/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miter lim="800000"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>
              <a:off x="2404" y="1236"/>
              <a:ext cx="58" cy="295"/>
            </a:xfrm>
            <a:prstGeom prst="rect">
              <a:avLst/>
            </a:prstGeom>
            <a:pattFill prst="ltHorz">
              <a:fgClr>
                <a:srgbClr val="292929"/>
              </a:fgClr>
              <a:bgClr>
                <a:schemeClr val="bg1"/>
              </a:bgClr>
            </a:pattFill>
            <a:ln w="9525">
              <a:solidFill>
                <a:srgbClr val="292929"/>
              </a:solidFill>
              <a:miter lim="800000"/>
            </a:ln>
            <a:effectLst>
              <a:prstShdw prst="shdw17" dist="17961" dir="2700000">
                <a:srgbClr val="29292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49"/>
            <p:cNvSpPr>
              <a:spLocks noChangeArrowheads="1"/>
            </p:cNvSpPr>
            <p:nvPr/>
          </p:nvSpPr>
          <p:spPr bwMode="auto">
            <a:xfrm>
              <a:off x="3025" y="1171"/>
              <a:ext cx="46" cy="4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50"/>
            <p:cNvSpPr txBox="1">
              <a:spLocks noChangeArrowheads="1"/>
            </p:cNvSpPr>
            <p:nvPr/>
          </p:nvSpPr>
          <p:spPr bwMode="auto">
            <a:xfrm>
              <a:off x="585" y="1037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光源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47" name="Text Box 51"/>
            <p:cNvSpPr txBox="1">
              <a:spLocks noChangeArrowheads="1"/>
            </p:cNvSpPr>
            <p:nvPr/>
          </p:nvSpPr>
          <p:spPr bwMode="auto">
            <a:xfrm>
              <a:off x="1225" y="921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透镜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48" name="Text Box 54"/>
            <p:cNvSpPr txBox="1">
              <a:spLocks noChangeArrowheads="1"/>
            </p:cNvSpPr>
            <p:nvPr/>
          </p:nvSpPr>
          <p:spPr bwMode="auto">
            <a:xfrm>
              <a:off x="1762" y="973"/>
              <a:ext cx="308" cy="6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偏振片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49" name="Text Box 55"/>
            <p:cNvSpPr txBox="1">
              <a:spLocks noChangeArrowheads="1"/>
            </p:cNvSpPr>
            <p:nvPr/>
          </p:nvSpPr>
          <p:spPr bwMode="auto">
            <a:xfrm>
              <a:off x="2426" y="973"/>
              <a:ext cx="308" cy="6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偏振片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50" name="Text Box 56"/>
            <p:cNvSpPr txBox="1">
              <a:spLocks noChangeArrowheads="1"/>
            </p:cNvSpPr>
            <p:nvPr/>
          </p:nvSpPr>
          <p:spPr bwMode="auto">
            <a:xfrm>
              <a:off x="2807" y="921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透镜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  <p:sp>
          <p:nvSpPr>
            <p:cNvPr id="51" name="Text Box 57"/>
            <p:cNvSpPr txBox="1">
              <a:spLocks noChangeArrowheads="1"/>
            </p:cNvSpPr>
            <p:nvPr/>
          </p:nvSpPr>
          <p:spPr bwMode="auto">
            <a:xfrm>
              <a:off x="3697" y="1046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>
                  <a:solidFill>
                    <a:srgbClr val="000066"/>
                  </a:solidFill>
                </a:rPr>
                <a:t>光敏电阻</a:t>
              </a:r>
              <a:endParaRPr lang="zh-CN" altLang="en-US" sz="2000">
                <a:solidFill>
                  <a:srgbClr val="000066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072562" y="4602413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注意各元件高度可以旋松螺丝调节</a:t>
            </a:r>
            <a:endParaRPr lang="zh-CN" altLang="en-US" sz="2400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  实验步骤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Group 123"/>
          <p:cNvGraphicFramePr>
            <a:graphicFrameLocks noGrp="1"/>
          </p:cNvGraphicFramePr>
          <p:nvPr/>
        </p:nvGraphicFramePr>
        <p:xfrm>
          <a:off x="4556125" y="1984375"/>
          <a:ext cx="4264025" cy="1084898"/>
        </p:xfrm>
        <a:graphic>
          <a:graphicData uri="http://schemas.openxmlformats.org/drawingml/2006/table">
            <a:tbl>
              <a:tblPr/>
              <a:tblGrid>
                <a:gridCol w="1154113"/>
                <a:gridCol w="590550"/>
                <a:gridCol w="652462"/>
                <a:gridCol w="622300"/>
                <a:gridCol w="622300"/>
                <a:gridCol w="622300"/>
              </a:tblGrid>
              <a:tr h="566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电压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电流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Group 120"/>
          <p:cNvGraphicFramePr>
            <a:graphicFrameLocks noGrp="1"/>
          </p:cNvGraphicFramePr>
          <p:nvPr/>
        </p:nvGraphicFramePr>
        <p:xfrm>
          <a:off x="4556125" y="4289425"/>
          <a:ext cx="4160838" cy="1094423"/>
        </p:xfrm>
        <a:graphic>
          <a:graphicData uri="http://schemas.openxmlformats.org/drawingml/2006/table">
            <a:tbl>
              <a:tblPr/>
              <a:tblGrid>
                <a:gridCol w="1063625"/>
                <a:gridCol w="619125"/>
                <a:gridCol w="619125"/>
                <a:gridCol w="620713"/>
                <a:gridCol w="619125"/>
                <a:gridCol w="619125"/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光强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电流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Rectangle 98"/>
          <p:cNvSpPr>
            <a:spLocks noChangeArrowheads="1"/>
          </p:cNvSpPr>
          <p:nvPr/>
        </p:nvSpPr>
        <p:spPr bwMode="auto">
          <a:xfrm>
            <a:off x="4506913" y="1457325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）伏安特性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117"/>
          <p:cNvSpPr>
            <a:spLocks noChangeArrowheads="1"/>
          </p:cNvSpPr>
          <p:nvPr/>
        </p:nvSpPr>
        <p:spPr bwMode="auto">
          <a:xfrm>
            <a:off x="4500563" y="3500438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）光照特性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118"/>
          <p:cNvSpPr>
            <a:spLocks noChangeArrowheads="1"/>
          </p:cNvSpPr>
          <p:nvPr/>
        </p:nvSpPr>
        <p:spPr bwMode="auto">
          <a:xfrm>
            <a:off x="5021263" y="5599113"/>
            <a:ext cx="323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光强如何控制、测量？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122"/>
          <p:cNvSpPr>
            <a:spLocks noChangeArrowheads="1"/>
          </p:cNvSpPr>
          <p:nvPr/>
        </p:nvSpPr>
        <p:spPr bwMode="auto">
          <a:xfrm>
            <a:off x="509588" y="4322763"/>
            <a:ext cx="34861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注意事项：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、不要超过电表量程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、不要超过光敏电阻的额定功率</a:t>
            </a:r>
            <a:endParaRPr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8" y="1477543"/>
            <a:ext cx="3324648" cy="1994788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02531" y="96281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）线路连接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08365" y="42336"/>
            <a:ext cx="2480166" cy="584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  报告要求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10146" y="975568"/>
            <a:ext cx="3384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、画伏安特性曲线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26567" y="1391864"/>
            <a:ext cx="3384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、光照特性曲线</a:t>
            </a:r>
            <a:endParaRPr lang="zh-CN" altLang="en-US" sz="2400" b="1" dirty="0">
              <a:solidFill>
                <a:schemeClr val="accent4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626567" y="1808161"/>
            <a:ext cx="3384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、写实验结论</a:t>
            </a:r>
            <a:endParaRPr lang="zh-CN" altLang="en-US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Object 23"/>
          <p:cNvGraphicFramePr>
            <a:graphicFrameLocks noChangeAspect="1"/>
          </p:cNvGraphicFramePr>
          <p:nvPr/>
        </p:nvGraphicFramePr>
        <p:xfrm>
          <a:off x="366802" y="2974184"/>
          <a:ext cx="3600450" cy="311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图表" r:id="rId1" imgW="3014345" imgH="2607945" progId="Excel.Chart.8">
                  <p:embed/>
                </p:oleObj>
              </mc:Choice>
              <mc:Fallback>
                <p:oleObj name="图表" r:id="rId1" imgW="3014345" imgH="2607945" progId="Excel.Char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02" y="2974184"/>
                        <a:ext cx="3600450" cy="311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/>
          <p:cNvGraphicFramePr>
            <a:graphicFrameLocks noChangeAspect="1"/>
          </p:cNvGraphicFramePr>
          <p:nvPr/>
        </p:nvGraphicFramePr>
        <p:xfrm>
          <a:off x="4283968" y="3429000"/>
          <a:ext cx="4143375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图表" r:id="rId3" imgW="5057140" imgH="3341370" progId="Excel.Chart.8">
                  <p:embed/>
                </p:oleObj>
              </mc:Choice>
              <mc:Fallback>
                <p:oleObj name="图表" r:id="rId3" imgW="5057140" imgH="3341370" progId="Excel.Char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3429000"/>
                        <a:ext cx="4143375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908720"/>
            <a:ext cx="3362325" cy="24098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57823" y="2204864"/>
            <a:ext cx="6628353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/>
            <a:r>
              <a:rPr lang="zh-CN" altLang="en-US" sz="1800" b="1" dirty="0">
                <a:solidFill>
                  <a:srgbClr val="002060"/>
                </a:solidFill>
                <a:latin typeface="华文中宋" panose="02010600040101010101" pitchFamily="2" charset="-122"/>
                <a:cs typeface="Times New Roman" panose="02020603050405020304" pitchFamily="18" charset="0"/>
              </a:rPr>
              <a:t>思考题</a:t>
            </a:r>
            <a:endParaRPr lang="en-US" altLang="zh-CN" sz="1800" b="1" dirty="0">
              <a:solidFill>
                <a:srgbClr val="002060"/>
              </a:solidFill>
              <a:latin typeface="华文中宋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/>
              <a:t>1</a:t>
            </a:r>
            <a:r>
              <a:rPr lang="zh-CN" altLang="en-US" sz="1800" dirty="0"/>
              <a:t>、在光敏电阻实验中，若入射光强逐渐增强，光敏电阻的阻值会发生怎样的变化？请结合半导体中载流子产生与导电机理分析其原因，并思考为何光敏电阻对不同波长的光响应会有所差异。</a:t>
            </a:r>
            <a:endParaRPr lang="zh-CN" altLang="en-US" sz="1800" dirty="0"/>
          </a:p>
          <a:p>
            <a:r>
              <a:rPr lang="en-US" altLang="zh-CN" sz="1800" dirty="0"/>
              <a:t>2</a:t>
            </a:r>
            <a:r>
              <a:rPr lang="zh-CN" altLang="en-US" sz="1800" dirty="0"/>
              <a:t>、在利用光敏电阻设计自动照明控制电路时，若环境中存在外界杂散光或光源频繁变化，系统可能会出现哪些问题？请结合实验现象，提出至少两种提高系统稳定性和抗干扰能力的方法。</a:t>
            </a:r>
            <a:endParaRPr lang="zh-CN" altLang="en-US" sz="18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929</Words>
  <Application>WPS 演示</Application>
  <PresentationFormat>全屏显示(4:3)</PresentationFormat>
  <Paragraphs>102</Paragraphs>
  <Slides>11</Slides>
  <Notes>1</Notes>
  <HiddenSlides>0</HiddenSlides>
  <MMClips>1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华文中宋</vt:lpstr>
      <vt:lpstr>华文隶书</vt:lpstr>
      <vt:lpstr>微软雅黑</vt:lpstr>
      <vt:lpstr>华文新魏</vt:lpstr>
      <vt:lpstr>华文行楷</vt:lpstr>
      <vt:lpstr>Arial Unicode MS</vt:lpstr>
      <vt:lpstr>等线</vt:lpstr>
      <vt:lpstr>古瓶荷花</vt:lpstr>
      <vt:lpstr>1_古瓶荷花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Excel.Chart.8</vt:lpstr>
      <vt:lpstr>Excel.Chart.8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大学物理实验</dc:title>
  <dc:creator>User</dc:creator>
  <cp:lastModifiedBy>vit</cp:lastModifiedBy>
  <cp:revision>249</cp:revision>
  <dcterms:created xsi:type="dcterms:W3CDTF">2007-03-01T02:00:00Z</dcterms:created>
  <dcterms:modified xsi:type="dcterms:W3CDTF">2026-05-27T00:57:10Z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55D05744F9A9421395FA20456FC512F4_12</vt:lpwstr>
  </property>
  <property fmtid="{D5CDD505-2E9C-101B-9397-08002B2CF9AE}" pid="3" name="KSOProductBuildVer">
    <vt:lpwstr>2052-12.1.0.26375</vt:lpwstr>
  </property>
</Properties>
</file>