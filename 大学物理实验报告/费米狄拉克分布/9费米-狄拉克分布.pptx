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3"/>
  </p:handoutMasterIdLst>
  <p:sldIdLst>
    <p:sldId id="390" r:id="rId3"/>
    <p:sldId id="421" r:id="rId4"/>
    <p:sldId id="391" r:id="rId6"/>
    <p:sldId id="352" r:id="rId7"/>
    <p:sldId id="422" r:id="rId8"/>
    <p:sldId id="423" r:id="rId9"/>
    <p:sldId id="424" r:id="rId10"/>
    <p:sldId id="425" r:id="rId11"/>
    <p:sldId id="426" r:id="rId1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153A3F"/>
    <a:srgbClr val="006666"/>
    <a:srgbClr val="003A39"/>
    <a:srgbClr val="292929"/>
    <a:srgbClr val="000066"/>
    <a:srgbClr val="0E302F"/>
    <a:srgbClr val="FF0066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67" autoAdjust="0"/>
    <p:restoredTop sz="96509" autoAdjust="0"/>
  </p:normalViewPr>
  <p:slideViewPr>
    <p:cSldViewPr snapToObjects="1" showGuides="1">
      <p:cViewPr varScale="1">
        <p:scale>
          <a:sx n="105" d="100"/>
          <a:sy n="105" d="100"/>
        </p:scale>
        <p:origin x="708" y="108"/>
      </p:cViewPr>
      <p:guideLst>
        <p:guide orient="horz" pos="2160"/>
        <p:guide pos="29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0137C-9973-47F2-8045-BB5A6F54D6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BAE75-934E-4923-912E-BA34D5DB249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EBAE75-934E-4923-912E-BA34D5DB24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BAE75-934E-4923-912E-BA34D5DB24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BAE75-934E-4923-912E-BA34D5DB24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0" descr="bj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5" name="Group 20"/>
          <p:cNvGrpSpPr/>
          <p:nvPr userDrawn="1"/>
        </p:nvGrpSpPr>
        <p:grpSpPr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>
              <a:spLocks noChangeShapeType="1"/>
            </p:cNvSpPr>
            <p:nvPr/>
          </p:nvSpPr>
          <p:spPr bwMode="auto">
            <a:xfrm>
              <a:off x="3647" y="3923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7471569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8019256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8" name="Group 25"/>
          <p:cNvGrpSpPr/>
          <p:nvPr userDrawn="1"/>
        </p:nvGrpSpPr>
        <p:grpSpPr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Line 27"/>
            <p:cNvSpPr>
              <a:spLocks noChangeShapeType="1"/>
            </p:cNvSpPr>
            <p:nvPr/>
          </p:nvSpPr>
          <p:spPr bwMode="auto">
            <a:xfrm>
              <a:off x="4558" y="3896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9" name="Picture 37" descr="bj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33"/>
          <p:cNvSpPr>
            <a:spLocks noChangeArrowheads="1"/>
          </p:cNvSpPr>
          <p:nvPr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34"/>
          <p:cNvSpPr>
            <a:spLocks noChangeArrowheads="1"/>
          </p:cNvSpPr>
          <p:nvPr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图片1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9275"/>
            <a:ext cx="9144000" cy="630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4"/>
          <p:cNvSpPr/>
          <p:nvPr/>
        </p:nvSpPr>
        <p:spPr>
          <a:xfrm>
            <a:off x="-317" y="5949950"/>
            <a:ext cx="9144000" cy="908050"/>
          </a:xfrm>
          <a:prstGeom prst="rect">
            <a:avLst/>
          </a:prstGeom>
          <a:solidFill>
            <a:srgbClr val="0099FF"/>
          </a:solidFill>
          <a:ln w="2857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              </a:t>
            </a:r>
            <a:endParaRPr lang="en-US" altLang="zh-CN" sz="2800" b="1" i="1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00" name="Rectangle 5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rgbClr val="6699FF"/>
          </a:solidFill>
          <a:ln w="28575">
            <a:noFill/>
          </a:ln>
        </p:spPr>
        <p:txBody>
          <a:bodyPr wrap="none" anchor="ctr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5192" name="WordArt 8"/>
          <p:cNvSpPr>
            <a:spLocks noChangeArrowheads="1" noChangeShapeType="1" noTextEdit="1"/>
          </p:cNvSpPr>
          <p:nvPr/>
        </p:nvSpPr>
        <p:spPr bwMode="auto">
          <a:xfrm>
            <a:off x="4716463" y="4510088"/>
            <a:ext cx="3095625" cy="503237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大学物理实验</a:t>
            </a:r>
            <a:r>
              <a:rPr kumimoji="0" lang="en-US" altLang="zh-CN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1</a:t>
            </a:r>
            <a:endParaRPr kumimoji="0" lang="zh-CN" altLang="en-US" sz="3600" b="1" i="0" u="none" strike="noStrike" kern="10" cap="none" spc="0" normalizeH="0" baseline="0" noProof="0" dirty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4102" name="WordArt 9"/>
          <p:cNvSpPr>
            <a:spLocks noTextEdit="1"/>
          </p:cNvSpPr>
          <p:nvPr/>
        </p:nvSpPr>
        <p:spPr>
          <a:xfrm>
            <a:off x="3851920" y="2492896"/>
            <a:ext cx="4863579" cy="151204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 dirty="0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费米</a:t>
            </a:r>
            <a:r>
              <a:rPr lang="en-US" altLang="zh-CN" sz="3600" b="1" dirty="0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 b="1" dirty="0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狄拉克分布</a:t>
            </a:r>
            <a:endParaRPr lang="zh-CN" altLang="en-US" sz="3600" b="1" dirty="0">
              <a:ln w="952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  <a:solidFill>
                <a:srgbClr val="000066"/>
              </a:solidFill>
              <a:effectLst>
                <a:outerShdw dist="35921" dir="2699999" algn="ctr" rotWithShape="0">
                  <a:srgbClr val="C0C0C0">
                    <a:alpha val="79999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3" name="Text Box 11"/>
          <p:cNvSpPr txBox="1"/>
          <p:nvPr/>
        </p:nvSpPr>
        <p:spPr>
          <a:xfrm>
            <a:off x="2555875" y="6207125"/>
            <a:ext cx="4754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深圳大学物理实验教学中心</a:t>
            </a:r>
            <a:r>
              <a:rPr lang="en-US" altLang="zh-CN" sz="2400" b="1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	</a:t>
            </a:r>
            <a:endParaRPr lang="zh-CN" altLang="en-US" sz="2400" b="1" dirty="0">
              <a:solidFill>
                <a:srgbClr val="292929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/>
          <p:nvPr/>
        </p:nvSpPr>
        <p:spPr>
          <a:xfrm>
            <a:off x="337237" y="88325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4" name="矩形 1"/>
          <p:cNvSpPr/>
          <p:nvPr/>
        </p:nvSpPr>
        <p:spPr>
          <a:xfrm>
            <a:off x="611560" y="1556792"/>
            <a:ext cx="7704856" cy="30239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1200"/>
              </a:spcBef>
              <a:spcAft>
                <a:spcPts val="300"/>
              </a:spcAft>
            </a:pPr>
            <a:r>
              <a:rPr lang="zh-CN" altLang="en-US" sz="24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费米</a:t>
            </a:r>
            <a:r>
              <a:rPr lang="en-US" altLang="zh-CN" sz="24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4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狄拉克分布是量子统计力学的重要成果之一，其发展历程与量子力学的诞生密切相关：</a:t>
            </a:r>
            <a:endParaRPr lang="en-US" altLang="zh-CN" sz="2400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 eaLnBrk="1" hangingPunct="1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1926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年，恩里科</a:t>
            </a: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费米（</a:t>
            </a: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Enrico Fermi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）和保罗</a:t>
            </a: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狄拉克（</a:t>
            </a: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Paul Dirac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）分别独立提出了费米</a:t>
            </a: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狄拉克统计。</a:t>
            </a:r>
            <a:endParaRPr lang="zh-CN" altLang="en-US" sz="20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 eaLnBrk="1" hangingPunct="1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该理论成功解释了电子在金属中的行为，解决了经典统计力学无法解释的问题。</a:t>
            </a:r>
            <a:endParaRPr lang="zh-CN" altLang="en-US" sz="20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 eaLnBrk="1" hangingPunct="1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1927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年，索末菲（</a:t>
            </a: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Arnold Sommerfeld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）将费米</a:t>
            </a:r>
            <a:r>
              <a:rPr lang="en-US" altLang="zh-CN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狄拉克统计应用于金属电子理论，奠定了现代固体物理的基础。</a:t>
            </a:r>
            <a:endParaRPr lang="zh-CN" altLang="en-US" sz="20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/>
          <p:nvPr/>
        </p:nvSpPr>
        <p:spPr>
          <a:xfrm>
            <a:off x="337237" y="88325"/>
            <a:ext cx="2646878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一、实验目的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9"/>
          <p:cNvSpPr/>
          <p:nvPr/>
        </p:nvSpPr>
        <p:spPr>
          <a:xfrm>
            <a:off x="611560" y="1412776"/>
            <a:ext cx="7307484" cy="1692771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marL="514350" indent="-514350" eaLnBrk="1" hangingPunct="1">
              <a:spcBef>
                <a:spcPts val="1200"/>
              </a:spcBef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了解费米</a:t>
            </a:r>
            <a:r>
              <a:rPr lang="en-US" altLang="zh-CN" sz="28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8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狄拉克分布函数</a:t>
            </a:r>
            <a:endParaRPr lang="en-US" altLang="zh-CN" sz="2800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14350" indent="-514350" eaLnBrk="1" hangingPunct="1">
              <a:spcBef>
                <a:spcPts val="1200"/>
              </a:spcBef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通过实验验证费米</a:t>
            </a:r>
            <a:r>
              <a:rPr lang="en-US" altLang="zh-CN" sz="28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8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狄拉克分布规律</a:t>
            </a:r>
            <a:endParaRPr lang="en-US" altLang="zh-CN" sz="2800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514350" indent="-514350" eaLnBrk="1" hangingPunct="1">
              <a:spcBef>
                <a:spcPts val="1200"/>
              </a:spcBef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学习分析真空中电子能量和数量的技巧</a:t>
            </a:r>
            <a:endParaRPr lang="en-US" altLang="zh-CN" sz="28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46"/>
          <p:cNvSpPr/>
          <p:nvPr/>
        </p:nvSpPr>
        <p:spPr>
          <a:xfrm>
            <a:off x="233363" y="115888"/>
            <a:ext cx="6138862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二、实验原理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、准稳态法测量原理</a:t>
            </a:r>
            <a:endParaRPr lang="zh-CN" altLang="en-US" sz="2400" b="1" dirty="0">
              <a:solidFill>
                <a:srgbClr val="00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4190" y="1157276"/>
            <a:ext cx="75982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费米</a:t>
            </a:r>
            <a:r>
              <a:rPr lang="en-US" altLang="zh-CN" sz="24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400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狄拉克分布描述了费米子（如电子、质子等）在热平衡状态下的统计行为：</a:t>
            </a:r>
            <a:endParaRPr lang="en-US" altLang="zh-CN" sz="2400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5044" y="357931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</a:rPr>
              <a:t> 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0967" y="2386674"/>
            <a:ext cx="3672409" cy="251174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35178" y="5013176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1 </a:t>
            </a:r>
            <a:r>
              <a:rPr lang="zh-CN" altLang="en-US" b="1" dirty="0"/>
              <a:t>不同温度下的费米狄拉克分布函数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777640" y="4205504"/>
            <a:ext cx="3811526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在绝对零度时，费米子会从最低能级开始依次填充，形成费米海。</a:t>
            </a: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在有限温度下，部分费米子会被热激发到更高能级，形成平滑的分布函数，如图</a:t>
            </a:r>
            <a:r>
              <a:rPr lang="en-US" altLang="zh-CN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所示。</a:t>
            </a: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46744" y="2047698"/>
                <a:ext cx="3888434" cy="2075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)/</m:t>
                            </m:r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𝒌𝑻</m:t>
                            </m:r>
                          </m:sup>
                        </m:s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endParaRPr lang="en-US" altLang="zh-CN" sz="2000" b="1" dirty="0">
                  <a:solidFill>
                    <a:srgbClr val="002060"/>
                  </a:solidFill>
                </a:endParaRPr>
              </a:p>
              <a:p>
                <a:r>
                  <a:rPr lang="zh-CN" altLang="en-US" sz="2000" b="1" dirty="0">
                    <a:solidFill>
                      <a:srgbClr val="002060"/>
                    </a:solidFill>
                  </a:rPr>
                  <a:t>其中：</a:t>
                </a:r>
                <a:endParaRPr lang="en-US" altLang="zh-CN" sz="2000" b="1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</a:rPr>
                  <a:t>为电子能量</a:t>
                </a:r>
                <a:endParaRPr lang="en-US" altLang="zh-CN" sz="2000" b="1" dirty="0">
                  <a:solidFill>
                    <a:srgbClr val="002060"/>
                  </a:solidFill>
                </a:endParaRPr>
              </a:p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</a:rPr>
                  <a:t>为费米能</a:t>
                </a:r>
                <a:endParaRPr lang="en-US" altLang="zh-CN" sz="2000" b="1" dirty="0">
                  <a:solidFill>
                    <a:srgbClr val="002060"/>
                  </a:solidFill>
                </a:endParaRPr>
              </a:p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</a:rPr>
                  <a:t>是玻尔兹曼常数</a:t>
                </a:r>
                <a:endParaRPr lang="en-US" altLang="zh-CN" sz="2000" b="1" dirty="0">
                  <a:solidFill>
                    <a:srgbClr val="002060"/>
                  </a:solidFill>
                </a:endParaRPr>
              </a:p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</a:rPr>
                  <a:t>是温度</a:t>
                </a:r>
                <a:endParaRPr lang="zh-CN" altLang="en-US" sz="20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44" y="2047698"/>
                <a:ext cx="3888434" cy="2075889"/>
              </a:xfrm>
              <a:prstGeom prst="rect">
                <a:avLst/>
              </a:prstGeom>
              <a:blipFill rotWithShape="1">
                <a:blip r:embed="rId2"/>
                <a:stretch>
                  <a:fillRect l="-16" t="-22" r="8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944" y="1916832"/>
            <a:ext cx="4679391" cy="32831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574190" y="1020293"/>
                <a:ext cx="7609690" cy="17216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费米</a:t>
                </a:r>
                <a:r>
                  <a:rPr lang="en-US" altLang="zh-CN" sz="24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-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狄拉克分布函数对能量的导数为：</a:t>
                </a:r>
                <a:endParaRPr lang="en-US" altLang="zh-CN" sz="24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zh-CN" sz="2400" b="1" dirty="0">
                    <a:solidFill>
                      <a:srgbClr val="002060"/>
                    </a:solidFill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𝒅𝒇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𝒅𝑬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)/</m:t>
                            </m:r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𝒌𝑻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𝒌𝑻</m:t>
                        </m:r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𝑬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𝑭</m:t>
                                        </m:r>
                                      </m:sub>
                                    </m:sSub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)/</m:t>
                                    </m:r>
                                    <m:r>
                                      <a:rPr lang="en-US" altLang="zh-CN" sz="24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𝒌𝑻</m:t>
                                    </m:r>
                                  </m:sup>
                                </m:sSup>
                                <m:r>
                                  <a:rPr lang="en-US" altLang="zh-C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如图</a:t>
                </a:r>
                <a:r>
                  <a:rPr lang="en-US" altLang="zh-CN" sz="24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所示</a:t>
                </a:r>
                <a:endParaRPr lang="en-US" altLang="zh-CN" sz="24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90" y="1020293"/>
                <a:ext cx="7609690" cy="1721690"/>
              </a:xfrm>
              <a:prstGeom prst="rect">
                <a:avLst/>
              </a:prstGeom>
              <a:blipFill rotWithShape="1">
                <a:blip r:embed="rId2"/>
                <a:stretch>
                  <a:fillRect l="-2" t="-28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5017629" y="5301208"/>
            <a:ext cx="3166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2 </a:t>
            </a:r>
            <a:r>
              <a:rPr lang="zh-CN" altLang="en-US" b="1" dirty="0"/>
              <a:t>不同温度下的费米狄拉克</a:t>
            </a:r>
            <a:endParaRPr lang="en-US" altLang="zh-CN" b="1" dirty="0"/>
          </a:p>
          <a:p>
            <a:pPr algn="ctr"/>
            <a:r>
              <a:rPr lang="zh-CN" altLang="en-US" b="1" dirty="0"/>
              <a:t>分布函数的导数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365865" y="3410032"/>
                <a:ext cx="3811526" cy="1255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𝒅𝒇</m:t>
                        </m:r>
                      </m:num>
                      <m:den>
                        <m: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𝒅𝑬</m:t>
                        </m:r>
                      </m:den>
                    </m:f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关于费米能对称，温度越高越平缓</a:t>
                </a:r>
                <a:endParaRPr lang="en-US" altLang="zh-CN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𝒅𝒇</m:t>
                        </m:r>
                      </m:num>
                      <m:den>
                        <m: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𝒅𝑬</m:t>
                        </m:r>
                      </m:den>
                    </m:f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在费米能处的变化率最大</a:t>
                </a:r>
                <a:endParaRPr lang="zh-CN" altLang="en-US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65" y="3410032"/>
                <a:ext cx="3811526" cy="1255472"/>
              </a:xfrm>
              <a:prstGeom prst="rect">
                <a:avLst/>
              </a:prstGeom>
              <a:blipFill rotWithShape="1">
                <a:blip r:embed="rId3"/>
                <a:stretch>
                  <a:fillRect l="-3" t="-7" r="9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55576" y="980728"/>
                <a:ext cx="7128792" cy="5386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由电子在磁场中做圆周运动的向心力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𝑩𝒆𝒗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可得，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𝑩𝒆𝑹</m:t>
                        </m:r>
                      </m:num>
                      <m:den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是电子在磁场中做圆周运动的速度，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是做圆周运动的半径，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是电子质量，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是电子的电荷量，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是螺线管的磁场。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螺线管中磁场的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的计算公式为，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是真空中的磁导率，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𝒄𝒎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是螺线管的长度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𝒄𝒎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是螺线管的直径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𝟖𝟕𝟎</m:t>
                    </m:r>
                  </m:oMath>
                </a14:m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是螺线管的匝数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是通过线圈的励磁电流。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endParaRPr lang="zh-CN" altLang="en-US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980728"/>
                <a:ext cx="7128792" cy="5386411"/>
              </a:xfrm>
              <a:prstGeom prst="rect">
                <a:avLst/>
              </a:prstGeom>
              <a:blipFill rotWithShape="1">
                <a:blip r:embed="rId1"/>
                <a:stretch>
                  <a:fillRect l="-8" t="-5" r="3" b="-3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99592" y="1106215"/>
                <a:ext cx="7200800" cy="3812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电子动能和励磁电流的关系为，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sSubSup>
                      <m:sSub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其中，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sSubSup>
                          <m:sSubSup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p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n-US" altLang="zh-CN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</m:den>
                    </m:f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num>
                              <m:den>
                                <m:r>
                                  <a:rPr lang="en-US" altLang="zh-CN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𝒎𝒎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为圆柱形金属阳极的直径。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阳极电流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正比于到达阳极的电子数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𝒏𝒆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因此，可通过绘制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bSup>
                      <m:sSubSup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的曲线，来验证电子个数与电子能量的关系，即验证费米狄拉克分布函数。</a:t>
                </a:r>
                <a:endParaRPr lang="en-US" altLang="zh-CN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绘制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的变化率与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的曲线，可验证费米狄拉克函数的导数。</a:t>
                </a:r>
                <a:endParaRPr lang="zh-CN" altLang="en-US" sz="2000" b="1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106215"/>
                <a:ext cx="7200800" cy="3812775"/>
              </a:xfrm>
              <a:prstGeom prst="rect">
                <a:avLst/>
              </a:prstGeom>
              <a:blipFill rotWithShape="1">
                <a:blip r:embed="rId1"/>
                <a:stretch>
                  <a:fillRect l="-6" t="-1" r="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/>
              <p:cNvGraphicFramePr>
                <a:graphicFrameLocks noGrp="1"/>
              </p:cNvGraphicFramePr>
              <p:nvPr/>
            </p:nvGraphicFramePr>
            <p:xfrm>
              <a:off x="1008000" y="2104400"/>
              <a:ext cx="7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8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1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  <m:sup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  <m:r>
                                  <a:rPr lang="en-US" altLang="zh-CN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p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0.08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0.12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0.16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0.20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0.24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0.28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0.36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0.40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  <m:r>
                                  <a:rPr lang="en-US" altLang="zh-CN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0.200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0.283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0.346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0.400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0.447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0.490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0.529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0.566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0.632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0.663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  <m:r>
                                  <a:rPr lang="en-US" altLang="zh-CN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altLang="zh-CN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12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37.8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34.7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27.7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15.4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6.0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/>
              <p:cNvGraphicFramePr>
                <a:graphicFrameLocks noGrp="1"/>
              </p:cNvGraphicFramePr>
              <p:nvPr/>
            </p:nvGraphicFramePr>
            <p:xfrm>
              <a:off x="1008000" y="2104400"/>
              <a:ext cx="7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8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  <a:gridCol w="540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0.08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0.12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0.16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0.20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0.24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0.28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0.36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0.40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</a:t>
                          </a:r>
                          <a:endParaRPr lang="zh-CN" altLang="en-US" sz="11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0.200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0.283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0.346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0.400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0.447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0.490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0.529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0.566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0.600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0.632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0.663</a:t>
                          </a:r>
                          <a:endParaRPr lang="zh-CN" altLang="en-US" sz="11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37.8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34.7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27.7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15.4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6.0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altLang="en-US" sz="11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本框 2"/>
          <p:cNvSpPr txBox="1"/>
          <p:nvPr/>
        </p:nvSpPr>
        <p:spPr>
          <a:xfrm>
            <a:off x="395536" y="98072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实验数据：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08000" y="1347445"/>
                <a:ext cx="60842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0000FF"/>
                    </a:solidFill>
                  </a:rPr>
                  <a:t>灯丝电流为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</a:rPr>
                  <a:t>。励磁电流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0000FF"/>
                    </a:solidFill>
                  </a:rPr>
                  <a:t>的平方等间距取值，测量每个励磁电流下的阳极电流，记录下表</a:t>
                </a:r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000" y="1347445"/>
                <a:ext cx="6084280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4" t="-94" r="10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76" y="3313820"/>
            <a:ext cx="3193844" cy="236506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3285352"/>
            <a:ext cx="3390255" cy="24815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547664" y="5686057"/>
                <a:ext cx="2088232" cy="3858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>
                            <a:solidFill>
                              <a:srgbClr val="002060"/>
                            </a:solidFill>
                            <a:latin typeface="华文中宋" panose="02010600040101010101" pitchFamily="2" charset="-122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002060"/>
                            </a:solidFill>
                            <a:latin typeface="华文中宋" panose="02010600040101010101" pitchFamily="2" charset="-122"/>
                            <a:ea typeface="华文中宋" panose="0201060004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2060"/>
                            </a:solidFill>
                            <a:latin typeface="华文中宋" panose="02010600040101010101" pitchFamily="2" charset="-122"/>
                            <a:ea typeface="华文中宋" panose="02010600040101010101" pitchFamily="2" charset="-122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zh-CN" altLang="en-US" sz="18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𝑩</m:t>
                        </m:r>
                      </m:sub>
                      <m:sup>
                        <m:r>
                          <a:rPr lang="en-US" altLang="zh-CN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zh-CN" altLang="en-US" sz="18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的关系曲线</a:t>
                </a:r>
                <a:endParaRPr lang="zh-CN" altLang="en-US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5686057"/>
                <a:ext cx="2088232" cy="385875"/>
              </a:xfrm>
              <a:prstGeom prst="rect">
                <a:avLst/>
              </a:prstGeom>
              <a:blipFill rotWithShape="1">
                <a:blip r:embed="rId5"/>
                <a:stretch>
                  <a:fillRect l="-8" t="-69" r="25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5297959" y="5835311"/>
                <a:ext cx="2880320" cy="3858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zh-CN" altLang="en-US" sz="18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的变化率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𝑩</m:t>
                        </m:r>
                      </m:sub>
                      <m:sup>
                        <m:r>
                          <a:rPr lang="en-US" altLang="zh-CN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zh-CN" altLang="en-US" sz="1800" b="1" dirty="0">
                    <a:solidFill>
                      <a:srgbClr val="00206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的关系曲线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959" y="5835311"/>
                <a:ext cx="2880320" cy="385875"/>
              </a:xfrm>
              <a:prstGeom prst="rect">
                <a:avLst/>
              </a:prstGeom>
              <a:blipFill rotWithShape="1">
                <a:blip r:embed="rId6"/>
                <a:stretch>
                  <a:fillRect l="-5" t="-77" r="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57823" y="2204864"/>
            <a:ext cx="6628353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/>
            <a:r>
              <a:rPr lang="zh-CN" altLang="en-US" sz="1800" b="1" dirty="0">
                <a:solidFill>
                  <a:srgbClr val="00206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思考题</a:t>
            </a:r>
            <a:endParaRPr lang="en-US" altLang="zh-CN" sz="1800" b="1" dirty="0">
              <a:solidFill>
                <a:srgbClr val="002060"/>
              </a:solidFill>
              <a:latin typeface="华文中宋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/>
              <a:t>1.</a:t>
            </a:r>
            <a:r>
              <a:rPr lang="zh-CN" altLang="en-US" sz="1800" dirty="0"/>
              <a:t>在绝对零度下，费米-狄拉克分布函数呈现怎样的特点？随着温度升高，分布曲线会发生什么变化？请结合电子占据能级情况解释其物理意义。</a:t>
            </a:r>
            <a:endParaRPr lang="zh-CN" altLang="en-US" sz="1800" dirty="0"/>
          </a:p>
          <a:p>
            <a:r>
              <a:rPr lang="en-US" altLang="zh-CN" sz="1800" dirty="0"/>
              <a:t>2.</a:t>
            </a:r>
            <a:r>
              <a:rPr lang="zh-CN" altLang="en-US" sz="1800" dirty="0"/>
              <a:t>为什么金属中的电子必须采用费米-狄拉克统计，而不能采用经典的麦克斯韦-玻尔兹曼统计？请从泡利不相容原理和电子能级占据特点两方面进行分析。</a:t>
            </a:r>
            <a:endParaRPr lang="zh-CN" altLang="en-US" sz="18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1910</Words>
  <Application>WPS 演示</Application>
  <PresentationFormat>全屏显示(4:3)</PresentationFormat>
  <Paragraphs>163</Paragraphs>
  <Slides>9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华文中宋</vt:lpstr>
      <vt:lpstr>华文隶书</vt:lpstr>
      <vt:lpstr>微软雅黑</vt:lpstr>
      <vt:lpstr>Cambria Math</vt:lpstr>
      <vt:lpstr>Arial Unicode MS</vt:lpstr>
      <vt:lpstr>Calibri</vt:lpstr>
      <vt:lpstr>古瓶荷花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vit</cp:lastModifiedBy>
  <cp:revision>252</cp:revision>
  <dcterms:created xsi:type="dcterms:W3CDTF">2007-03-01T02:00:00Z</dcterms:created>
  <dcterms:modified xsi:type="dcterms:W3CDTF">2026-06-02T00:50:55Z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3E316CC589AF4AEDB41794DE28D13784</vt:lpwstr>
  </property>
</Properties>
</file>