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3"/>
    <p:sldId id="257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zh-CN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69" d="100"/>
          <a:sy n="69" d="100"/>
        </p:scale>
        <p:origin x="-138" y="-102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 102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027" name="文本占位符 102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28" name="日期占位符 102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29" name="页脚占位符 102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pPr lvl="0"/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1030" name="灯片编号占位符 102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lvl="0"/>
            <a:fld id="{9A0DB2DC-4C9A-4742-B13C-FB6460FD3503}" type="slidenum">
              <a:rPr lang="zh-CN" altLang="en-US">
                <a:latin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.jpeg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5" name="副标题 3074"/>
          <p:cNvSpPr>
            <a:spLocks noGrp="1"/>
          </p:cNvSpPr>
          <p:nvPr>
            <p:ph type="subTitle" idx="1"/>
          </p:nvPr>
        </p:nvSpPr>
        <p:spPr>
          <a:xfrm>
            <a:off x="1187450" y="2132965"/>
            <a:ext cx="6739890" cy="2426970"/>
          </a:xfrm>
        </p:spPr>
        <p:txBody>
          <a:bodyPr/>
          <a:p>
            <a:pPr defTabSz="914400">
              <a:buClrTx/>
              <a:buSzTx/>
              <a:buFontTx/>
            </a:pPr>
            <a:r>
              <a:rPr lang="zh-CN" sz="5400" kern="1200" baseline="0">
                <a:latin typeface="Arial" panose="020B0604020202020204" pitchFamily="34" charset="0"/>
                <a:ea typeface="黑体" panose="02010609060101010101" charset="-122"/>
              </a:rPr>
              <a:t>实验一</a:t>
            </a:r>
            <a:endParaRPr lang="zh-CN" sz="5400" kern="1200" baseline="0">
              <a:latin typeface="Arial" panose="020B0604020202020204" pitchFamily="34" charset="0"/>
              <a:ea typeface="黑体" panose="02010609060101010101" charset="-122"/>
            </a:endParaRPr>
          </a:p>
          <a:p>
            <a:pPr defTabSz="914400">
              <a:buClrTx/>
              <a:buSzTx/>
              <a:buFontTx/>
            </a:pPr>
            <a:r>
              <a:rPr lang="zh-CN" sz="3200" kern="1200" baseline="0">
                <a:latin typeface="Arial" panose="020B0604020202020204" pitchFamily="34" charset="0"/>
                <a:ea typeface="黑体" panose="02010609060101010101" charset="-122"/>
              </a:rPr>
              <a:t>门电路逻辑功能及测试</a:t>
            </a:r>
            <a:endParaRPr lang="zh-CN" sz="3200" kern="1200" baseline="0">
              <a:latin typeface="Arial" panose="020B0604020202020204" pitchFamily="34" charset="0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实验目的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1. 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熟悉门电路逻辑功能，并掌握常用的逻辑电路功能测试方法</a:t>
            </a: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2. 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熟悉 </a:t>
            </a:r>
            <a:r>
              <a:rPr lang="en-US" altLang="zh-CN" sz="28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RXS-1B </a:t>
            </a:r>
            <a:r>
              <a:rPr lang="zh-CN" altLang="en-US" sz="28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数字电路实验箱及双踪示波器的使用方法</a:t>
            </a:r>
            <a:endParaRPr lang="zh-CN" altLang="en-US" sz="2800" b="1" dirty="0"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2800" b="1" dirty="0">
              <a:latin typeface="黑体" panose="02010609060101010101" charset="-122"/>
              <a:ea typeface="黑体" panose="02010609060101010101" charset="-122"/>
            </a:endParaRPr>
          </a:p>
          <a:p>
            <a:endParaRPr lang="zh-CN" altLang="en-US" sz="2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实验仪器</a:t>
            </a:r>
            <a:endParaRPr lang="zh-CN" altLang="en-US" sz="360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双踪示波器</a:t>
            </a:r>
            <a:endParaRPr lang="en-US" altLang="zh-CN" sz="2400" b="1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RXS-1B 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数字电路实验箱</a:t>
            </a:r>
            <a:endParaRPr lang="en-US" altLang="zh-CN" sz="2400" b="1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万用表</a:t>
            </a:r>
            <a:endParaRPr lang="en-US" altLang="zh-CN" sz="2400" b="1" dirty="0">
              <a:latin typeface="黑体" panose="02010609060101010101" charset="-122"/>
              <a:ea typeface="黑体" panose="0201060906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74LS00(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四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2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输入与非门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)1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片、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74LS86(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四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2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输入异或门</a:t>
            </a:r>
            <a:r>
              <a:rPr lang="en-US" altLang="zh-CN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)1</a:t>
            </a:r>
            <a:r>
              <a:rPr lang="zh-CN" altLang="en-US" sz="2400" b="1" dirty="0">
                <a:latin typeface="黑体" panose="02010609060101010101" charset="-122"/>
                <a:ea typeface="黑体" panose="02010609060101010101" charset="-122"/>
                <a:sym typeface="+mn-ea"/>
              </a:rPr>
              <a:t>片。</a:t>
            </a:r>
            <a:endParaRPr lang="zh-CN" altLang="en-US" sz="2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</a:rPr>
              <a:t>实验箱</a:t>
            </a:r>
            <a:endParaRPr lang="zh-CN" altLang="en-US" sz="36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350" y="1268730"/>
            <a:ext cx="6329680" cy="47453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3600" b="1">
                <a:latin typeface="Arial" panose="020B0604020202020204" pitchFamily="34" charset="0"/>
              </a:rPr>
              <a:t>示波器</a:t>
            </a:r>
            <a:endParaRPr lang="zh-CN" altLang="en-US" sz="3600" b="1">
              <a:latin typeface="Arial" panose="020B0604020202020204" pitchFamily="34" charset="0"/>
            </a:endParaRPr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043305" y="1268730"/>
            <a:ext cx="6478270" cy="48571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latin typeface="黑体" panose="02010609060101010101" charset="-122"/>
                <a:ea typeface="黑体" panose="02010609060101010101" charset="-122"/>
              </a:rPr>
              <a:t>实验一  异或门逻辑功能测试</a:t>
            </a:r>
            <a:endParaRPr lang="zh-CN" altLang="en-US" dirty="0"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-36830" y="1341120"/>
                <a:ext cx="4625975" cy="4351655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2400" dirty="0">
                    <a:latin typeface="黑体" panose="02010609060101010101" charset="-122"/>
                    <a:ea typeface="黑体" panose="02010609060101010101" charset="-122"/>
                  </a:rPr>
                  <a:t>集成电路 </a:t>
                </a:r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74LS86 </a:t>
                </a:r>
                <a:r>
                  <a:rPr lang="zh-CN" altLang="en-US" sz="2400" dirty="0">
                    <a:latin typeface="黑体" panose="02010609060101010101" charset="-122"/>
                    <a:ea typeface="黑体" panose="02010609060101010101" charset="-122"/>
                  </a:rPr>
                  <a:t>是一片四</a:t>
                </a:r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2</a:t>
                </a:r>
                <a:r>
                  <a:rPr lang="zh-CN" altLang="en-US" sz="2400" dirty="0">
                    <a:latin typeface="黑体" panose="02010609060101010101" charset="-122"/>
                    <a:ea typeface="黑体" panose="02010609060101010101" charset="-122"/>
                  </a:rPr>
                  <a:t>输入异或门电路，逻辑关系式为</a:t>
                </a:r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1Y=1A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</m:t>
                    </m:r>
                  </m:oMath>
                </a14:m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1B</a:t>
                </a:r>
                <a:r>
                  <a:rPr lang="zh-CN" altLang="en-US" sz="2400" dirty="0">
                    <a:latin typeface="黑体" panose="02010609060101010101" charset="-122"/>
                    <a:ea typeface="黑体" panose="02010609060101010101" charset="-122"/>
                  </a:rPr>
                  <a:t>，</a:t>
                </a:r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2Y=2A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 </m:t>
                    </m:r>
                  </m:oMath>
                </a14:m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2B</a:t>
                </a:r>
                <a:r>
                  <a:rPr lang="zh-CN" altLang="en-US" sz="2400" dirty="0">
                    <a:latin typeface="黑体" panose="02010609060101010101" charset="-122"/>
                    <a:ea typeface="黑体" panose="02010609060101010101" charset="-122"/>
                  </a:rPr>
                  <a:t>， </a:t>
                </a:r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3Y=3A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 </m:t>
                    </m:r>
                  </m:oMath>
                </a14:m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3B</a:t>
                </a:r>
                <a:r>
                  <a:rPr lang="zh-CN" altLang="en-US" sz="2400" dirty="0">
                    <a:latin typeface="黑体" panose="02010609060101010101" charset="-122"/>
                    <a:ea typeface="黑体" panose="02010609060101010101" charset="-122"/>
                  </a:rPr>
                  <a:t>，</a:t>
                </a:r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4Y=4A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⨁ </m:t>
                    </m:r>
                  </m:oMath>
                </a14:m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4B</a:t>
                </a:r>
                <a:endParaRPr lang="en-US" altLang="zh-CN" sz="2400" dirty="0">
                  <a:latin typeface="黑体" panose="02010609060101010101" charset="-122"/>
                  <a:ea typeface="黑体" panose="02010609060101010101" charset="-122"/>
                </a:endParaRPr>
              </a:p>
              <a:p>
                <a:pPr marL="0" indent="0">
                  <a:buNone/>
                </a:pPr>
                <a:endParaRPr lang="en-US" altLang="zh-CN" sz="2400" dirty="0">
                  <a:latin typeface="黑体" panose="02010609060101010101" charset="-122"/>
                  <a:ea typeface="黑体" panose="02010609060101010101" charset="-122"/>
                </a:endParaRPr>
              </a:p>
              <a:p>
                <a:r>
                  <a:rPr lang="zh-CN" altLang="en-US" sz="2400" dirty="0">
                    <a:latin typeface="黑体" panose="02010609060101010101" charset="-122"/>
                    <a:ea typeface="黑体" panose="02010609060101010101" charset="-122"/>
                  </a:rPr>
                  <a:t>其外引线排列图如图 </a:t>
                </a:r>
                <a:r>
                  <a:rPr lang="en-US" altLang="zh-CN" sz="2400" dirty="0">
                    <a:latin typeface="黑体" panose="02010609060101010101" charset="-122"/>
                    <a:ea typeface="黑体" panose="02010609060101010101" charset="-122"/>
                  </a:rPr>
                  <a:t>4-12 </a:t>
                </a:r>
                <a:r>
                  <a:rPr lang="zh-CN" altLang="en-US" sz="2400" dirty="0">
                    <a:latin typeface="黑体" panose="02010609060101010101" charset="-122"/>
                    <a:ea typeface="黑体" panose="02010609060101010101" charset="-122"/>
                  </a:rPr>
                  <a:t>所示。</a:t>
                </a:r>
                <a:endParaRPr lang="zh-CN" altLang="en-US" sz="24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36830" y="1341120"/>
                <a:ext cx="4625975" cy="4351655"/>
              </a:xfr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5510" y="1268809"/>
            <a:ext cx="4672133" cy="54939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260" y="248920"/>
            <a:ext cx="4922520" cy="123571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>
                <a:latin typeface="Arial" panose="020B0604020202020204" pitchFamily="34" charset="0"/>
                <a:ea typeface="黑体" panose="02010609060101010101" charset="-122"/>
              </a:rPr>
              <a:t>实验一步骤</a:t>
            </a:r>
            <a:endParaRPr lang="zh-CN" altLang="en-US" sz="3200" b="1" dirty="0">
              <a:latin typeface="Arial" panose="020B0604020202020204" pitchFamily="34" charset="0"/>
              <a:ea typeface="黑体" panose="02010609060101010101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611505" y="1484630"/>
            <a:ext cx="7419975" cy="4502150"/>
          </a:xfrm>
        </p:spPr>
        <p:txBody>
          <a:bodyPr>
            <a:normAutofit lnSpcReduction="20000"/>
          </a:bodyPr>
          <a:lstStyle/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将一片 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74LS86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插入 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RXS-1B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数字电路实验箱的任意   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14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引脚的 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IC 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空插座中。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(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注意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: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芯片缺口向左。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)</a:t>
            </a:r>
            <a:endParaRPr lang="en-US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pPr marL="0" indent="0">
              <a:buNone/>
            </a:pPr>
            <a:endParaRPr lang="en-US" altLang="zh-CN" sz="24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按图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4-13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接线并测试其逻辑功能。片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74LS86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的输入端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2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4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5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号引脚分别接至数字电路实验箱的任意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4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个电平开关的插孔，输出端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6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8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分别接至数字电路实验箱的电平显示器的任意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3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个发光二极管的插孔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,14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号引脚接至数字电路实验箱的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+5V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电源的“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+5V”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插孔，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7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号引脚接至数字电路实验箱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+5V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电源的“</a:t>
            </a:r>
            <a:r>
              <a:rPr lang="en-US" altLang="zh-CN" sz="2400" dirty="0">
                <a:latin typeface="黑体" panose="02010609060101010101" charset="-122"/>
                <a:ea typeface="黑体" panose="02010609060101010101" charset="-122"/>
              </a:rPr>
              <a:t>GND”</a:t>
            </a:r>
            <a:r>
              <a:rPr lang="zh-CN" altLang="en-US" sz="2400" dirty="0">
                <a:latin typeface="黑体" panose="02010609060101010101" charset="-122"/>
                <a:ea typeface="黑体" panose="02010609060101010101" charset="-122"/>
              </a:rPr>
              <a:t>插孔。</a:t>
            </a:r>
            <a:endParaRPr lang="zh-CN" altLang="en-US" sz="24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7950" y="260985"/>
            <a:ext cx="6724650" cy="1445260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</a:rPr>
              <a:t>实验一步骤</a:t>
            </a:r>
            <a:endParaRPr lang="zh-CN" altLang="en-US" sz="36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850" y="1557020"/>
            <a:ext cx="8628380" cy="4357370"/>
          </a:xfrm>
        </p:spPr>
        <p:txBody>
          <a:bodyPr>
            <a:noAutofit/>
          </a:bodyPr>
          <a:lstStyle/>
          <a:p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将电平开关按表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4-1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设置，然后观察输出端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A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B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、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Y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所连接的电平显示器的发光二极管的状态，并测量输出端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Y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的电压值。发光二极管为红色表示输出为高电平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(1)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，发光二极管为绿色表示输出为低电平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(0)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，发光二极管不亮表示输出为悬空电平。最后把实验结果填入表 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4-1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中。</a:t>
            </a:r>
            <a:endParaRPr lang="en-US" altLang="zh-CN" sz="2700" dirty="0">
              <a:latin typeface="黑体" panose="02010609060101010101" charset="-122"/>
              <a:ea typeface="黑体" panose="02010609060101010101" charset="-122"/>
            </a:endParaRPr>
          </a:p>
          <a:p>
            <a:endParaRPr lang="en-US" altLang="zh-CN" sz="2700" dirty="0">
              <a:latin typeface="黑体" panose="02010609060101010101" charset="-122"/>
              <a:ea typeface="黑体" panose="02010609060101010101" charset="-122"/>
            </a:endParaRPr>
          </a:p>
          <a:p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将表中的实验结果与异或门的真值表对比，判断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74LS86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是否实现了异或逻辑功能。根据测量的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U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电压值，写出逻辑电平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0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和</a:t>
            </a:r>
            <a:r>
              <a:rPr lang="en-US" altLang="zh-CN" sz="2700" dirty="0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2700" dirty="0">
                <a:latin typeface="黑体" panose="02010609060101010101" charset="-122"/>
                <a:ea typeface="黑体" panose="02010609060101010101" charset="-122"/>
              </a:rPr>
              <a:t>的电压范围。</a:t>
            </a:r>
            <a:endParaRPr lang="zh-CN" altLang="en-US" sz="2700" dirty="0">
              <a:latin typeface="黑体" panose="02010609060101010101" charset="-122"/>
              <a:ea typeface="黑体" panose="0201060906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2903" y="116840"/>
            <a:ext cx="5578453" cy="36994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605" y="3687445"/>
            <a:ext cx="7799705" cy="31705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460" y="260668"/>
            <a:ext cx="8229600" cy="1143000"/>
          </a:xfrm>
        </p:spPr>
        <p:txBody>
          <a:bodyPr/>
          <a:lstStyle/>
          <a:p>
            <a:pPr algn="l"/>
            <a:r>
              <a:rPr lang="zh-CN" altLang="en-US" sz="3600" b="1" dirty="0">
                <a:latin typeface="黑体" panose="02010609060101010101" charset="-122"/>
                <a:ea typeface="黑体" panose="02010609060101010101" charset="-122"/>
              </a:rPr>
              <a:t>任务二  利用与非门控制输出</a:t>
            </a:r>
            <a:endParaRPr lang="zh-CN" altLang="en-US" sz="3600" b="1" dirty="0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</p:nvPr>
        </p:nvSpPr>
        <p:spPr>
          <a:xfrm>
            <a:off x="35560" y="1403985"/>
            <a:ext cx="4319905" cy="4321810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选一片 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74LS00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，并按图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4-14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接线。在输入端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A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输入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1kHz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连续脉冲，将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S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端接至数字电路实验箱的任一逻辑电平开关。用示波器观察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S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端为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0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电平和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1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电平时的输入端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A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和输出端 </a:t>
            </a:r>
            <a:r>
              <a:rPr lang="en-US" altLang="zh-CN" sz="2800" dirty="0">
                <a:latin typeface="黑体" panose="02010609060101010101" charset="-122"/>
                <a:ea typeface="黑体" panose="02010609060101010101" charset="-122"/>
              </a:rPr>
              <a:t>Y</a:t>
            </a: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的波形，并记录之。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1955" y="2061210"/>
            <a:ext cx="4772025" cy="282321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765810"/>
            <a:ext cx="9071610" cy="355028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996055" y="5949315"/>
            <a:ext cx="4203700" cy="4965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000"/>
              <a:t>邮箱：</a:t>
            </a:r>
            <a:r>
              <a:rPr lang="en-US" altLang="zh-CN" sz="2000"/>
              <a:t>da02161224@gmail.com</a:t>
            </a:r>
            <a:endParaRPr lang="en-US" altLang="zh-CN" sz="2000"/>
          </a:p>
        </p:txBody>
      </p:sp>
      <p:pic>
        <p:nvPicPr>
          <p:cNvPr id="3" name="图片 2" descr="converted_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2405" y="5589270"/>
            <a:ext cx="1040765" cy="10407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804</Words>
  <Application>WPS 演示</Application>
  <PresentationFormat/>
  <Paragraphs>46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宋体</vt:lpstr>
      <vt:lpstr>Wingdings</vt:lpstr>
      <vt:lpstr>黑体</vt:lpstr>
      <vt:lpstr>Cambria Math</vt:lpstr>
      <vt:lpstr>微软雅黑</vt:lpstr>
      <vt:lpstr>Arial Unicode MS</vt:lpstr>
      <vt:lpstr>Calibri</vt:lpstr>
      <vt:lpstr>默认设计模板</vt:lpstr>
      <vt:lpstr>PowerPoint 演示文稿</vt:lpstr>
      <vt:lpstr>实验目的</vt:lpstr>
      <vt:lpstr>实验仪器</vt:lpstr>
      <vt:lpstr>实验箱</vt:lpstr>
      <vt:lpstr>示波器</vt:lpstr>
      <vt:lpstr>实验一  异或门逻辑功能测试</vt:lpstr>
      <vt:lpstr>实验一步骤</vt:lpstr>
      <vt:lpstr>实验一步骤</vt:lpstr>
      <vt:lpstr>PowerPoint 演示文稿</vt:lpstr>
      <vt:lpstr>任务二  利用与非门控制输出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徐则达</dc:creator>
  <cp:lastModifiedBy>弔达</cp:lastModifiedBy>
  <cp:revision>2</cp:revision>
  <dcterms:created xsi:type="dcterms:W3CDTF">2026-04-19T02:53:00Z</dcterms:created>
  <dcterms:modified xsi:type="dcterms:W3CDTF">2026-04-20T02:59:32Z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FAD0CFCA2F73412EABED2C38911827F8_12</vt:lpwstr>
  </property>
</Properties>
</file>