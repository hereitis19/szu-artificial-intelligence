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</p:sldMasterIdLst>
  <p:notesMasterIdLst>
    <p:notesMasterId r:id="rId9"/>
  </p:notesMasterIdLst>
  <p:sldIdLst>
    <p:sldId id="492" r:id="rId2"/>
    <p:sldId id="493" r:id="rId3"/>
    <p:sldId id="501" r:id="rId4"/>
    <p:sldId id="503" r:id="rId5"/>
    <p:sldId id="504" r:id="rId6"/>
    <p:sldId id="506" r:id="rId7"/>
    <p:sldId id="505" r:id="rId8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 baseline="-250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 baseline="-250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 baseline="-250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 baseline="-250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FF"/>
    <a:srgbClr val="33CC33"/>
    <a:srgbClr val="00FFFF"/>
    <a:srgbClr val="FF99FF"/>
    <a:srgbClr val="003399"/>
    <a:srgbClr val="66FF33"/>
    <a:srgbClr val="FFFF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74" autoAdjust="0"/>
    <p:restoredTop sz="94660"/>
  </p:normalViewPr>
  <p:slideViewPr>
    <p:cSldViewPr>
      <p:cViewPr varScale="1">
        <p:scale>
          <a:sx n="126" d="100"/>
          <a:sy n="126" d="100"/>
        </p:scale>
        <p:origin x="1334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250697F6-173F-4907-8E1F-6A4A7DCD3E53}" type="datetimeFigureOut">
              <a:rPr lang="zh-CN" altLang="en-US"/>
              <a:pPr>
                <a:defRPr/>
              </a:pPr>
              <a:t>2026/4/2</a:t>
            </a:fld>
            <a:endParaRPr lang="en-US" altLang="zh-CN"/>
          </a:p>
        </p:txBody>
      </p:sp>
      <p:sp>
        <p:nvSpPr>
          <p:cNvPr id="45060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0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027A0B3A-CBE6-4851-A53D-4B4CBF114D6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63414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altLang="zh-CN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1501A26F-E9E9-42C6-9C8E-36205DDA9A33}" type="datetime1">
              <a:rPr lang="zh-CN" altLang="en-US" smtClean="0"/>
              <a:pPr>
                <a:defRPr/>
              </a:pPr>
              <a:t>2026/4/2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r>
              <a:rPr lang="en-US" altLang="zh-CN"/>
              <a:t>Lecture 1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7C93F2F6-B200-4836-9340-136DE79878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EE2FF0-5169-45E6-A93D-D1F642771312}" type="datetime1">
              <a:rPr lang="zh-CN" altLang="en-US" smtClean="0"/>
              <a:pPr>
                <a:defRPr/>
              </a:pPr>
              <a:t>2026/4/2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39043CD-98A1-4109-9E08-03CB892C1BFE}" type="datetime1">
              <a:rPr lang="zh-CN" altLang="en-US" smtClean="0"/>
              <a:pPr>
                <a:defRPr/>
              </a:pPr>
              <a:t>2026/4/2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B5138F1-6AB5-427F-885D-A4F14B8010D7}" type="datetime1">
              <a:rPr lang="zh-CN" altLang="en-US" smtClean="0"/>
              <a:pPr>
                <a:defRPr/>
              </a:pPr>
              <a:t>2026/4/2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altLang="zh-CN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altLang="zh-CN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76AC82F-B171-4D22-8428-FEE00C5995A2}" type="datetime1">
              <a:rPr lang="zh-CN" altLang="en-US" smtClean="0"/>
              <a:pPr>
                <a:defRPr/>
              </a:pPr>
              <a:t>2026/4/2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26F37BA-D1C0-4DB6-9E6F-9E5B46421548}" type="datetime1">
              <a:rPr lang="zh-CN" altLang="en-US" smtClean="0"/>
              <a:pPr>
                <a:defRPr/>
              </a:pPr>
              <a:t>2026/4/2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0EE5B48-4CB1-4DBD-AD80-F180514AA93D}" type="datetime1">
              <a:rPr lang="zh-CN" altLang="en-US" smtClean="0"/>
              <a:pPr>
                <a:defRPr/>
              </a:pPr>
              <a:t>2026/4/2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pPr>
              <a:defRPr/>
            </a:pPr>
            <a:fld id="{E49F76EA-3656-402B-AFFC-D88CAED976E4}" type="datetime1">
              <a:rPr lang="zh-CN" altLang="en-US" smtClean="0"/>
              <a:pPr>
                <a:defRPr/>
              </a:pPr>
              <a:t>2026/4/2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altLang="zh-CN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altLang="zh-CN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C230EBF4-244A-4141-BA3F-BC7388FDD6CD}" type="datetime1">
              <a:rPr lang="zh-CN" altLang="en-US" smtClean="0"/>
              <a:pPr>
                <a:defRPr/>
              </a:pPr>
              <a:t>2026/4/2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r>
              <a:rPr lang="en-US" altLang="zh-CN"/>
              <a:t>Lecture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7C93F2F6-B200-4836-9340-136DE79878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8931191-54D3-47FC-8940-F63228B1FA89}" type="datetime1">
              <a:rPr lang="zh-CN" altLang="en-US" smtClean="0"/>
              <a:pPr>
                <a:defRPr/>
              </a:pPr>
              <a:t>2026/4/2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5EBC060-C77D-4BC4-8D0C-107EFB448A79}" type="datetime1">
              <a:rPr lang="zh-CN" altLang="en-US" smtClean="0"/>
              <a:pPr>
                <a:defRPr/>
              </a:pPr>
              <a:t>2026/4/2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altLang="zh-CN"/>
              <a:t>Click to edit Master text styles</a:t>
            </a:r>
          </a:p>
          <a:p>
            <a:pPr lvl="1" eaLnBrk="1" latinLnBrk="0" hangingPunct="1"/>
            <a:r>
              <a:rPr kumimoji="0" lang="en-US" altLang="zh-CN"/>
              <a:t>Second level</a:t>
            </a:r>
          </a:p>
          <a:p>
            <a:pPr lvl="2" eaLnBrk="1" latinLnBrk="0" hangingPunct="1"/>
            <a:r>
              <a:rPr kumimoji="0" lang="en-US" altLang="zh-CN"/>
              <a:t>Third level</a:t>
            </a:r>
          </a:p>
          <a:p>
            <a:pPr lvl="3" eaLnBrk="1" latinLnBrk="0" hangingPunct="1"/>
            <a:r>
              <a:rPr kumimoji="0" lang="en-US" altLang="zh-CN"/>
              <a:t>Fourth level</a:t>
            </a:r>
          </a:p>
          <a:p>
            <a:pPr lvl="4" eaLnBrk="1" latinLnBrk="0" hangingPunct="1"/>
            <a:r>
              <a:rPr kumimoji="0" lang="en-US" altLang="zh-CN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9A57F911-7B1D-4109-89E2-FD9880E73F71}" type="datetime1">
              <a:rPr lang="zh-CN" altLang="en-US" smtClean="0"/>
              <a:pPr>
                <a:defRPr/>
              </a:pPr>
              <a:t>2026/4/2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r>
              <a:rPr lang="en-US" altLang="zh-CN"/>
              <a:t>Lecture 1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7C93F2F6-B200-4836-9340-136DE798787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计算机系统 </a:t>
            </a:r>
            <a:r>
              <a:rPr lang="en-US" altLang="zh-CN" dirty="0"/>
              <a:t>I </a:t>
            </a:r>
            <a:endParaRPr lang="zh-CN" altLang="en-US" dirty="0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  <a:p>
            <a:r>
              <a:rPr lang="zh-CN" altLang="en-US" dirty="0"/>
              <a:t> 大作业一 自动驾驶系统的模拟实现</a:t>
            </a:r>
          </a:p>
        </p:txBody>
      </p:sp>
    </p:spTree>
    <p:extLst>
      <p:ext uri="{BB962C8B-B14F-4D97-AF65-F5344CB8AC3E}">
        <p14:creationId xmlns:p14="http://schemas.microsoft.com/office/powerpoint/2010/main" val="4286155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实验要求</a:t>
            </a:r>
          </a:p>
        </p:txBody>
      </p:sp>
      <p:sp>
        <p:nvSpPr>
          <p:cNvPr id="4" name="内容占位符 1">
            <a:extLst>
              <a:ext uri="{FF2B5EF4-FFF2-40B4-BE49-F238E27FC236}">
                <a16:creationId xmlns:a16="http://schemas.microsoft.com/office/drawing/2014/main" id="{2ECADBB0-C4BA-B68A-5162-2CA39EA0C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zh-CN" dirty="0"/>
              <a:t>分析和理解</a:t>
            </a:r>
            <a:r>
              <a:rPr lang="zh-CN" altLang="en-US" dirty="0"/>
              <a:t>作业</a:t>
            </a:r>
            <a:r>
              <a:rPr lang="zh-CN" altLang="zh-CN" dirty="0"/>
              <a:t>指定的问题</a:t>
            </a:r>
            <a:endParaRPr lang="en-US" altLang="zh-CN" dirty="0"/>
          </a:p>
          <a:p>
            <a:endParaRPr lang="zh-CN" altLang="zh-CN" dirty="0"/>
          </a:p>
          <a:p>
            <a:r>
              <a:rPr lang="zh-CN" altLang="zh-CN" dirty="0"/>
              <a:t>利用</a:t>
            </a:r>
            <a:r>
              <a:rPr lang="en-US" altLang="zh-CN" dirty="0"/>
              <a:t>python </a:t>
            </a:r>
            <a:r>
              <a:rPr lang="zh-CN" altLang="en-US" dirty="0"/>
              <a:t>或 </a:t>
            </a:r>
            <a:r>
              <a:rPr lang="en-US" altLang="zh-CN" dirty="0"/>
              <a:t>C/C++</a:t>
            </a:r>
            <a:r>
              <a:rPr lang="zh-CN" altLang="zh-CN" dirty="0"/>
              <a:t>代码设计实现相关程序</a:t>
            </a:r>
            <a:endParaRPr lang="en-US" altLang="zh-CN" dirty="0"/>
          </a:p>
          <a:p>
            <a:endParaRPr lang="zh-CN" altLang="zh-CN" dirty="0"/>
          </a:p>
          <a:p>
            <a:r>
              <a:rPr lang="zh-CN" altLang="en-US" dirty="0"/>
              <a:t>熟练掌握与、或、非门，学会根据场景写出逻辑表达式并画出电路图。</a:t>
            </a:r>
            <a:endParaRPr lang="zh-CN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任务描述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EC22BB0-2444-F2A4-457A-F1B4B357E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556792"/>
            <a:ext cx="7706570" cy="41764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02416-F5E7-4AB4-6E98-15588515E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9D2FD7E-B5A5-13F4-778A-375F7670C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任务说明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33E11A9-6887-3B07-3A3F-9B1E2718A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9907"/>
            <a:ext cx="9144000" cy="4178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818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04D73-A52D-E45C-6A38-D06515707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DA76638-ECEE-8C8E-83EF-EDD1A5D3B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任务说明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5D04D01-E52E-4568-70CA-56A9E59CA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87" y="1340768"/>
            <a:ext cx="9027513" cy="384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191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25648-8FC9-CC3C-67BE-60045C53F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9E98271-2019-5008-1A4F-0D12195A2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输入示例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B0E8CD9-56D2-7BF5-0E9B-B9B6BCF75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579296" cy="4525963"/>
          </a:xfrm>
        </p:spPr>
        <p:txBody>
          <a:bodyPr>
            <a:normAutofit/>
          </a:bodyPr>
          <a:lstStyle/>
          <a:p>
            <a:pPr marL="624078" indent="-514350">
              <a:buAutoNum type="arabicPeriod"/>
            </a:pPr>
            <a:r>
              <a:rPr lang="zh-CN" altLang="en-US" dirty="0"/>
              <a:t>视觉传感器：三个数字（</a:t>
            </a:r>
            <a:r>
              <a:rPr lang="en-US" altLang="zh-CN" dirty="0"/>
              <a:t>0-1</a:t>
            </a:r>
            <a:r>
              <a:rPr lang="zh-CN" altLang="en-US" dirty="0"/>
              <a:t>之间），依次代表左中右有物体的概率。同时每个物体有五种状态（布尔值），代表物体运动趋势（前后左右静止）。</a:t>
            </a:r>
            <a:endParaRPr lang="en-US" altLang="zh-CN" dirty="0"/>
          </a:p>
          <a:p>
            <a:pPr marL="624078" indent="-514350">
              <a:buAutoNum type="arabicPeriod"/>
            </a:pPr>
            <a:r>
              <a:rPr lang="zh-CN" altLang="en-US" dirty="0"/>
              <a:t>激光雷达传感器：三个数字，代表与三个方向物体的距离（</a:t>
            </a:r>
            <a:r>
              <a:rPr lang="en-US" altLang="zh-CN" dirty="0"/>
              <a:t>m</a:t>
            </a:r>
            <a:r>
              <a:rPr lang="zh-CN" altLang="en-US" dirty="0"/>
              <a:t>）。</a:t>
            </a:r>
            <a:endParaRPr lang="en-US" altLang="zh-CN" dirty="0"/>
          </a:p>
          <a:p>
            <a:pPr marL="624078" indent="-514350">
              <a:buAutoNum type="arabicPeriod"/>
            </a:pPr>
            <a:r>
              <a:rPr lang="zh-CN" altLang="en-US" dirty="0"/>
              <a:t>雨量计</a:t>
            </a:r>
            <a:r>
              <a:rPr lang="zh-CN" altLang="en-US" dirty="0">
                <a:sym typeface="Wingdings" panose="05000000000000000000" pitchFamily="2" charset="2"/>
              </a:rPr>
              <a:t>：模拟时序输入。代表一段时间内检测是否有雨。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624078" indent="-514350">
              <a:buAutoNum type="arabicPeriod"/>
            </a:pPr>
            <a:r>
              <a:rPr lang="zh-CN" altLang="en-US" dirty="0">
                <a:sym typeface="Wingdings" panose="05000000000000000000" pitchFamily="2" charset="2"/>
              </a:rPr>
              <a:t>车速传感器：一个数字，代表车速（</a:t>
            </a:r>
            <a:r>
              <a:rPr lang="en-US" altLang="zh-CN" dirty="0">
                <a:sym typeface="Wingdings" panose="05000000000000000000" pitchFamily="2" charset="2"/>
              </a:rPr>
              <a:t>km/h</a:t>
            </a:r>
            <a:r>
              <a:rPr lang="zh-CN" altLang="en-US" dirty="0">
                <a:sym typeface="Wingdings" panose="05000000000000000000" pitchFamily="2" charset="2"/>
              </a:rPr>
              <a:t>）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624078" indent="-514350">
              <a:buAutoNum type="arabicPeriod"/>
            </a:pPr>
            <a:r>
              <a:rPr lang="zh-CN" altLang="en-US" dirty="0">
                <a:sym typeface="Wingdings" panose="05000000000000000000" pitchFamily="2" charset="2"/>
              </a:rPr>
              <a:t>故障传感器：代表车辆是否发生故障。</a:t>
            </a:r>
            <a:endParaRPr lang="en-US" altLang="zh-CN" dirty="0"/>
          </a:p>
          <a:p>
            <a:pPr marL="624078" indent="-514350">
              <a:buAutoNum type="arabicPeriod"/>
            </a:pP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861124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6F450-9602-6A33-00FE-3D545DFB1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FF9E3CE-31BD-9FAF-89AF-FEB2F178E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6312"/>
            <a:ext cx="8229600" cy="1143000"/>
          </a:xfrm>
        </p:spPr>
        <p:txBody>
          <a:bodyPr/>
          <a:lstStyle/>
          <a:p>
            <a:r>
              <a:rPr lang="zh-CN" altLang="en-US" dirty="0"/>
              <a:t>提交说明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8D13A45-3E90-E4CA-25AF-F895E44B7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8720"/>
            <a:ext cx="9144000" cy="405809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084A882-59A5-9A54-471C-51DF00522EB5}"/>
                  </a:ext>
                </a:extLst>
              </p:cNvPr>
              <p:cNvSpPr txBox="1"/>
              <p:nvPr/>
            </p:nvSpPr>
            <p:spPr>
              <a:xfrm>
                <a:off x="1331640" y="1196752"/>
                <a:ext cx="1963614" cy="5132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dirty="0"/>
                  <a:t>Y= (A·B) +(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·</m:t>
                    </m:r>
                  </m:oMath>
                </a14:m>
                <a:r>
                  <a:rPr lang="en-US" altLang="zh-CN" sz="2800" dirty="0"/>
                  <a:t>C)</a:t>
                </a:r>
                <a:endParaRPr lang="zh-CN" altLang="en-US" sz="2800" dirty="0"/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084A882-59A5-9A54-471C-51DF00522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40" y="1196752"/>
                <a:ext cx="1963614" cy="513282"/>
              </a:xfrm>
              <a:prstGeom prst="rect">
                <a:avLst/>
              </a:prstGeom>
              <a:blipFill>
                <a:blip r:embed="rId3"/>
                <a:stretch>
                  <a:fillRect l="-2786" r="-1548" b="-29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DAD16BC8-A250-8885-0AB0-201E12C11D9B}"/>
              </a:ext>
            </a:extLst>
          </p:cNvPr>
          <p:cNvSpPr txBox="1"/>
          <p:nvPr/>
        </p:nvSpPr>
        <p:spPr>
          <a:xfrm>
            <a:off x="31270" y="4221088"/>
            <a:ext cx="941796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latin typeface="+mj-ea"/>
                <a:ea typeface="+mj-ea"/>
              </a:rPr>
              <a:t>4. </a:t>
            </a:r>
            <a:r>
              <a:rPr lang="zh-CN" altLang="en-US" sz="3600" b="1" dirty="0">
                <a:latin typeface="+mj-ea"/>
                <a:ea typeface="+mj-ea"/>
              </a:rPr>
              <a:t>文字说明：</a:t>
            </a:r>
            <a:endParaRPr lang="en-US" altLang="zh-CN" sz="3600" b="1" dirty="0">
              <a:latin typeface="+mj-ea"/>
              <a:ea typeface="+mj-ea"/>
            </a:endParaRPr>
          </a:p>
          <a:p>
            <a:endParaRPr lang="en-US" altLang="zh-CN" sz="3600" b="1" dirty="0">
              <a:latin typeface="+mj-ea"/>
              <a:ea typeface="+mj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+mj-ea"/>
                <a:ea typeface="+mj-ea"/>
              </a:rPr>
              <a:t>正前方有物体并向后移动，可能是对向行驶，如论车速如何，都应减速。</a:t>
            </a:r>
            <a:endParaRPr lang="en-US" altLang="zh-CN" sz="3200" dirty="0">
              <a:latin typeface="+mj-ea"/>
              <a:ea typeface="+mj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3200" dirty="0">
              <a:latin typeface="+mj-ea"/>
              <a:ea typeface="+mj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+mj-ea"/>
                <a:ea typeface="+mj-ea"/>
              </a:rPr>
              <a:t> 。。。。。。。。。</a:t>
            </a:r>
          </a:p>
        </p:txBody>
      </p:sp>
    </p:spTree>
    <p:extLst>
      <p:ext uri="{BB962C8B-B14F-4D97-AF65-F5344CB8AC3E}">
        <p14:creationId xmlns:p14="http://schemas.microsoft.com/office/powerpoint/2010/main" val="3817392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1494</TotalTime>
  <Pages>0</Pages>
  <Words>206</Words>
  <Characters>0</Characters>
  <Application>Microsoft Office PowerPoint</Application>
  <DocSecurity>0</DocSecurity>
  <PresentationFormat>全屏显示(4:3)</PresentationFormat>
  <Lines>0</Lines>
  <Paragraphs>25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Calibri</vt:lpstr>
      <vt:lpstr>Cambria Math</vt:lpstr>
      <vt:lpstr>Lucida Sans Unicode</vt:lpstr>
      <vt:lpstr>Verdana</vt:lpstr>
      <vt:lpstr>Wingdings</vt:lpstr>
      <vt:lpstr>Wingdings 2</vt:lpstr>
      <vt:lpstr>Wingdings 3</vt:lpstr>
      <vt:lpstr>Concourse</vt:lpstr>
      <vt:lpstr>计算机系统 I </vt:lpstr>
      <vt:lpstr>实验要求</vt:lpstr>
      <vt:lpstr>任务描述</vt:lpstr>
      <vt:lpstr>任务说明</vt:lpstr>
      <vt:lpstr>任务说明</vt:lpstr>
      <vt:lpstr>输入示例</vt:lpstr>
      <vt:lpstr>提交说明</vt:lpstr>
    </vt:vector>
  </TitlesOfParts>
  <Company>USTC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Introduction   An Hong han@ustc.edu.cn</dc:title>
  <dc:creator>hanhwt</dc:creator>
  <cp:lastModifiedBy>浩 李</cp:lastModifiedBy>
  <cp:revision>413</cp:revision>
  <cp:lastPrinted>1601-01-01T00:00:00Z</cp:lastPrinted>
  <dcterms:created xsi:type="dcterms:W3CDTF">2012-09-03T16:09:03Z</dcterms:created>
  <dcterms:modified xsi:type="dcterms:W3CDTF">2026-04-02T02:42:39Z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2052-8.1.0.2998</vt:lpwstr>
  </property>
</Properties>
</file>