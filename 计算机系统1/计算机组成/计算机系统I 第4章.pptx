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"/>
  </p:notesMasterIdLst>
  <p:sldIdLst>
    <p:sldId id="492" r:id="rId3"/>
    <p:sldId id="590" r:id="rId4"/>
    <p:sldId id="494" r:id="rId5"/>
    <p:sldId id="640" r:id="rId7"/>
    <p:sldId id="594" r:id="rId8"/>
    <p:sldId id="595" r:id="rId9"/>
    <p:sldId id="596" r:id="rId10"/>
    <p:sldId id="597" r:id="rId11"/>
    <p:sldId id="598" r:id="rId12"/>
    <p:sldId id="623" r:id="rId13"/>
    <p:sldId id="619" r:id="rId14"/>
    <p:sldId id="618" r:id="rId15"/>
    <p:sldId id="615" r:id="rId16"/>
    <p:sldId id="616" r:id="rId17"/>
    <p:sldId id="617" r:id="rId18"/>
    <p:sldId id="642" r:id="rId19"/>
    <p:sldId id="599" r:id="rId20"/>
    <p:sldId id="603" r:id="rId21"/>
    <p:sldId id="604" r:id="rId22"/>
    <p:sldId id="605" r:id="rId23"/>
    <p:sldId id="606" r:id="rId24"/>
    <p:sldId id="607" r:id="rId25"/>
    <p:sldId id="608" r:id="rId26"/>
    <p:sldId id="609" r:id="rId27"/>
    <p:sldId id="622" r:id="rId28"/>
    <p:sldId id="624" r:id="rId29"/>
    <p:sldId id="625" r:id="rId30"/>
    <p:sldId id="626" r:id="rId31"/>
    <p:sldId id="627" r:id="rId32"/>
    <p:sldId id="628" r:id="rId33"/>
    <p:sldId id="629" r:id="rId34"/>
    <p:sldId id="630" r:id="rId35"/>
    <p:sldId id="631" r:id="rId36"/>
    <p:sldId id="632" r:id="rId37"/>
    <p:sldId id="633" r:id="rId38"/>
    <p:sldId id="634" r:id="rId39"/>
    <p:sldId id="635" r:id="rId40"/>
    <p:sldId id="644" r:id="rId41"/>
    <p:sldId id="643" r:id="rId42"/>
    <p:sldId id="645" r:id="rId43"/>
    <p:sldId id="641" r:id="rId4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CC33"/>
    <a:srgbClr val="0066FF"/>
    <a:srgbClr val="00FFFF"/>
    <a:srgbClr val="FF99FF"/>
    <a:srgbClr val="003399"/>
    <a:srgbClr val="66FF33"/>
    <a:srgbClr val="FFFF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74" autoAdjust="0"/>
    <p:restoredTop sz="94660"/>
  </p:normalViewPr>
  <p:slideViewPr>
    <p:cSldViewPr showGuides="1">
      <p:cViewPr>
        <p:scale>
          <a:sx n="110" d="100"/>
          <a:sy n="110" d="100"/>
        </p:scale>
        <p:origin x="1566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3388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50697F6-173F-4907-8E1F-6A4A7DCD3E53}" type="datetimeFigureOut">
              <a:rPr lang="zh-CN" altLang="en-US"/>
            </a:fld>
            <a:endParaRPr lang="en-US" altLang="zh-CN"/>
          </a:p>
        </p:txBody>
      </p:sp>
      <p:sp>
        <p:nvSpPr>
          <p:cNvPr id="45060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021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27A0B3A-CBE6-4851-A53D-4B4CBF114D67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1D31DE9D-FD6D-4D7C-B9DB-D3CDC84FBB9E}" type="slidenum">
              <a:rPr lang="en-US" altLang="zh-CN"/>
            </a:fld>
            <a:endParaRPr lang="en-US" altLang="zh-CN"/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Intel and Pentium are trademarks of Intel Corporation. IBM and PowerPC are trademarks of International Business Machines Corporation.  Apple is a trademark of Apple Computer, Inc.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A2016A-E76D-463E-8ECA-C51E92002762}" type="slidenum">
              <a:rPr lang="en-US" altLang="zh-CN"/>
            </a:fld>
            <a:endParaRPr lang="en-US" altLang="zh-CN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F759CD-8A89-4CC2-A014-0EFE1649D531}" type="slidenum">
              <a:rPr lang="en-US" altLang="zh-CN"/>
            </a:fld>
            <a:endParaRPr lang="en-US" altLang="zh-CN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9F6615A-C675-4198-AF9B-132A2D71BC32}" type="slidenum">
              <a:rPr lang="en-US" altLang="zh-CN"/>
            </a:fld>
            <a:endParaRPr lang="en-US" altLang="zh-CN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altLang="zh-CN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/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98CA108-0D8D-4275-AC75-5FFDF5D9BBB4}" type="datetime1">
              <a:rPr lang="zh-CN" altLang="en-US" smtClean="0"/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r>
              <a:rPr lang="en-US" altLang="zh-CN" smtClean="0"/>
              <a:t>Lecture 1</a:t>
            </a:r>
            <a:endParaRPr lang="en-US" altLang="zh-CN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 eaLnBrk="1" latinLnBrk="0" hangingPunct="1"/>
            <a:r>
              <a:rPr lang="en-US" altLang="zh-CN" smtClean="0"/>
              <a:t>Second level</a:t>
            </a:r>
            <a:endParaRPr lang="en-US" altLang="zh-CN" smtClean="0"/>
          </a:p>
          <a:p>
            <a:pPr lvl="2" eaLnBrk="1" latinLnBrk="0" hangingPunct="1"/>
            <a:r>
              <a:rPr lang="en-US" altLang="zh-CN" smtClean="0"/>
              <a:t>Third level</a:t>
            </a:r>
            <a:endParaRPr lang="en-US" altLang="zh-CN" smtClean="0"/>
          </a:p>
          <a:p>
            <a:pPr lvl="3" eaLnBrk="1" latinLnBrk="0" hangingPunct="1"/>
            <a:r>
              <a:rPr lang="en-US" altLang="zh-CN" smtClean="0"/>
              <a:t>Fourth level</a:t>
            </a:r>
            <a:endParaRPr lang="en-US" altLang="zh-CN" smtClean="0"/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874EE4-5AEA-40E9-B951-4CBDD727FC55}" type="datetime1">
              <a:rPr lang="zh-CN" alt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</a:t>
            </a: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altLang="zh-CN" smtClean="0"/>
              <a:t>Click to edit Master text styles</a:t>
            </a:r>
            <a:endParaRPr kumimoji="0" lang="en-US" altLang="zh-CN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BE06F8E-49DD-4497-A87C-49D0DAE7BD42}" type="datetime1">
              <a:rPr lang="zh-CN" alt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</a:t>
            </a: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 eaLnBrk="1" latinLnBrk="0" hangingPunct="1"/>
            <a:r>
              <a:rPr lang="en-US" altLang="zh-CN" smtClean="0"/>
              <a:t>Second level</a:t>
            </a:r>
            <a:endParaRPr lang="en-US" altLang="zh-CN" smtClean="0"/>
          </a:p>
          <a:p>
            <a:pPr lvl="2" eaLnBrk="1" latinLnBrk="0" hangingPunct="1"/>
            <a:r>
              <a:rPr lang="en-US" altLang="zh-CN" smtClean="0"/>
              <a:t>Third level</a:t>
            </a:r>
            <a:endParaRPr lang="en-US" altLang="zh-CN" smtClean="0"/>
          </a:p>
          <a:p>
            <a:pPr lvl="3" eaLnBrk="1" latinLnBrk="0" hangingPunct="1"/>
            <a:r>
              <a:rPr lang="en-US" altLang="zh-CN" smtClean="0"/>
              <a:t>Fourth level</a:t>
            </a:r>
            <a:endParaRPr lang="en-US" altLang="zh-CN" smtClean="0"/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 eaLnBrk="1" latinLnBrk="0" hangingPunct="1"/>
            <a:r>
              <a:rPr lang="en-US" altLang="zh-CN" smtClean="0"/>
              <a:t>Second level</a:t>
            </a:r>
            <a:endParaRPr lang="en-US" altLang="zh-CN" smtClean="0"/>
          </a:p>
          <a:p>
            <a:pPr lvl="2" eaLnBrk="1" latinLnBrk="0" hangingPunct="1"/>
            <a:r>
              <a:rPr lang="en-US" altLang="zh-CN" smtClean="0"/>
              <a:t>Third level</a:t>
            </a:r>
            <a:endParaRPr lang="en-US" altLang="zh-CN" smtClean="0"/>
          </a:p>
          <a:p>
            <a:pPr lvl="3" eaLnBrk="1" latinLnBrk="0" hangingPunct="1"/>
            <a:r>
              <a:rPr lang="en-US" altLang="zh-CN" smtClean="0"/>
              <a:t>Fourth level</a:t>
            </a:r>
            <a:endParaRPr lang="en-US" altLang="zh-CN" smtClean="0"/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B05E0C2-2262-4F70-A1CF-C790014495C9}" type="datetime1">
              <a:rPr lang="zh-CN" alt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</a:t>
            </a: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zh-CN" smtClean="0"/>
              <a:t>Click to edit Master text styles</a:t>
            </a:r>
            <a:endParaRPr kumimoji="0" lang="en-US" altLang="zh-CN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zh-CN" smtClean="0"/>
              <a:t>Click to edit Master text styles</a:t>
            </a:r>
            <a:endParaRPr kumimoji="0" lang="en-US" altLang="zh-CN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 eaLnBrk="1" latinLnBrk="0" hangingPunct="1"/>
            <a:r>
              <a:rPr lang="en-US" altLang="zh-CN" smtClean="0"/>
              <a:t>Second level</a:t>
            </a:r>
            <a:endParaRPr lang="en-US" altLang="zh-CN" smtClean="0"/>
          </a:p>
          <a:p>
            <a:pPr lvl="2" eaLnBrk="1" latinLnBrk="0" hangingPunct="1"/>
            <a:r>
              <a:rPr lang="en-US" altLang="zh-CN" smtClean="0"/>
              <a:t>Third level</a:t>
            </a:r>
            <a:endParaRPr lang="en-US" altLang="zh-CN" smtClean="0"/>
          </a:p>
          <a:p>
            <a:pPr lvl="3" eaLnBrk="1" latinLnBrk="0" hangingPunct="1"/>
            <a:r>
              <a:rPr lang="en-US" altLang="zh-CN" smtClean="0"/>
              <a:t>Fourth level</a:t>
            </a:r>
            <a:endParaRPr lang="en-US" altLang="zh-CN" smtClean="0"/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 eaLnBrk="1" latinLnBrk="0" hangingPunct="1"/>
            <a:r>
              <a:rPr lang="en-US" altLang="zh-CN" smtClean="0"/>
              <a:t>Second level</a:t>
            </a:r>
            <a:endParaRPr lang="en-US" altLang="zh-CN" smtClean="0"/>
          </a:p>
          <a:p>
            <a:pPr lvl="2" eaLnBrk="1" latinLnBrk="0" hangingPunct="1"/>
            <a:r>
              <a:rPr lang="en-US" altLang="zh-CN" smtClean="0"/>
              <a:t>Third level</a:t>
            </a:r>
            <a:endParaRPr lang="en-US" altLang="zh-CN" smtClean="0"/>
          </a:p>
          <a:p>
            <a:pPr lvl="3" eaLnBrk="1" latinLnBrk="0" hangingPunct="1"/>
            <a:r>
              <a:rPr lang="en-US" altLang="zh-CN" smtClean="0"/>
              <a:t>Fourth level</a:t>
            </a:r>
            <a:endParaRPr lang="en-US" altLang="zh-CN" smtClean="0"/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4727FC2-6FE3-40CC-94FE-ADC2F0C65CA0}" type="datetime1">
              <a:rPr lang="zh-CN" alt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</a:t>
            </a: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0379E5C-98DF-4B87-8A81-6457D2251BE2}" type="datetime1">
              <a:rPr lang="zh-CN" alt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</a:t>
            </a: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95E42D4-7535-47E5-BCE6-2185767E2FF2}" type="datetime1">
              <a:rPr lang="zh-CN" alt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altLang="zh-CN" smtClean="0"/>
              <a:t>Click to edit Master text styles</a:t>
            </a:r>
            <a:endParaRPr kumimoji="0" lang="en-US" altLang="zh-CN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 eaLnBrk="1" latinLnBrk="0" hangingPunct="1"/>
            <a:r>
              <a:rPr lang="en-US" altLang="zh-CN" smtClean="0"/>
              <a:t>Second level</a:t>
            </a:r>
            <a:endParaRPr lang="en-US" altLang="zh-CN" smtClean="0"/>
          </a:p>
          <a:p>
            <a:pPr lvl="2" eaLnBrk="1" latinLnBrk="0" hangingPunct="1"/>
            <a:r>
              <a:rPr lang="en-US" altLang="zh-CN" smtClean="0"/>
              <a:t>Third level</a:t>
            </a:r>
            <a:endParaRPr lang="en-US" altLang="zh-CN" smtClean="0"/>
          </a:p>
          <a:p>
            <a:pPr lvl="3" eaLnBrk="1" latinLnBrk="0" hangingPunct="1"/>
            <a:r>
              <a:rPr lang="en-US" altLang="zh-CN" smtClean="0"/>
              <a:t>Fourth level</a:t>
            </a:r>
            <a:endParaRPr lang="en-US" altLang="zh-CN" smtClean="0"/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pPr>
              <a:defRPr/>
            </a:pPr>
            <a:fld id="{C870DB5C-BEBF-4BD4-AD87-4F5BBE0B548C}" type="datetime1">
              <a:rPr lang="zh-CN" alt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</a:t>
            </a: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altLang="zh-CN" smtClean="0"/>
              <a:t>Click to edit Master text styles</a:t>
            </a:r>
            <a:endParaRPr kumimoji="0" lang="en-US" altLang="zh-CN" smtClean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altLang="zh-CN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412118C-F66C-4A0D-B40D-16391798EB77}" type="datetime1">
              <a:rPr lang="zh-CN" alt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smtClean="0"/>
              <a:t>Lecture 1</a:t>
            </a: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/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/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 eaLnBrk="1" latinLnBrk="0" hangingPunct="1"/>
            <a:r>
              <a:rPr lang="en-US" altLang="zh-CN" smtClean="0"/>
              <a:t>Second level</a:t>
            </a:r>
            <a:endParaRPr lang="en-US" altLang="zh-CN" smtClean="0"/>
          </a:p>
          <a:p>
            <a:pPr lvl="2" eaLnBrk="1" latinLnBrk="0" hangingPunct="1"/>
            <a:r>
              <a:rPr lang="en-US" altLang="zh-CN" smtClean="0"/>
              <a:t>Third level</a:t>
            </a:r>
            <a:endParaRPr lang="en-US" altLang="zh-CN" smtClean="0"/>
          </a:p>
          <a:p>
            <a:pPr lvl="3" eaLnBrk="1" latinLnBrk="0" hangingPunct="1"/>
            <a:r>
              <a:rPr lang="en-US" altLang="zh-CN" smtClean="0"/>
              <a:t>Fourth level</a:t>
            </a:r>
            <a:endParaRPr lang="en-US" altLang="zh-CN" smtClean="0"/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5359CB6-C459-4A29-97D3-1A377F5EFC8D}" type="datetime1">
              <a:rPr lang="zh-CN" alt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</a:t>
            </a: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 eaLnBrk="1" latinLnBrk="0" hangingPunct="1"/>
            <a:r>
              <a:rPr lang="en-US" altLang="zh-CN" smtClean="0"/>
              <a:t>Second level</a:t>
            </a:r>
            <a:endParaRPr lang="en-US" altLang="zh-CN" smtClean="0"/>
          </a:p>
          <a:p>
            <a:pPr lvl="2" eaLnBrk="1" latinLnBrk="0" hangingPunct="1"/>
            <a:r>
              <a:rPr lang="en-US" altLang="zh-CN" smtClean="0"/>
              <a:t>Third level</a:t>
            </a:r>
            <a:endParaRPr lang="en-US" altLang="zh-CN" smtClean="0"/>
          </a:p>
          <a:p>
            <a:pPr lvl="3" eaLnBrk="1" latinLnBrk="0" hangingPunct="1"/>
            <a:r>
              <a:rPr lang="en-US" altLang="zh-CN" smtClean="0"/>
              <a:t>Fourth level</a:t>
            </a:r>
            <a:endParaRPr lang="en-US" altLang="zh-CN" smtClean="0"/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EF1D3C7-1F2D-4563-89B3-76BACB95D817}" type="datetime1">
              <a:rPr lang="zh-CN" alt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</a:t>
            </a: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/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altLang="zh-CN" smtClean="0"/>
              <a:t>Click to edit Master text styles</a:t>
            </a:r>
            <a:endParaRPr kumimoji="0" lang="en-US" altLang="zh-CN" smtClean="0"/>
          </a:p>
          <a:p>
            <a:pPr lvl="1" eaLnBrk="1" latinLnBrk="0" hangingPunct="1"/>
            <a:r>
              <a:rPr kumimoji="0" lang="en-US" altLang="zh-CN" smtClean="0"/>
              <a:t>Second level</a:t>
            </a:r>
            <a:endParaRPr kumimoji="0" lang="en-US" altLang="zh-CN" smtClean="0"/>
          </a:p>
          <a:p>
            <a:pPr lvl="2" eaLnBrk="1" latinLnBrk="0" hangingPunct="1"/>
            <a:r>
              <a:rPr kumimoji="0" lang="en-US" altLang="zh-CN" smtClean="0"/>
              <a:t>Third level</a:t>
            </a:r>
            <a:endParaRPr kumimoji="0" lang="en-US" altLang="zh-CN" smtClean="0"/>
          </a:p>
          <a:p>
            <a:pPr lvl="3" eaLnBrk="1" latinLnBrk="0" hangingPunct="1"/>
            <a:r>
              <a:rPr kumimoji="0" lang="en-US" altLang="zh-CN" smtClean="0"/>
              <a:t>Fourth level</a:t>
            </a:r>
            <a:endParaRPr kumimoji="0" lang="en-US" altLang="zh-CN" smtClean="0"/>
          </a:p>
          <a:p>
            <a:pPr lvl="4" eaLnBrk="1" latinLnBrk="0" hangingPunct="1"/>
            <a:r>
              <a:rPr kumimoji="0" lang="en-US" altLang="zh-CN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BE66D30-D4F4-4490-91B5-3E819FEC21FB}" type="datetime1">
              <a:rPr lang="zh-CN" altLang="en-US" smtClean="0"/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r>
              <a:rPr lang="en-US" altLang="zh-CN" smtClean="0"/>
              <a:t>Lecture 1</a:t>
            </a:r>
            <a:endParaRPr lang="en-US" altLang="zh-C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65760" indent="-255905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665" indent="-228600" algn="l" rtl="0" eaLnBrk="1" latinLnBrk="0" hangingPunct="1">
        <a:spcBef>
          <a:spcPts val="325"/>
        </a:spcBef>
        <a:buClr>
          <a:schemeClr val="accent1"/>
        </a:buClr>
        <a:buFont typeface="Verdana" panose="020B0604030504040204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790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wmf"/><Relationship Id="rId1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5.wmf"/><Relationship Id="rId1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6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jpe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8062664" cy="1829761"/>
          </a:xfrm>
        </p:spPr>
        <p:txBody>
          <a:bodyPr/>
          <a:lstStyle/>
          <a:p>
            <a:r>
              <a:rPr lang="zh-CN" altLang="en-US" dirty="0" smtClean="0"/>
              <a:t>计算机系统 </a:t>
            </a:r>
            <a:r>
              <a:rPr lang="en-US" altLang="zh-CN" dirty="0" smtClean="0"/>
              <a:t>I </a:t>
            </a:r>
            <a:endParaRPr lang="zh-CN" altLang="en-US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976064" y="3611607"/>
            <a:ext cx="7772400" cy="1199704"/>
          </a:xfrm>
        </p:spPr>
        <p:txBody>
          <a:bodyPr>
            <a:normAutofit/>
          </a:bodyPr>
          <a:lstStyle/>
          <a:p>
            <a:endParaRPr lang="en-US" altLang="zh-CN" dirty="0" smtClean="0"/>
          </a:p>
          <a:p>
            <a:r>
              <a:rPr lang="zh-CN" altLang="en-US" dirty="0" smtClean="0"/>
              <a:t>第四章 冯</a:t>
            </a:r>
            <a:r>
              <a:rPr lang="zh-CN" altLang="en-US" sz="1800" baseline="30000" dirty="0" smtClean="0"/>
              <a:t>∙</a:t>
            </a:r>
            <a:r>
              <a:rPr lang="zh-CN" altLang="en-US" dirty="0" smtClean="0"/>
              <a:t>诺伊曼模型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400" dirty="0">
                <a:ea typeface="宋体" panose="02010600030101010101" pitchFamily="2" charset="-122"/>
              </a:rPr>
              <a:t>计算机系统的抽象</a:t>
            </a:r>
            <a:r>
              <a:rPr lang="zh-CN" altLang="en-US" sz="4400" dirty="0" smtClean="0">
                <a:ea typeface="宋体" panose="02010600030101010101" pitchFamily="2" charset="-122"/>
              </a:rPr>
              <a:t>层次</a:t>
            </a:r>
            <a:endParaRPr lang="zh-CN" altLang="en-US" dirty="0"/>
          </a:p>
        </p:txBody>
      </p:sp>
      <p:grpSp>
        <p:nvGrpSpPr>
          <p:cNvPr id="15" name="组合 14"/>
          <p:cNvGrpSpPr/>
          <p:nvPr/>
        </p:nvGrpSpPr>
        <p:grpSpPr>
          <a:xfrm>
            <a:off x="539552" y="1340768"/>
            <a:ext cx="7776864" cy="4979486"/>
            <a:chOff x="539552" y="1052736"/>
            <a:chExt cx="8147248" cy="5267518"/>
          </a:xfrm>
        </p:grpSpPr>
        <p:sp>
          <p:nvSpPr>
            <p:cNvPr id="10244" name="Rectangle 2"/>
            <p:cNvSpPr>
              <a:spLocks noChangeArrowheads="1"/>
            </p:cNvSpPr>
            <p:nvPr/>
          </p:nvSpPr>
          <p:spPr bwMode="auto">
            <a:xfrm>
              <a:off x="685800" y="1136650"/>
              <a:ext cx="8001000" cy="6350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10245" name="Text Box 3"/>
            <p:cNvSpPr txBox="1">
              <a:spLocks noChangeArrowheads="1"/>
            </p:cNvSpPr>
            <p:nvPr/>
          </p:nvSpPr>
          <p:spPr bwMode="auto">
            <a:xfrm>
              <a:off x="1043608" y="1052736"/>
              <a:ext cx="2340705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 dirty="0" smtClean="0">
                  <a:solidFill>
                    <a:srgbClr val="CC0000"/>
                  </a:solidFill>
                  <a:ea typeface="宋体" panose="02010600030101010101" pitchFamily="2" charset="-122"/>
                </a:rPr>
                <a:t>Problem Specification</a:t>
              </a:r>
              <a:endParaRPr lang="en-US" altLang="zh-CN" sz="2400" b="1" dirty="0">
                <a:solidFill>
                  <a:srgbClr val="CC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246" name="Text Box 4"/>
            <p:cNvSpPr txBox="1">
              <a:spLocks noChangeArrowheads="1"/>
            </p:cNvSpPr>
            <p:nvPr/>
          </p:nvSpPr>
          <p:spPr bwMode="auto">
            <a:xfrm>
              <a:off x="1187624" y="1628800"/>
              <a:ext cx="2055371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 dirty="0" smtClean="0">
                  <a:solidFill>
                    <a:srgbClr val="CC0000"/>
                  </a:solidFill>
                  <a:ea typeface="宋体" panose="02010600030101010101" pitchFamily="2" charset="-122"/>
                </a:rPr>
                <a:t>Algorithm Program</a:t>
              </a:r>
              <a:endParaRPr lang="en-US" altLang="zh-CN" sz="2400" b="1" dirty="0">
                <a:solidFill>
                  <a:srgbClr val="CC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247" name="Text Box 5"/>
            <p:cNvSpPr txBox="1">
              <a:spLocks noChangeArrowheads="1"/>
            </p:cNvSpPr>
            <p:nvPr/>
          </p:nvSpPr>
          <p:spPr bwMode="auto">
            <a:xfrm>
              <a:off x="539552" y="2348880"/>
              <a:ext cx="3410677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 dirty="0">
                  <a:solidFill>
                    <a:srgbClr val="CC0000"/>
                  </a:solidFill>
                  <a:ea typeface="宋体" panose="02010600030101010101" pitchFamily="2" charset="-122"/>
                </a:rPr>
                <a:t>ISA (Instruction Set Architecture)</a:t>
              </a:r>
              <a:endParaRPr lang="en-US" altLang="zh-CN" sz="2400" b="1" dirty="0">
                <a:solidFill>
                  <a:srgbClr val="CC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248" name="Text Box 6"/>
            <p:cNvSpPr txBox="1">
              <a:spLocks noChangeArrowheads="1"/>
            </p:cNvSpPr>
            <p:nvPr/>
          </p:nvSpPr>
          <p:spPr bwMode="auto">
            <a:xfrm>
              <a:off x="1068388" y="3213100"/>
              <a:ext cx="1952779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 dirty="0" err="1">
                  <a:solidFill>
                    <a:srgbClr val="33CC33"/>
                  </a:solidFill>
                  <a:ea typeface="宋体" panose="02010600030101010101" pitchFamily="2" charset="-122"/>
                </a:rPr>
                <a:t>microArchitecture</a:t>
              </a:r>
              <a:endParaRPr lang="en-US" altLang="zh-CN" sz="2400" b="1" dirty="0">
                <a:solidFill>
                  <a:srgbClr val="33CC33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249" name="Text Box 7"/>
            <p:cNvSpPr txBox="1">
              <a:spLocks noChangeArrowheads="1"/>
            </p:cNvSpPr>
            <p:nvPr/>
          </p:nvSpPr>
          <p:spPr bwMode="auto">
            <a:xfrm>
              <a:off x="1828800" y="4559300"/>
              <a:ext cx="73129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 dirty="0">
                  <a:solidFill>
                    <a:srgbClr val="CC0000"/>
                  </a:solidFill>
                  <a:ea typeface="宋体" panose="02010600030101010101" pitchFamily="2" charset="-122"/>
                </a:rPr>
                <a:t>Logic</a:t>
              </a:r>
              <a:endParaRPr lang="en-US" altLang="zh-CN" sz="2400" b="1" dirty="0">
                <a:solidFill>
                  <a:srgbClr val="CC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250" name="Text Box 8"/>
            <p:cNvSpPr txBox="1">
              <a:spLocks noChangeArrowheads="1"/>
            </p:cNvSpPr>
            <p:nvPr/>
          </p:nvSpPr>
          <p:spPr bwMode="auto">
            <a:xfrm>
              <a:off x="1506538" y="5435600"/>
              <a:ext cx="129061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 dirty="0">
                  <a:solidFill>
                    <a:srgbClr val="CC0000"/>
                  </a:solidFill>
                  <a:ea typeface="宋体" panose="02010600030101010101" pitchFamily="2" charset="-122"/>
                </a:rPr>
                <a:t>Transistors</a:t>
              </a:r>
              <a:endParaRPr lang="en-US" altLang="zh-CN" sz="2400" b="1" dirty="0">
                <a:solidFill>
                  <a:srgbClr val="CC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251" name="Text Box 9"/>
            <p:cNvSpPr txBox="1">
              <a:spLocks noChangeArrowheads="1"/>
            </p:cNvSpPr>
            <p:nvPr/>
          </p:nvSpPr>
          <p:spPr bwMode="auto">
            <a:xfrm>
              <a:off x="1041400" y="5981700"/>
              <a:ext cx="2020105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 dirty="0">
                  <a:solidFill>
                    <a:srgbClr val="CC0000"/>
                  </a:solidFill>
                  <a:ea typeface="宋体" panose="02010600030101010101" pitchFamily="2" charset="-122"/>
                </a:rPr>
                <a:t>Physics/Chemistry</a:t>
              </a:r>
              <a:endParaRPr lang="en-US" altLang="zh-CN" sz="2400" b="1" dirty="0">
                <a:solidFill>
                  <a:srgbClr val="CC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81962" name="Text Box 10"/>
            <p:cNvSpPr txBox="1">
              <a:spLocks noChangeArrowheads="1"/>
            </p:cNvSpPr>
            <p:nvPr/>
          </p:nvSpPr>
          <p:spPr bwMode="auto">
            <a:xfrm>
              <a:off x="3923928" y="1124744"/>
              <a:ext cx="2571538" cy="2769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800" b="1" dirty="0">
                  <a:ea typeface="宋体" panose="02010600030101010101" pitchFamily="2" charset="-122"/>
                </a:rPr>
                <a:t>compute the </a:t>
              </a:r>
              <a:r>
                <a:rPr lang="en-US" altLang="zh-CN" sz="1800" b="1" dirty="0" err="1">
                  <a:ea typeface="宋体" panose="02010600030101010101" pitchFamily="2" charset="-122"/>
                </a:rPr>
                <a:t>fibonacci</a:t>
              </a:r>
              <a:r>
                <a:rPr lang="en-US" altLang="zh-CN" sz="1800" b="1" dirty="0">
                  <a:ea typeface="宋体" panose="02010600030101010101" pitchFamily="2" charset="-122"/>
                </a:rPr>
                <a:t> sequence</a:t>
              </a:r>
              <a:endParaRPr lang="en-US" altLang="zh-CN" b="1" dirty="0">
                <a:ea typeface="宋体" panose="02010600030101010101" pitchFamily="2" charset="-122"/>
              </a:endParaRPr>
            </a:p>
          </p:txBody>
        </p:sp>
        <p:sp>
          <p:nvSpPr>
            <p:cNvPr id="381963" name="Text Box 11"/>
            <p:cNvSpPr txBox="1">
              <a:spLocks noChangeArrowheads="1"/>
            </p:cNvSpPr>
            <p:nvPr/>
          </p:nvSpPr>
          <p:spPr bwMode="auto">
            <a:xfrm>
              <a:off x="3898900" y="1612900"/>
              <a:ext cx="2416046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800" b="1" dirty="0">
                  <a:latin typeface="Courier" pitchFamily="1" charset="0"/>
                  <a:ea typeface="宋体" panose="02010600030101010101" pitchFamily="2" charset="-122"/>
                </a:rPr>
                <a:t>for(</a:t>
              </a:r>
              <a:r>
                <a:rPr lang="en-US" altLang="zh-CN" sz="1800" b="1" dirty="0" err="1">
                  <a:latin typeface="Courier" pitchFamily="1" charset="0"/>
                  <a:ea typeface="宋体" panose="02010600030101010101" pitchFamily="2" charset="-122"/>
                </a:rPr>
                <a:t>i</a:t>
              </a:r>
              <a:r>
                <a:rPr lang="en-US" altLang="zh-CN" sz="1800" b="1" dirty="0">
                  <a:latin typeface="Courier" pitchFamily="1" charset="0"/>
                  <a:ea typeface="宋体" panose="02010600030101010101" pitchFamily="2" charset="-122"/>
                </a:rPr>
                <a:t>=2; </a:t>
              </a:r>
              <a:r>
                <a:rPr lang="en-US" altLang="zh-CN" sz="1800" b="1" dirty="0" err="1">
                  <a:latin typeface="Courier" pitchFamily="1" charset="0"/>
                  <a:ea typeface="宋体" panose="02010600030101010101" pitchFamily="2" charset="-122"/>
                </a:rPr>
                <a:t>i</a:t>
              </a:r>
              <a:r>
                <a:rPr lang="en-US" altLang="zh-CN" sz="1800" b="1" dirty="0">
                  <a:latin typeface="Courier" pitchFamily="1" charset="0"/>
                  <a:ea typeface="宋体" panose="02010600030101010101" pitchFamily="2" charset="-122"/>
                </a:rPr>
                <a:t>&lt;100; </a:t>
              </a:r>
              <a:r>
                <a:rPr lang="en-US" altLang="zh-CN" sz="1800" b="1" dirty="0" err="1">
                  <a:latin typeface="Courier" pitchFamily="1" charset="0"/>
                  <a:ea typeface="宋体" panose="02010600030101010101" pitchFamily="2" charset="-122"/>
                </a:rPr>
                <a:t>i</a:t>
              </a:r>
              <a:r>
                <a:rPr lang="en-US" altLang="zh-CN" sz="1800" b="1" dirty="0">
                  <a:latin typeface="Courier" pitchFamily="1" charset="0"/>
                  <a:ea typeface="宋体" panose="02010600030101010101" pitchFamily="2" charset="-122"/>
                </a:rPr>
                <a:t>++) {</a:t>
              </a:r>
              <a:endParaRPr lang="en-US" altLang="zh-CN" sz="1800" b="1" dirty="0">
                <a:latin typeface="Courier" pitchFamily="1" charset="0"/>
                <a:ea typeface="宋体" panose="02010600030101010101" pitchFamily="2" charset="-122"/>
              </a:endParaRPr>
            </a:p>
            <a:p>
              <a:pPr eaLnBrk="0" hangingPunct="0"/>
              <a:r>
                <a:rPr lang="en-US" altLang="zh-CN" sz="1800" b="1" dirty="0">
                  <a:latin typeface="Courier" pitchFamily="1" charset="0"/>
                  <a:ea typeface="宋体" panose="02010600030101010101" pitchFamily="2" charset="-122"/>
                </a:rPr>
                <a:t>  a[</a:t>
              </a:r>
              <a:r>
                <a:rPr lang="en-US" altLang="zh-CN" sz="1800" b="1" dirty="0" err="1">
                  <a:latin typeface="Courier" pitchFamily="1" charset="0"/>
                  <a:ea typeface="宋体" panose="02010600030101010101" pitchFamily="2" charset="-122"/>
                </a:rPr>
                <a:t>i</a:t>
              </a:r>
              <a:r>
                <a:rPr lang="en-US" altLang="zh-CN" sz="1800" b="1" dirty="0">
                  <a:latin typeface="Courier" pitchFamily="1" charset="0"/>
                  <a:ea typeface="宋体" panose="02010600030101010101" pitchFamily="2" charset="-122"/>
                </a:rPr>
                <a:t>] = a[i-1]+a[i-2];}</a:t>
              </a:r>
              <a:endParaRPr lang="en-US" altLang="zh-CN" sz="1800" b="1" dirty="0">
                <a:latin typeface="Courier" pitchFamily="1" charset="0"/>
                <a:ea typeface="宋体" panose="02010600030101010101" pitchFamily="2" charset="-122"/>
              </a:endParaRPr>
            </a:p>
          </p:txBody>
        </p:sp>
        <p:sp>
          <p:nvSpPr>
            <p:cNvPr id="381964" name="Text Box 12"/>
            <p:cNvSpPr txBox="1">
              <a:spLocks noChangeArrowheads="1"/>
            </p:cNvSpPr>
            <p:nvPr/>
          </p:nvSpPr>
          <p:spPr bwMode="auto">
            <a:xfrm>
              <a:off x="3995936" y="2132856"/>
              <a:ext cx="1672253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800" b="1" dirty="0">
                  <a:latin typeface="Courier" pitchFamily="1" charset="0"/>
                  <a:ea typeface="宋体" panose="02010600030101010101" pitchFamily="2" charset="-122"/>
                </a:rPr>
                <a:t>load r1, a[</a:t>
              </a:r>
              <a:r>
                <a:rPr lang="en-US" altLang="zh-CN" sz="1800" b="1" dirty="0" err="1">
                  <a:latin typeface="Courier" pitchFamily="1" charset="0"/>
                  <a:ea typeface="宋体" panose="02010600030101010101" pitchFamily="2" charset="-122"/>
                </a:rPr>
                <a:t>i</a:t>
              </a:r>
              <a:r>
                <a:rPr lang="en-US" altLang="zh-CN" sz="1800" b="1" dirty="0">
                  <a:latin typeface="Courier" pitchFamily="1" charset="0"/>
                  <a:ea typeface="宋体" panose="02010600030101010101" pitchFamily="2" charset="-122"/>
                </a:rPr>
                <a:t>];</a:t>
              </a:r>
              <a:endParaRPr lang="en-US" altLang="zh-CN" sz="1800" b="1" dirty="0">
                <a:latin typeface="Courier" pitchFamily="1" charset="0"/>
                <a:ea typeface="宋体" panose="02010600030101010101" pitchFamily="2" charset="-122"/>
              </a:endParaRPr>
            </a:p>
            <a:p>
              <a:pPr eaLnBrk="0" hangingPunct="0"/>
              <a:r>
                <a:rPr lang="en-US" altLang="zh-CN" sz="1800" b="1" dirty="0">
                  <a:latin typeface="Courier" pitchFamily="1" charset="0"/>
                  <a:ea typeface="宋体" panose="02010600030101010101" pitchFamily="2" charset="-122"/>
                </a:rPr>
                <a:t>add  r2, r2, r1;</a:t>
              </a:r>
              <a:endParaRPr lang="en-US" altLang="zh-CN" sz="1800" b="1" dirty="0">
                <a:latin typeface="Courier" pitchFamily="1" charset="0"/>
                <a:ea typeface="宋体" panose="02010600030101010101" pitchFamily="2" charset="-122"/>
              </a:endParaRPr>
            </a:p>
          </p:txBody>
        </p:sp>
        <p:grpSp>
          <p:nvGrpSpPr>
            <p:cNvPr id="2" name="Group 13"/>
            <p:cNvGrpSpPr/>
            <p:nvPr/>
          </p:nvGrpSpPr>
          <p:grpSpPr bwMode="auto">
            <a:xfrm>
              <a:off x="4002088" y="2896968"/>
              <a:ext cx="2465387" cy="1319433"/>
              <a:chOff x="3168" y="1771"/>
              <a:chExt cx="1680" cy="965"/>
            </a:xfrm>
          </p:grpSpPr>
          <p:sp>
            <p:nvSpPr>
              <p:cNvPr id="10319" name="Freeform 14"/>
              <p:cNvSpPr/>
              <p:nvPr/>
            </p:nvSpPr>
            <p:spPr bwMode="auto">
              <a:xfrm>
                <a:off x="4425" y="1818"/>
                <a:ext cx="274" cy="819"/>
              </a:xfrm>
              <a:custGeom>
                <a:avLst/>
                <a:gdLst>
                  <a:gd name="T0" fmla="*/ 0 w 193"/>
                  <a:gd name="T1" fmla="*/ 0 h 577"/>
                  <a:gd name="T2" fmla="*/ 0 w 193"/>
                  <a:gd name="T3" fmla="*/ 192 h 577"/>
                  <a:gd name="T4" fmla="*/ 96 w 193"/>
                  <a:gd name="T5" fmla="*/ 288 h 577"/>
                  <a:gd name="T6" fmla="*/ 0 w 193"/>
                  <a:gd name="T7" fmla="*/ 384 h 577"/>
                  <a:gd name="T8" fmla="*/ 0 w 193"/>
                  <a:gd name="T9" fmla="*/ 576 h 577"/>
                  <a:gd name="T10" fmla="*/ 192 w 193"/>
                  <a:gd name="T11" fmla="*/ 384 h 577"/>
                  <a:gd name="T12" fmla="*/ 192 w 193"/>
                  <a:gd name="T13" fmla="*/ 192 h 577"/>
                  <a:gd name="T14" fmla="*/ 0 w 193"/>
                  <a:gd name="T15" fmla="*/ 0 h 57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3"/>
                  <a:gd name="T25" fmla="*/ 0 h 577"/>
                  <a:gd name="T26" fmla="*/ 193 w 193"/>
                  <a:gd name="T27" fmla="*/ 577 h 57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3" h="577">
                    <a:moveTo>
                      <a:pt x="0" y="0"/>
                    </a:moveTo>
                    <a:lnTo>
                      <a:pt x="0" y="192"/>
                    </a:lnTo>
                    <a:lnTo>
                      <a:pt x="96" y="288"/>
                    </a:lnTo>
                    <a:lnTo>
                      <a:pt x="0" y="384"/>
                    </a:lnTo>
                    <a:lnTo>
                      <a:pt x="0" y="576"/>
                    </a:lnTo>
                    <a:lnTo>
                      <a:pt x="192" y="384"/>
                    </a:lnTo>
                    <a:lnTo>
                      <a:pt x="192" y="19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CFFFF"/>
              </a:solidFill>
              <a:ln w="508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 b="1"/>
              </a:p>
            </p:txBody>
          </p:sp>
          <p:grpSp>
            <p:nvGrpSpPr>
              <p:cNvPr id="3" name="Group 15"/>
              <p:cNvGrpSpPr/>
              <p:nvPr/>
            </p:nvGrpSpPr>
            <p:grpSpPr bwMode="auto">
              <a:xfrm>
                <a:off x="3360" y="1771"/>
                <a:ext cx="528" cy="821"/>
                <a:chOff x="2768" y="2577"/>
                <a:chExt cx="528" cy="821"/>
              </a:xfrm>
            </p:grpSpPr>
            <p:sp>
              <p:nvSpPr>
                <p:cNvPr id="10328" name="Rectangle 16"/>
                <p:cNvSpPr>
                  <a:spLocks noChangeArrowheads="1"/>
                </p:cNvSpPr>
                <p:nvPr/>
              </p:nvSpPr>
              <p:spPr bwMode="auto">
                <a:xfrm>
                  <a:off x="2768" y="2582"/>
                  <a:ext cx="528" cy="816"/>
                </a:xfrm>
                <a:prstGeom prst="rect">
                  <a:avLst/>
                </a:prstGeom>
                <a:solidFill>
                  <a:srgbClr val="FFFF99"/>
                </a:solidFill>
                <a:ln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Ctr="1"/>
                <a:lstStyle/>
                <a:p>
                  <a:pPr algn="ctr" eaLnBrk="0" hangingPunct="0"/>
                  <a:endParaRPr lang="zh-CN" altLang="zh-CN" sz="1600" b="1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329" name="Text Box 17"/>
                <p:cNvSpPr txBox="1">
                  <a:spLocks noChangeArrowheads="1"/>
                </p:cNvSpPr>
                <p:nvPr/>
              </p:nvSpPr>
              <p:spPr bwMode="auto">
                <a:xfrm rot="16182861">
                  <a:off x="2692" y="2834"/>
                  <a:ext cx="689" cy="1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0" hangingPunct="0"/>
                  <a:r>
                    <a:rPr lang="en-US" altLang="zh-CN" sz="1600" b="1" dirty="0">
                      <a:ea typeface="宋体" panose="02010600030101010101" pitchFamily="2" charset="-122"/>
                    </a:rPr>
                    <a:t>registers</a:t>
                  </a:r>
                  <a:endParaRPr lang="en-US" altLang="zh-CN" b="1" dirty="0"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0321" name="Line 18"/>
              <p:cNvSpPr>
                <a:spLocks noChangeShapeType="1"/>
              </p:cNvSpPr>
              <p:nvPr/>
            </p:nvSpPr>
            <p:spPr bwMode="auto">
              <a:xfrm>
                <a:off x="3888" y="1968"/>
                <a:ext cx="5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10322" name="Line 19"/>
              <p:cNvSpPr>
                <a:spLocks noChangeShapeType="1"/>
              </p:cNvSpPr>
              <p:nvPr/>
            </p:nvSpPr>
            <p:spPr bwMode="auto">
              <a:xfrm>
                <a:off x="3888" y="2448"/>
                <a:ext cx="5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10323" name="Line 20"/>
              <p:cNvSpPr>
                <a:spLocks noChangeShapeType="1"/>
              </p:cNvSpPr>
              <p:nvPr/>
            </p:nvSpPr>
            <p:spPr bwMode="auto">
              <a:xfrm>
                <a:off x="4704" y="2208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10324" name="Line 21"/>
              <p:cNvSpPr>
                <a:spLocks noChangeShapeType="1"/>
              </p:cNvSpPr>
              <p:nvPr/>
            </p:nvSpPr>
            <p:spPr bwMode="auto">
              <a:xfrm>
                <a:off x="4848" y="2208"/>
                <a:ext cx="0" cy="5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10325" name="Line 22"/>
              <p:cNvSpPr>
                <a:spLocks noChangeShapeType="1"/>
              </p:cNvSpPr>
              <p:nvPr/>
            </p:nvSpPr>
            <p:spPr bwMode="auto">
              <a:xfrm flipH="1">
                <a:off x="3168" y="2736"/>
                <a:ext cx="16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10326" name="Line 23"/>
              <p:cNvSpPr>
                <a:spLocks noChangeShapeType="1"/>
              </p:cNvSpPr>
              <p:nvPr/>
            </p:nvSpPr>
            <p:spPr bwMode="auto">
              <a:xfrm flipV="1">
                <a:off x="3168" y="2160"/>
                <a:ext cx="0" cy="5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10327" name="Line 24"/>
              <p:cNvSpPr>
                <a:spLocks noChangeShapeType="1"/>
              </p:cNvSpPr>
              <p:nvPr/>
            </p:nvSpPr>
            <p:spPr bwMode="auto">
              <a:xfrm>
                <a:off x="3168" y="2160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</p:grpSp>
        <p:grpSp>
          <p:nvGrpSpPr>
            <p:cNvPr id="4" name="Group 25"/>
            <p:cNvGrpSpPr/>
            <p:nvPr/>
          </p:nvGrpSpPr>
          <p:grpSpPr bwMode="auto">
            <a:xfrm>
              <a:off x="3378200" y="4300538"/>
              <a:ext cx="1687577" cy="1219200"/>
              <a:chOff x="1292" y="3005"/>
              <a:chExt cx="1825" cy="1248"/>
            </a:xfrm>
          </p:grpSpPr>
          <p:grpSp>
            <p:nvGrpSpPr>
              <p:cNvPr id="5" name="Group 26"/>
              <p:cNvGrpSpPr/>
              <p:nvPr/>
            </p:nvGrpSpPr>
            <p:grpSpPr bwMode="auto">
              <a:xfrm>
                <a:off x="1704" y="3572"/>
                <a:ext cx="462" cy="297"/>
                <a:chOff x="855" y="2868"/>
                <a:chExt cx="462" cy="297"/>
              </a:xfrm>
            </p:grpSpPr>
            <p:sp>
              <p:nvSpPr>
                <p:cNvPr id="10315" name="AutoShape 27"/>
                <p:cNvSpPr>
                  <a:spLocks noChangeArrowheads="1"/>
                </p:cNvSpPr>
                <p:nvPr/>
              </p:nvSpPr>
              <p:spPr bwMode="auto">
                <a:xfrm>
                  <a:off x="933" y="2868"/>
                  <a:ext cx="276" cy="297"/>
                </a:xfrm>
                <a:prstGeom prst="flowChartDelay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 b="1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316" name="Line 28"/>
                <p:cNvSpPr>
                  <a:spLocks noChangeShapeType="1"/>
                </p:cNvSpPr>
                <p:nvPr/>
              </p:nvSpPr>
              <p:spPr bwMode="auto">
                <a:xfrm>
                  <a:off x="1209" y="3017"/>
                  <a:ext cx="10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10317" name="Line 29"/>
                <p:cNvSpPr>
                  <a:spLocks noChangeShapeType="1"/>
                </p:cNvSpPr>
                <p:nvPr/>
              </p:nvSpPr>
              <p:spPr bwMode="auto">
                <a:xfrm flipH="1">
                  <a:off x="855" y="3084"/>
                  <a:ext cx="7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10318" name="Line 30"/>
                <p:cNvSpPr>
                  <a:spLocks noChangeShapeType="1"/>
                </p:cNvSpPr>
                <p:nvPr/>
              </p:nvSpPr>
              <p:spPr bwMode="auto">
                <a:xfrm flipH="1">
                  <a:off x="855" y="2940"/>
                  <a:ext cx="8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</p:grpSp>
          <p:grpSp>
            <p:nvGrpSpPr>
              <p:cNvPr id="6" name="Group 31"/>
              <p:cNvGrpSpPr/>
              <p:nvPr/>
            </p:nvGrpSpPr>
            <p:grpSpPr bwMode="auto">
              <a:xfrm>
                <a:off x="1642" y="3084"/>
                <a:ext cx="531" cy="297"/>
                <a:chOff x="2602" y="3764"/>
                <a:chExt cx="531" cy="297"/>
              </a:xfrm>
            </p:grpSpPr>
            <p:sp>
              <p:nvSpPr>
                <p:cNvPr id="10310" name="AutoShape 32"/>
                <p:cNvSpPr>
                  <a:spLocks noChangeArrowheads="1"/>
                </p:cNvSpPr>
                <p:nvPr/>
              </p:nvSpPr>
              <p:spPr bwMode="auto">
                <a:xfrm>
                  <a:off x="2749" y="3764"/>
                  <a:ext cx="276" cy="297"/>
                </a:xfrm>
                <a:prstGeom prst="flowChartDelay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 b="1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311" name="Line 33"/>
                <p:cNvSpPr>
                  <a:spLocks noChangeShapeType="1"/>
                </p:cNvSpPr>
                <p:nvPr/>
              </p:nvSpPr>
              <p:spPr bwMode="auto">
                <a:xfrm>
                  <a:off x="3025" y="3913"/>
                  <a:ext cx="10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10312" name="Line 34"/>
                <p:cNvSpPr>
                  <a:spLocks noChangeShapeType="1"/>
                </p:cNvSpPr>
                <p:nvPr/>
              </p:nvSpPr>
              <p:spPr bwMode="auto">
                <a:xfrm flipH="1">
                  <a:off x="2605" y="3980"/>
                  <a:ext cx="144" cy="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10313" name="Line 35"/>
                <p:cNvSpPr>
                  <a:spLocks noChangeShapeType="1"/>
                </p:cNvSpPr>
                <p:nvPr/>
              </p:nvSpPr>
              <p:spPr bwMode="auto">
                <a:xfrm flipH="1" flipV="1">
                  <a:off x="2602" y="3833"/>
                  <a:ext cx="150" cy="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10314" name="Oval 36"/>
                <p:cNvSpPr>
                  <a:spLocks noChangeArrowheads="1"/>
                </p:cNvSpPr>
                <p:nvPr/>
              </p:nvSpPr>
              <p:spPr bwMode="auto">
                <a:xfrm>
                  <a:off x="2676" y="3945"/>
                  <a:ext cx="72" cy="72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 b="1"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" name="Group 37"/>
              <p:cNvGrpSpPr/>
              <p:nvPr/>
            </p:nvGrpSpPr>
            <p:grpSpPr bwMode="auto">
              <a:xfrm>
                <a:off x="2352" y="3301"/>
                <a:ext cx="441" cy="310"/>
                <a:chOff x="864" y="3171"/>
                <a:chExt cx="441" cy="294"/>
              </a:xfrm>
            </p:grpSpPr>
            <p:sp>
              <p:nvSpPr>
                <p:cNvPr id="10306" name="AutoShape 38"/>
                <p:cNvSpPr>
                  <a:spLocks noChangeArrowheads="1"/>
                </p:cNvSpPr>
                <p:nvPr/>
              </p:nvSpPr>
              <p:spPr bwMode="auto">
                <a:xfrm flipH="1" flipV="1">
                  <a:off x="927" y="3171"/>
                  <a:ext cx="267" cy="294"/>
                </a:xfrm>
                <a:prstGeom prst="moon">
                  <a:avLst>
                    <a:gd name="adj" fmla="val 80208"/>
                  </a:avLst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 b="1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307" name="Line 39"/>
                <p:cNvSpPr>
                  <a:spLocks noChangeShapeType="1"/>
                </p:cNvSpPr>
                <p:nvPr/>
              </p:nvSpPr>
              <p:spPr bwMode="auto">
                <a:xfrm>
                  <a:off x="1194" y="3321"/>
                  <a:ext cx="11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10308" name="Line 40"/>
                <p:cNvSpPr>
                  <a:spLocks noChangeShapeType="1"/>
                </p:cNvSpPr>
                <p:nvPr/>
              </p:nvSpPr>
              <p:spPr bwMode="auto">
                <a:xfrm flipH="1">
                  <a:off x="864" y="3405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10309" name="Line 41"/>
                <p:cNvSpPr>
                  <a:spLocks noChangeShapeType="1"/>
                </p:cNvSpPr>
                <p:nvPr/>
              </p:nvSpPr>
              <p:spPr bwMode="auto">
                <a:xfrm flipH="1">
                  <a:off x="870" y="3240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10291" name="Text Box 42"/>
              <p:cNvSpPr txBox="1">
                <a:spLocks noChangeArrowheads="1"/>
              </p:cNvSpPr>
              <p:nvPr/>
            </p:nvSpPr>
            <p:spPr bwMode="auto">
              <a:xfrm>
                <a:off x="1292" y="3005"/>
                <a:ext cx="319" cy="284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zh-CN" sz="1800" b="1">
                    <a:latin typeface="Times" pitchFamily="1" charset="0"/>
                    <a:ea typeface="宋体" panose="02010600030101010101" pitchFamily="2" charset="-122"/>
                  </a:rPr>
                  <a:t>A</a:t>
                </a:r>
                <a:endParaRPr lang="en-US" altLang="zh-CN" sz="1800" b="1">
                  <a:latin typeface="Times" pitchFamily="1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92" name="Text Box 43"/>
              <p:cNvSpPr txBox="1">
                <a:spLocks noChangeArrowheads="1"/>
              </p:cNvSpPr>
              <p:nvPr/>
            </p:nvSpPr>
            <p:spPr bwMode="auto">
              <a:xfrm>
                <a:off x="1309" y="3519"/>
                <a:ext cx="311" cy="284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zh-CN" sz="1800" b="1">
                    <a:latin typeface="Times" pitchFamily="1" charset="0"/>
                    <a:ea typeface="宋体" panose="02010600030101010101" pitchFamily="2" charset="-122"/>
                  </a:rPr>
                  <a:t>B</a:t>
                </a:r>
                <a:endParaRPr lang="en-US" altLang="zh-CN" sz="1800" b="1">
                  <a:latin typeface="Times" pitchFamily="1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93" name="Text Box 44"/>
              <p:cNvSpPr txBox="1">
                <a:spLocks noChangeArrowheads="1"/>
              </p:cNvSpPr>
              <p:nvPr/>
            </p:nvSpPr>
            <p:spPr bwMode="auto">
              <a:xfrm>
                <a:off x="1544" y="3969"/>
                <a:ext cx="292" cy="284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zh-CN" sz="1800" b="1">
                    <a:latin typeface="Times" pitchFamily="1" charset="0"/>
                    <a:ea typeface="宋体" panose="02010600030101010101" pitchFamily="2" charset="-122"/>
                  </a:rPr>
                  <a:t>S</a:t>
                </a:r>
                <a:endParaRPr lang="en-US" altLang="zh-CN" sz="1800" b="1">
                  <a:latin typeface="Times" pitchFamily="1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94" name="Text Box 45"/>
              <p:cNvSpPr txBox="1">
                <a:spLocks noChangeArrowheads="1"/>
              </p:cNvSpPr>
              <p:nvPr/>
            </p:nvSpPr>
            <p:spPr bwMode="auto">
              <a:xfrm>
                <a:off x="2815" y="3350"/>
                <a:ext cx="302" cy="284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zh-CN" sz="1800" b="1">
                    <a:latin typeface="Times" pitchFamily="1" charset="0"/>
                    <a:ea typeface="宋体" panose="02010600030101010101" pitchFamily="2" charset="-122"/>
                  </a:rPr>
                  <a:t>F</a:t>
                </a:r>
                <a:endParaRPr lang="en-US" altLang="zh-CN" sz="1800" b="1">
                  <a:latin typeface="Times" pitchFamily="1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95" name="Line 46"/>
              <p:cNvSpPr>
                <a:spLocks noChangeShapeType="1"/>
              </p:cNvSpPr>
              <p:nvPr/>
            </p:nvSpPr>
            <p:spPr bwMode="auto">
              <a:xfrm>
                <a:off x="1644" y="3303"/>
                <a:ext cx="0" cy="68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10296" name="Line 47"/>
              <p:cNvSpPr>
                <a:spLocks noChangeShapeType="1"/>
              </p:cNvSpPr>
              <p:nvPr/>
            </p:nvSpPr>
            <p:spPr bwMode="auto">
              <a:xfrm flipH="1">
                <a:off x="1644" y="3786"/>
                <a:ext cx="6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10297" name="Oval 48"/>
              <p:cNvSpPr>
                <a:spLocks noChangeArrowheads="1"/>
              </p:cNvSpPr>
              <p:nvPr/>
            </p:nvSpPr>
            <p:spPr bwMode="auto">
              <a:xfrm>
                <a:off x="1620" y="3757"/>
                <a:ext cx="47" cy="47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b="1">
                  <a:ea typeface="宋体" panose="02010600030101010101" pitchFamily="2" charset="-122"/>
                </a:endParaRPr>
              </a:p>
            </p:txBody>
          </p:sp>
          <p:sp>
            <p:nvSpPr>
              <p:cNvPr id="10298" name="Line 49"/>
              <p:cNvSpPr>
                <a:spLocks noChangeShapeType="1"/>
              </p:cNvSpPr>
              <p:nvPr/>
            </p:nvSpPr>
            <p:spPr bwMode="auto">
              <a:xfrm flipH="1">
                <a:off x="1488" y="3645"/>
                <a:ext cx="21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10299" name="Line 50"/>
              <p:cNvSpPr>
                <a:spLocks noChangeShapeType="1"/>
              </p:cNvSpPr>
              <p:nvPr/>
            </p:nvSpPr>
            <p:spPr bwMode="auto">
              <a:xfrm flipH="1">
                <a:off x="1473" y="3156"/>
                <a:ext cx="16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10300" name="Line 51"/>
              <p:cNvSpPr>
                <a:spLocks noChangeShapeType="1"/>
              </p:cNvSpPr>
              <p:nvPr/>
            </p:nvSpPr>
            <p:spPr bwMode="auto">
              <a:xfrm>
                <a:off x="2148" y="3720"/>
                <a:ext cx="12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10301" name="Line 52"/>
              <p:cNvSpPr>
                <a:spLocks noChangeShapeType="1"/>
              </p:cNvSpPr>
              <p:nvPr/>
            </p:nvSpPr>
            <p:spPr bwMode="auto">
              <a:xfrm flipV="1">
                <a:off x="2277" y="3549"/>
                <a:ext cx="0" cy="17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10302" name="Line 53"/>
              <p:cNvSpPr>
                <a:spLocks noChangeShapeType="1"/>
              </p:cNvSpPr>
              <p:nvPr/>
            </p:nvSpPr>
            <p:spPr bwMode="auto">
              <a:xfrm>
                <a:off x="2277" y="3549"/>
                <a:ext cx="8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10303" name="Line 54"/>
              <p:cNvSpPr>
                <a:spLocks noChangeShapeType="1"/>
              </p:cNvSpPr>
              <p:nvPr/>
            </p:nvSpPr>
            <p:spPr bwMode="auto">
              <a:xfrm>
                <a:off x="2163" y="3231"/>
                <a:ext cx="10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10304" name="Line 55"/>
              <p:cNvSpPr>
                <a:spLocks noChangeShapeType="1"/>
              </p:cNvSpPr>
              <p:nvPr/>
            </p:nvSpPr>
            <p:spPr bwMode="auto">
              <a:xfrm>
                <a:off x="2271" y="3231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10305" name="Line 56"/>
              <p:cNvSpPr>
                <a:spLocks noChangeShapeType="1"/>
              </p:cNvSpPr>
              <p:nvPr/>
            </p:nvSpPr>
            <p:spPr bwMode="auto">
              <a:xfrm>
                <a:off x="2271" y="3375"/>
                <a:ext cx="9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</p:grpSp>
        <p:grpSp>
          <p:nvGrpSpPr>
            <p:cNvPr id="8" name="Group 57"/>
            <p:cNvGrpSpPr/>
            <p:nvPr/>
          </p:nvGrpSpPr>
          <p:grpSpPr bwMode="auto">
            <a:xfrm>
              <a:off x="4597400" y="4838699"/>
              <a:ext cx="2819997" cy="1474452"/>
              <a:chOff x="2690" y="1148"/>
              <a:chExt cx="2277" cy="1060"/>
            </a:xfrm>
          </p:grpSpPr>
          <p:grpSp>
            <p:nvGrpSpPr>
              <p:cNvPr id="9" name="Group 58"/>
              <p:cNvGrpSpPr/>
              <p:nvPr/>
            </p:nvGrpSpPr>
            <p:grpSpPr bwMode="auto">
              <a:xfrm>
                <a:off x="2690" y="1148"/>
                <a:ext cx="735" cy="1060"/>
                <a:chOff x="2378" y="1132"/>
                <a:chExt cx="735" cy="1060"/>
              </a:xfrm>
            </p:grpSpPr>
            <p:grpSp>
              <p:nvGrpSpPr>
                <p:cNvPr id="10" name="Group 59"/>
                <p:cNvGrpSpPr/>
                <p:nvPr/>
              </p:nvGrpSpPr>
              <p:grpSpPr bwMode="auto">
                <a:xfrm>
                  <a:off x="2787" y="1359"/>
                  <a:ext cx="207" cy="591"/>
                  <a:chOff x="2787" y="1359"/>
                  <a:chExt cx="207" cy="591"/>
                </a:xfrm>
              </p:grpSpPr>
              <p:sp>
                <p:nvSpPr>
                  <p:cNvPr id="10282" name="Line 60"/>
                  <p:cNvSpPr>
                    <a:spLocks noChangeShapeType="1"/>
                  </p:cNvSpPr>
                  <p:nvPr/>
                </p:nvSpPr>
                <p:spPr bwMode="auto">
                  <a:xfrm>
                    <a:off x="2787" y="1500"/>
                    <a:ext cx="0" cy="303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 b="1"/>
                  </a:p>
                </p:txBody>
              </p:sp>
              <p:sp>
                <p:nvSpPr>
                  <p:cNvPr id="10283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2865" y="1500"/>
                    <a:ext cx="0" cy="303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 b="1"/>
                  </a:p>
                </p:txBody>
              </p:sp>
              <p:sp>
                <p:nvSpPr>
                  <p:cNvPr id="10284" name="Line 62"/>
                  <p:cNvSpPr>
                    <a:spLocks noChangeShapeType="1"/>
                  </p:cNvSpPr>
                  <p:nvPr/>
                </p:nvSpPr>
                <p:spPr bwMode="auto">
                  <a:xfrm>
                    <a:off x="2865" y="1794"/>
                    <a:ext cx="129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 b="1"/>
                  </a:p>
                </p:txBody>
              </p:sp>
              <p:sp>
                <p:nvSpPr>
                  <p:cNvPr id="10285" name="Line 63"/>
                  <p:cNvSpPr>
                    <a:spLocks noChangeShapeType="1"/>
                  </p:cNvSpPr>
                  <p:nvPr/>
                </p:nvSpPr>
                <p:spPr bwMode="auto">
                  <a:xfrm>
                    <a:off x="2865" y="1509"/>
                    <a:ext cx="129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 b="1"/>
                  </a:p>
                </p:txBody>
              </p:sp>
              <p:sp>
                <p:nvSpPr>
                  <p:cNvPr id="10286" name="Line 64"/>
                  <p:cNvSpPr>
                    <a:spLocks noChangeShapeType="1"/>
                  </p:cNvSpPr>
                  <p:nvPr/>
                </p:nvSpPr>
                <p:spPr bwMode="auto">
                  <a:xfrm>
                    <a:off x="2985" y="1791"/>
                    <a:ext cx="0" cy="159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 b="1"/>
                  </a:p>
                </p:txBody>
              </p:sp>
              <p:sp>
                <p:nvSpPr>
                  <p:cNvPr id="10287" name="Line 65"/>
                  <p:cNvSpPr>
                    <a:spLocks noChangeShapeType="1"/>
                  </p:cNvSpPr>
                  <p:nvPr/>
                </p:nvSpPr>
                <p:spPr bwMode="auto">
                  <a:xfrm>
                    <a:off x="2985" y="1359"/>
                    <a:ext cx="0" cy="159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 b="1"/>
                  </a:p>
                </p:txBody>
              </p:sp>
            </p:grpSp>
            <p:sp>
              <p:nvSpPr>
                <p:cNvPr id="10278" name="Line 66"/>
                <p:cNvSpPr>
                  <a:spLocks noChangeShapeType="1"/>
                </p:cNvSpPr>
                <p:nvPr/>
              </p:nvSpPr>
              <p:spPr bwMode="auto">
                <a:xfrm flipH="1">
                  <a:off x="2598" y="1656"/>
                  <a:ext cx="18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10279" name="Text Box 67"/>
                <p:cNvSpPr txBox="1">
                  <a:spLocks noChangeArrowheads="1"/>
                </p:cNvSpPr>
                <p:nvPr/>
              </p:nvSpPr>
              <p:spPr bwMode="auto">
                <a:xfrm>
                  <a:off x="2378" y="1528"/>
                  <a:ext cx="257" cy="21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r>
                    <a:rPr lang="en-US" altLang="zh-CN" sz="2000" b="1">
                      <a:latin typeface="Times" pitchFamily="1" charset="0"/>
                      <a:ea typeface="宋体" panose="02010600030101010101" pitchFamily="2" charset="-122"/>
                    </a:rPr>
                    <a:t>G</a:t>
                  </a:r>
                  <a:endParaRPr lang="en-US" altLang="zh-CN" sz="1800" b="1">
                    <a:latin typeface="Times" pitchFamily="1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280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2864" y="1132"/>
                  <a:ext cx="249" cy="21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r>
                    <a:rPr lang="en-US" altLang="zh-CN" sz="2000" b="1">
                      <a:latin typeface="Times" pitchFamily="1" charset="0"/>
                      <a:ea typeface="宋体" panose="02010600030101010101" pitchFamily="2" charset="-122"/>
                    </a:rPr>
                    <a:t>D</a:t>
                  </a:r>
                  <a:endParaRPr lang="en-US" altLang="zh-CN" sz="1800" b="1">
                    <a:latin typeface="Times" pitchFamily="1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281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2866" y="1978"/>
                  <a:ext cx="225" cy="21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r>
                    <a:rPr lang="en-US" altLang="zh-CN" sz="2000" b="1">
                      <a:latin typeface="Times" pitchFamily="1" charset="0"/>
                      <a:ea typeface="宋体" panose="02010600030101010101" pitchFamily="2" charset="-122"/>
                    </a:rPr>
                    <a:t>S</a:t>
                  </a:r>
                  <a:endParaRPr lang="en-US" altLang="zh-CN" sz="1800" b="1">
                    <a:latin typeface="Times" pitchFamily="1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1" name="Group 70"/>
              <p:cNvGrpSpPr/>
              <p:nvPr/>
            </p:nvGrpSpPr>
            <p:grpSpPr bwMode="auto">
              <a:xfrm>
                <a:off x="4238" y="1625"/>
                <a:ext cx="339" cy="252"/>
                <a:chOff x="3198" y="1647"/>
                <a:chExt cx="339" cy="252"/>
              </a:xfrm>
            </p:grpSpPr>
            <p:sp>
              <p:nvSpPr>
                <p:cNvPr id="10271" name="Line 71"/>
                <p:cNvSpPr>
                  <a:spLocks noChangeShapeType="1"/>
                </p:cNvSpPr>
                <p:nvPr/>
              </p:nvSpPr>
              <p:spPr bwMode="auto">
                <a:xfrm>
                  <a:off x="3198" y="1656"/>
                  <a:ext cx="29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10272" name="Line 72"/>
                <p:cNvSpPr>
                  <a:spLocks noChangeShapeType="1"/>
                </p:cNvSpPr>
                <p:nvPr/>
              </p:nvSpPr>
              <p:spPr bwMode="auto">
                <a:xfrm>
                  <a:off x="3426" y="1731"/>
                  <a:ext cx="11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10273" name="Line 73"/>
                <p:cNvSpPr>
                  <a:spLocks noChangeShapeType="1"/>
                </p:cNvSpPr>
                <p:nvPr/>
              </p:nvSpPr>
              <p:spPr bwMode="auto">
                <a:xfrm>
                  <a:off x="3426" y="1770"/>
                  <a:ext cx="11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10274" name="AutoShape 74"/>
                <p:cNvSpPr>
                  <a:spLocks noChangeArrowheads="1"/>
                </p:cNvSpPr>
                <p:nvPr/>
              </p:nvSpPr>
              <p:spPr bwMode="auto">
                <a:xfrm flipV="1">
                  <a:off x="3456" y="1851"/>
                  <a:ext cx="48" cy="48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 b="1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275" name="Line 75"/>
                <p:cNvSpPr>
                  <a:spLocks noChangeShapeType="1"/>
                </p:cNvSpPr>
                <p:nvPr/>
              </p:nvSpPr>
              <p:spPr bwMode="auto">
                <a:xfrm>
                  <a:off x="3480" y="1647"/>
                  <a:ext cx="0" cy="8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10276" name="Line 76"/>
                <p:cNvSpPr>
                  <a:spLocks noChangeShapeType="1"/>
                </p:cNvSpPr>
                <p:nvPr/>
              </p:nvSpPr>
              <p:spPr bwMode="auto">
                <a:xfrm>
                  <a:off x="3480" y="1773"/>
                  <a:ext cx="0" cy="8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</p:grpSp>
          <p:grpSp>
            <p:nvGrpSpPr>
              <p:cNvPr id="12" name="Group 77"/>
              <p:cNvGrpSpPr/>
              <p:nvPr/>
            </p:nvGrpSpPr>
            <p:grpSpPr bwMode="auto">
              <a:xfrm>
                <a:off x="4805" y="1412"/>
                <a:ext cx="162" cy="548"/>
                <a:chOff x="4245" y="1539"/>
                <a:chExt cx="162" cy="548"/>
              </a:xfrm>
            </p:grpSpPr>
            <p:sp>
              <p:nvSpPr>
                <p:cNvPr id="10266" name="Line 78"/>
                <p:cNvSpPr>
                  <a:spLocks noChangeShapeType="1"/>
                </p:cNvSpPr>
                <p:nvPr/>
              </p:nvSpPr>
              <p:spPr bwMode="auto">
                <a:xfrm>
                  <a:off x="4266" y="1539"/>
                  <a:ext cx="3" cy="14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10267" name="Oval 79"/>
                <p:cNvSpPr>
                  <a:spLocks noChangeArrowheads="1"/>
                </p:cNvSpPr>
                <p:nvPr/>
              </p:nvSpPr>
              <p:spPr bwMode="auto">
                <a:xfrm>
                  <a:off x="4245" y="1671"/>
                  <a:ext cx="47" cy="47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 b="1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268" name="Line 80"/>
                <p:cNvSpPr>
                  <a:spLocks noChangeShapeType="1"/>
                </p:cNvSpPr>
                <p:nvPr/>
              </p:nvSpPr>
              <p:spPr bwMode="auto">
                <a:xfrm flipV="1">
                  <a:off x="4269" y="1958"/>
                  <a:ext cx="0" cy="12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10269" name="Oval 81"/>
                <p:cNvSpPr>
                  <a:spLocks noChangeArrowheads="1"/>
                </p:cNvSpPr>
                <p:nvPr/>
              </p:nvSpPr>
              <p:spPr bwMode="auto">
                <a:xfrm flipV="1">
                  <a:off x="4245" y="1920"/>
                  <a:ext cx="47" cy="47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 b="1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270" name="Line 82"/>
                <p:cNvSpPr>
                  <a:spLocks noChangeShapeType="1"/>
                </p:cNvSpPr>
                <p:nvPr/>
              </p:nvSpPr>
              <p:spPr bwMode="auto">
                <a:xfrm flipV="1">
                  <a:off x="4269" y="1725"/>
                  <a:ext cx="138" cy="21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10262" name="Text Box 83"/>
              <p:cNvSpPr txBox="1">
                <a:spLocks noChangeArrowheads="1"/>
              </p:cNvSpPr>
              <p:nvPr/>
            </p:nvSpPr>
            <p:spPr bwMode="auto">
              <a:xfrm>
                <a:off x="4023" y="1497"/>
                <a:ext cx="257" cy="214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zh-CN" sz="2000" b="1">
                    <a:latin typeface="Times" pitchFamily="1" charset="0"/>
                    <a:ea typeface="宋体" panose="02010600030101010101" pitchFamily="2" charset="-122"/>
                  </a:rPr>
                  <a:t>G</a:t>
                </a:r>
                <a:endParaRPr lang="en-US" altLang="zh-CN" sz="1800" b="1">
                  <a:latin typeface="Times" pitchFamily="1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63" name="Text Box 84"/>
              <p:cNvSpPr txBox="1">
                <a:spLocks noChangeArrowheads="1"/>
              </p:cNvSpPr>
              <p:nvPr/>
            </p:nvSpPr>
            <p:spPr bwMode="auto">
              <a:xfrm>
                <a:off x="4723" y="1925"/>
                <a:ext cx="225" cy="214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zh-CN" sz="2000" b="1">
                    <a:latin typeface="Times" pitchFamily="1" charset="0"/>
                    <a:ea typeface="宋体" panose="02010600030101010101" pitchFamily="2" charset="-122"/>
                  </a:rPr>
                  <a:t>S</a:t>
                </a:r>
                <a:endParaRPr lang="en-US" altLang="zh-CN" sz="1800" b="1">
                  <a:latin typeface="Times" pitchFamily="1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64" name="Text Box 85"/>
              <p:cNvSpPr txBox="1">
                <a:spLocks noChangeArrowheads="1"/>
              </p:cNvSpPr>
              <p:nvPr/>
            </p:nvSpPr>
            <p:spPr bwMode="auto">
              <a:xfrm>
                <a:off x="4699" y="1194"/>
                <a:ext cx="249" cy="214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zh-CN" sz="2000" b="1">
                    <a:latin typeface="Times" pitchFamily="1" charset="0"/>
                    <a:ea typeface="宋体" panose="02010600030101010101" pitchFamily="2" charset="-122"/>
                  </a:rPr>
                  <a:t>D</a:t>
                </a:r>
                <a:endParaRPr lang="en-US" altLang="zh-CN" sz="1800" b="1">
                  <a:latin typeface="Times" pitchFamily="1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65" name="AutoShape 86"/>
              <p:cNvSpPr>
                <a:spLocks noChangeArrowheads="1"/>
              </p:cNvSpPr>
              <p:nvPr/>
            </p:nvSpPr>
            <p:spPr bwMode="auto">
              <a:xfrm>
                <a:off x="3552" y="1520"/>
                <a:ext cx="359" cy="218"/>
              </a:xfrm>
              <a:prstGeom prst="rightArrow">
                <a:avLst>
                  <a:gd name="adj1" fmla="val 50000"/>
                  <a:gd name="adj2" fmla="val 41170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 b="1"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 smtClean="0">
                <a:latin typeface="+mn-ea"/>
              </a:rPr>
              <a:t>抽象层次：电路级</a:t>
            </a:r>
            <a:r>
              <a:rPr lang="en-US" altLang="zh-CN" dirty="0" smtClean="0">
                <a:latin typeface="+mn-ea"/>
                <a:sym typeface="Wingdings" panose="05000000000000000000" pitchFamily="2" charset="2"/>
              </a:rPr>
              <a:t></a:t>
            </a:r>
            <a:r>
              <a:rPr lang="zh-CN" altLang="en-US" dirty="0" smtClean="0">
                <a:latin typeface="+mn-ea"/>
              </a:rPr>
              <a:t>部件级</a:t>
            </a:r>
            <a:endParaRPr lang="en-US" altLang="zh-CN" dirty="0" smtClean="0">
              <a:latin typeface="+mn-ea"/>
            </a:endParaRPr>
          </a:p>
          <a:p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冯</a:t>
            </a:r>
            <a:r>
              <a:rPr lang="en-US" altLang="zh-CN" dirty="0" smtClean="0">
                <a:latin typeface="+mn-ea"/>
              </a:rPr>
              <a:t>∙</a:t>
            </a:r>
            <a:r>
              <a:rPr lang="zh-CN" altLang="en-US" dirty="0" smtClean="0">
                <a:latin typeface="+mn-ea"/>
              </a:rPr>
              <a:t>诺伊曼最早将二进制引入计算机应用，并定义了计算机的五大组成部件，即冯</a:t>
            </a:r>
            <a:r>
              <a:rPr lang="en-US" altLang="zh-CN" dirty="0">
                <a:latin typeface="+mn-ea"/>
              </a:rPr>
              <a:t>∙</a:t>
            </a:r>
            <a:r>
              <a:rPr lang="zh-CN" altLang="en-US" dirty="0" smtClean="0">
                <a:latin typeface="+mn-ea"/>
              </a:rPr>
              <a:t>诺伊曼模型：计算机处理和程序执行的基础模型</a:t>
            </a:r>
            <a:endParaRPr lang="en-US" altLang="zh-CN" dirty="0">
              <a:latin typeface="+mn-ea"/>
            </a:endParaRPr>
          </a:p>
          <a:p>
            <a:endParaRPr lang="en-US" altLang="zh-CN" dirty="0" smtClean="0">
              <a:solidFill>
                <a:srgbClr val="9900FF"/>
              </a:solidFill>
              <a:latin typeface="+mn-ea"/>
            </a:endParaRPr>
          </a:p>
          <a:p>
            <a:r>
              <a:rPr lang="zh-CN" altLang="en-US" dirty="0" smtClean="0">
                <a:solidFill>
                  <a:srgbClr val="9900FF"/>
                </a:solidFill>
                <a:latin typeface="+mn-ea"/>
              </a:rPr>
              <a:t>冯</a:t>
            </a:r>
            <a:r>
              <a:rPr lang="en-US" altLang="zh-CN" dirty="0" smtClean="0">
                <a:solidFill>
                  <a:srgbClr val="9900FF"/>
                </a:solidFill>
                <a:latin typeface="+mn-ea"/>
              </a:rPr>
              <a:t>·</a:t>
            </a:r>
            <a:r>
              <a:rPr lang="zh-CN" altLang="en-US" dirty="0" smtClean="0">
                <a:solidFill>
                  <a:srgbClr val="9900FF"/>
                </a:solidFill>
                <a:latin typeface="+mn-ea"/>
              </a:rPr>
              <a:t>诺依曼机的特征</a:t>
            </a:r>
            <a:endParaRPr lang="zh-CN" altLang="en-US" dirty="0" smtClean="0">
              <a:solidFill>
                <a:srgbClr val="9900FF"/>
              </a:solidFill>
              <a:latin typeface="+mn-ea"/>
            </a:endParaRPr>
          </a:p>
          <a:p>
            <a:pPr marL="0" indent="0">
              <a:buNone/>
            </a:pPr>
            <a:r>
              <a:rPr lang="zh-CN" altLang="en-US" dirty="0" smtClean="0">
                <a:latin typeface="+mn-ea"/>
              </a:rPr>
              <a:t>    ⑴计算机应由运算器、控制器、存储器、输入设备和输出设备五大部件组成；</a:t>
            </a:r>
            <a:endParaRPr lang="zh-CN" altLang="en-US" dirty="0" smtClean="0">
              <a:latin typeface="+mn-ea"/>
            </a:endParaRPr>
          </a:p>
          <a:p>
            <a:pPr marL="0" indent="0">
              <a:buNone/>
            </a:pPr>
            <a:r>
              <a:rPr lang="zh-CN" altLang="en-US" dirty="0" smtClean="0">
                <a:latin typeface="+mn-ea"/>
              </a:rPr>
              <a:t>    ⑵计算机中采用二进制来表示指令和数据；</a:t>
            </a:r>
            <a:endParaRPr lang="zh-CN" altLang="en-US" dirty="0" smtClean="0">
              <a:latin typeface="+mn-ea"/>
            </a:endParaRPr>
          </a:p>
          <a:p>
            <a:pPr marL="0" indent="0">
              <a:buNone/>
            </a:pPr>
            <a:r>
              <a:rPr lang="zh-CN" altLang="en-US" dirty="0" smtClean="0">
                <a:latin typeface="+mn-ea"/>
              </a:rPr>
              <a:t>    ⑶采用存储程序方式，计算机能自动逐条取出指令并执行程序。</a:t>
            </a:r>
            <a:endParaRPr lang="en-US" altLang="zh-CN" dirty="0" smtClean="0">
              <a:latin typeface="+mn-ea"/>
            </a:endParaRPr>
          </a:p>
          <a:p>
            <a:endParaRPr lang="en-US" altLang="zh-CN" dirty="0">
              <a:latin typeface="+mn-ea"/>
            </a:endParaRP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>
                <a:ea typeface="宋体" panose="02010600030101010101" pitchFamily="2" charset="-122"/>
              </a:rPr>
              <a:t>计算机系统微结构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冯</a:t>
            </a:r>
            <a:r>
              <a:rPr lang="en-US" altLang="zh-CN" baseline="30000" dirty="0"/>
              <a:t>.</a:t>
            </a:r>
            <a:r>
              <a:rPr lang="zh-CN" altLang="en-US" dirty="0"/>
              <a:t>诺伊曼模型</a:t>
            </a:r>
            <a:endParaRPr lang="zh-CN" altLang="en-US" dirty="0"/>
          </a:p>
        </p:txBody>
      </p:sp>
      <p:graphicFrame>
        <p:nvGraphicFramePr>
          <p:cNvPr id="4" name="Object 14"/>
          <p:cNvGraphicFramePr>
            <a:graphicFrameLocks noChangeAspect="1"/>
          </p:cNvGraphicFramePr>
          <p:nvPr/>
        </p:nvGraphicFramePr>
        <p:xfrm>
          <a:off x="1340817" y="1700808"/>
          <a:ext cx="6759575" cy="474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0534" name="CorelDRAW" r:id="rId1" imgW="5748655" imgH="4032250" progId="">
                  <p:embed/>
                </p:oleObj>
              </mc:Choice>
              <mc:Fallback>
                <p:oleObj name="CorelDRAW" r:id="rId1" imgW="5748655" imgH="4032250" progId="">
                  <p:embed/>
                  <p:pic>
                    <p:nvPicPr>
                      <p:cNvPr id="0" name="图片 4905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0817" y="1700808"/>
                        <a:ext cx="6759575" cy="474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 smtClean="0">
                <a:ea typeface="宋体" panose="02010600030101010101" pitchFamily="2" charset="-122"/>
              </a:rPr>
              <a:t>基于门电路和锁存器</a:t>
            </a:r>
            <a:r>
              <a:rPr lang="en-US" altLang="zh-CN" dirty="0" smtClean="0">
                <a:ea typeface="宋体" panose="02010600030101010101" pitchFamily="2" charset="-122"/>
              </a:rPr>
              <a:t>2</a:t>
            </a:r>
            <a:r>
              <a:rPr lang="en-US" altLang="zh-CN" baseline="30000" dirty="0" smtClean="0">
                <a:ea typeface="宋体" panose="02010600030101010101" pitchFamily="2" charset="-122"/>
              </a:rPr>
              <a:t>k</a:t>
            </a:r>
            <a:r>
              <a:rPr lang="en-US" altLang="zh-CN" dirty="0" smtClean="0">
                <a:ea typeface="宋体" panose="02010600030101010101" pitchFamily="2" charset="-122"/>
              </a:rPr>
              <a:t> x m</a:t>
            </a:r>
            <a:r>
              <a:rPr lang="zh-CN" altLang="en-US" dirty="0" smtClean="0">
                <a:ea typeface="宋体" panose="02010600030101010101" pitchFamily="2" charset="-122"/>
              </a:rPr>
              <a:t>的位存储阵列。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zh-CN" altLang="en-US" dirty="0" smtClean="0">
                <a:ea typeface="宋体" panose="02010600030101010101" pitchFamily="2" charset="-122"/>
              </a:rPr>
              <a:t>寻址空间：</a:t>
            </a:r>
            <a:r>
              <a:rPr lang="en-US" altLang="zh-CN" dirty="0" smtClean="0">
                <a:ea typeface="宋体" panose="02010600030101010101" pitchFamily="2" charset="-122"/>
              </a:rPr>
              <a:t>2</a:t>
            </a:r>
            <a:r>
              <a:rPr lang="en-US" altLang="zh-CN" baseline="30000" dirty="0" smtClean="0">
                <a:ea typeface="宋体" panose="02010600030101010101" pitchFamily="2" charset="-122"/>
              </a:rPr>
              <a:t>k</a:t>
            </a:r>
            <a:r>
              <a:rPr lang="zh-CN" altLang="en-US" baseline="30000" dirty="0" smtClean="0">
                <a:ea typeface="宋体" panose="02010600030101010101" pitchFamily="2" charset="-122"/>
              </a:rPr>
              <a:t> </a:t>
            </a:r>
            <a:r>
              <a:rPr lang="zh-CN" altLang="en-US" dirty="0" smtClean="0">
                <a:ea typeface="宋体" panose="02010600030101010101" pitchFamily="2" charset="-122"/>
              </a:rPr>
              <a:t>，寻址能力：</a:t>
            </a:r>
            <a:r>
              <a:rPr lang="en-US" altLang="zh-CN" dirty="0" smtClean="0">
                <a:ea typeface="宋体" panose="02010600030101010101" pitchFamily="2" charset="-122"/>
              </a:rPr>
              <a:t>m bit</a:t>
            </a:r>
            <a:br>
              <a:rPr lang="en-US" altLang="zh-CN" dirty="0" smtClean="0">
                <a:ea typeface="宋体" panose="02010600030101010101" pitchFamily="2" charset="-122"/>
              </a:rPr>
            </a:br>
            <a:r>
              <a:rPr lang="en-US" altLang="zh-CN" dirty="0" smtClean="0">
                <a:ea typeface="宋体" panose="02010600030101010101" pitchFamily="2" charset="-122"/>
              </a:rPr>
              <a:t>1GB</a:t>
            </a:r>
            <a:r>
              <a:rPr lang="zh-CN" altLang="en-US" dirty="0" smtClean="0">
                <a:ea typeface="宋体" panose="02010600030101010101" pitchFamily="2" charset="-122"/>
              </a:rPr>
              <a:t>内存 ： </a:t>
            </a:r>
            <a:r>
              <a:rPr lang="en-US" altLang="zh-CN" dirty="0" smtClean="0">
                <a:ea typeface="宋体" panose="02010600030101010101" pitchFamily="2" charset="-122"/>
              </a:rPr>
              <a:t>2</a:t>
            </a:r>
            <a:r>
              <a:rPr lang="en-US" altLang="zh-CN" baseline="30000" dirty="0" smtClean="0">
                <a:ea typeface="宋体" panose="02010600030101010101" pitchFamily="2" charset="-122"/>
              </a:rPr>
              <a:t>30 </a:t>
            </a:r>
            <a:r>
              <a:rPr lang="en-US" altLang="zh-CN" dirty="0" smtClean="0">
                <a:ea typeface="宋体" panose="02010600030101010101" pitchFamily="2" charset="-122"/>
              </a:rPr>
              <a:t>x8 bit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 dirty="0" smtClean="0">
              <a:ea typeface="宋体" panose="02010600030101010101" pitchFamily="2" charset="-122"/>
            </a:endParaRPr>
          </a:p>
          <a:p>
            <a:r>
              <a:rPr lang="zh-CN" altLang="en-US" dirty="0" smtClean="0">
                <a:ea typeface="宋体" panose="02010600030101010101" pitchFamily="2" charset="-122"/>
              </a:rPr>
              <a:t>内存地址：访问需要的数据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zh-CN" altLang="en-US" dirty="0" smtClean="0">
                <a:ea typeface="宋体" panose="02010600030101010101" pitchFamily="2" charset="-122"/>
              </a:rPr>
              <a:t>每个内存单元有唯一的地址（</a:t>
            </a:r>
            <a:r>
              <a:rPr lang="en-US" altLang="zh-CN" dirty="0" smtClean="0">
                <a:ea typeface="宋体" panose="02010600030101010101" pitchFamily="2" charset="-122"/>
              </a:rPr>
              <a:t>2</a:t>
            </a:r>
            <a:r>
              <a:rPr lang="en-US" altLang="zh-CN" baseline="30000" dirty="0" smtClean="0">
                <a:ea typeface="宋体" panose="02010600030101010101" pitchFamily="2" charset="-122"/>
              </a:rPr>
              <a:t>k</a:t>
            </a:r>
            <a:r>
              <a:rPr lang="zh-CN" altLang="en-US" dirty="0" smtClean="0">
                <a:ea typeface="宋体" panose="02010600030101010101" pitchFamily="2" charset="-122"/>
              </a:rPr>
              <a:t>个）</a:t>
            </a:r>
            <a:br>
              <a:rPr lang="en-US" altLang="zh-CN" dirty="0" smtClean="0">
                <a:ea typeface="宋体" panose="02010600030101010101" pitchFamily="2" charset="-122"/>
              </a:rPr>
            </a:br>
            <a:r>
              <a:rPr lang="zh-CN" altLang="en-US" dirty="0" smtClean="0">
                <a:ea typeface="宋体" panose="02010600030101010101" pitchFamily="2" charset="-122"/>
              </a:rPr>
              <a:t>每个单元存储</a:t>
            </a:r>
            <a:r>
              <a:rPr lang="en-US" altLang="zh-CN" dirty="0" smtClean="0">
                <a:ea typeface="宋体" panose="02010600030101010101" pitchFamily="2" charset="-122"/>
              </a:rPr>
              <a:t>m </a:t>
            </a:r>
            <a:r>
              <a:rPr lang="zh-CN" altLang="en-US" dirty="0" smtClean="0">
                <a:ea typeface="宋体" panose="02010600030101010101" pitchFamily="2" charset="-122"/>
              </a:rPr>
              <a:t>位个数据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endParaRPr lang="en-US" altLang="zh-CN" dirty="0" smtClean="0">
              <a:ea typeface="宋体" panose="02010600030101010101" pitchFamily="2" charset="-122"/>
            </a:endParaRPr>
          </a:p>
          <a:p>
            <a:r>
              <a:rPr lang="zh-CN" altLang="en-US" dirty="0" smtClean="0">
                <a:ea typeface="宋体" panose="02010600030101010101" pitchFamily="2" charset="-122"/>
              </a:rPr>
              <a:t>内存的基本操作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b="0" dirty="0" smtClean="0">
                <a:ea typeface="宋体" panose="02010600030101010101" pitchFamily="2" charset="-122"/>
              </a:rPr>
              <a:t>   </a:t>
            </a:r>
            <a:r>
              <a:rPr lang="en-US" altLang="zh-CN" b="0" dirty="0" smtClean="0">
                <a:ea typeface="宋体" panose="02010600030101010101" pitchFamily="2" charset="-122"/>
              </a:rPr>
              <a:t>LOAD</a:t>
            </a:r>
            <a:endParaRPr lang="en-US" altLang="zh-CN" b="0" dirty="0" smtClean="0">
              <a:ea typeface="宋体" panose="02010600030101010101" pitchFamily="2" charset="-122"/>
            </a:endParaRPr>
          </a:p>
          <a:p>
            <a:pPr lvl="1"/>
            <a:r>
              <a:rPr lang="en-US" altLang="zh-CN" dirty="0" smtClean="0">
                <a:ea typeface="宋体" panose="02010600030101010101" pitchFamily="2" charset="-122"/>
              </a:rPr>
              <a:t>read a value from a memory location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b="0" dirty="0" smtClean="0">
                <a:ea typeface="宋体" panose="02010600030101010101" pitchFamily="2" charset="-122"/>
              </a:rPr>
              <a:t>   </a:t>
            </a:r>
            <a:r>
              <a:rPr lang="en-US" altLang="zh-CN" b="0" dirty="0" smtClean="0">
                <a:ea typeface="宋体" panose="02010600030101010101" pitchFamily="2" charset="-122"/>
              </a:rPr>
              <a:t>STORE</a:t>
            </a:r>
            <a:endParaRPr lang="en-US" altLang="zh-CN" b="0" dirty="0" smtClean="0">
              <a:ea typeface="宋体" panose="02010600030101010101" pitchFamily="2" charset="-122"/>
            </a:endParaRPr>
          </a:p>
          <a:p>
            <a:pPr lvl="1"/>
            <a:r>
              <a:rPr lang="en-US" altLang="zh-CN" dirty="0" smtClean="0">
                <a:ea typeface="宋体" panose="02010600030101010101" pitchFamily="2" charset="-122"/>
              </a:rPr>
              <a:t>write a value to a memory location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内存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6876256" y="2780928"/>
            <a:ext cx="1828800" cy="2743200"/>
            <a:chOff x="3552" y="1488"/>
            <a:chExt cx="1152" cy="1728"/>
          </a:xfrm>
        </p:grpSpPr>
        <p:sp>
          <p:nvSpPr>
            <p:cNvPr id="10249" name="Rectangle 5"/>
            <p:cNvSpPr>
              <a:spLocks noChangeArrowheads="1"/>
            </p:cNvSpPr>
            <p:nvPr/>
          </p:nvSpPr>
          <p:spPr bwMode="auto">
            <a:xfrm>
              <a:off x="3552" y="1488"/>
              <a:ext cx="1152" cy="1728"/>
            </a:xfrm>
            <a:prstGeom prst="rect">
              <a:avLst/>
            </a:prstGeom>
            <a:noFill/>
            <a:ln w="28575">
              <a:solidFill>
                <a:srgbClr val="CE000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250" name="Line 6"/>
            <p:cNvSpPr>
              <a:spLocks noChangeShapeType="1"/>
            </p:cNvSpPr>
            <p:nvPr/>
          </p:nvSpPr>
          <p:spPr bwMode="auto">
            <a:xfrm>
              <a:off x="3552" y="1632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1" name="Line 7"/>
            <p:cNvSpPr>
              <a:spLocks noChangeShapeType="1"/>
            </p:cNvSpPr>
            <p:nvPr/>
          </p:nvSpPr>
          <p:spPr bwMode="auto">
            <a:xfrm>
              <a:off x="3552" y="1776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2" name="Line 8"/>
            <p:cNvSpPr>
              <a:spLocks noChangeShapeType="1"/>
            </p:cNvSpPr>
            <p:nvPr/>
          </p:nvSpPr>
          <p:spPr bwMode="auto">
            <a:xfrm>
              <a:off x="3552" y="1920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3" name="Line 9"/>
            <p:cNvSpPr>
              <a:spLocks noChangeShapeType="1"/>
            </p:cNvSpPr>
            <p:nvPr/>
          </p:nvSpPr>
          <p:spPr bwMode="auto">
            <a:xfrm>
              <a:off x="3552" y="2064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4" name="Line 10"/>
            <p:cNvSpPr>
              <a:spLocks noChangeShapeType="1"/>
            </p:cNvSpPr>
            <p:nvPr/>
          </p:nvSpPr>
          <p:spPr bwMode="auto">
            <a:xfrm>
              <a:off x="3552" y="2208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5" name="Line 11"/>
            <p:cNvSpPr>
              <a:spLocks noChangeShapeType="1"/>
            </p:cNvSpPr>
            <p:nvPr/>
          </p:nvSpPr>
          <p:spPr bwMode="auto">
            <a:xfrm>
              <a:off x="3552" y="2352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6" name="Line 12"/>
            <p:cNvSpPr>
              <a:spLocks noChangeShapeType="1"/>
            </p:cNvSpPr>
            <p:nvPr/>
          </p:nvSpPr>
          <p:spPr bwMode="auto">
            <a:xfrm>
              <a:off x="3552" y="2496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7" name="Line 13"/>
            <p:cNvSpPr>
              <a:spLocks noChangeShapeType="1"/>
            </p:cNvSpPr>
            <p:nvPr/>
          </p:nvSpPr>
          <p:spPr bwMode="auto">
            <a:xfrm>
              <a:off x="3552" y="2784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8" name="Line 14"/>
            <p:cNvSpPr>
              <a:spLocks noChangeShapeType="1"/>
            </p:cNvSpPr>
            <p:nvPr/>
          </p:nvSpPr>
          <p:spPr bwMode="auto">
            <a:xfrm>
              <a:off x="3552" y="2928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9" name="Line 15"/>
            <p:cNvSpPr>
              <a:spLocks noChangeShapeType="1"/>
            </p:cNvSpPr>
            <p:nvPr/>
          </p:nvSpPr>
          <p:spPr bwMode="auto">
            <a:xfrm>
              <a:off x="3552" y="3072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0" name="Text Box 16"/>
            <p:cNvSpPr txBox="1">
              <a:spLocks noChangeArrowheads="1"/>
            </p:cNvSpPr>
            <p:nvPr/>
          </p:nvSpPr>
          <p:spPr bwMode="auto">
            <a:xfrm>
              <a:off x="4032" y="2496"/>
              <a:ext cx="212" cy="31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50000"/>
                </a:lnSpc>
              </a:pPr>
              <a:r>
                <a:rPr lang="en-US" altLang="zh-CN" sz="1800" b="1">
                  <a:solidFill>
                    <a:srgbClr val="CE0000"/>
                  </a:solidFill>
                  <a:latin typeface="Franklin Gothic Book" pitchFamily="34" charset="0"/>
                  <a:ea typeface="宋体" panose="02010600030101010101" pitchFamily="2" charset="-122"/>
                </a:rPr>
                <a:t>•</a:t>
              </a:r>
              <a:endParaRPr lang="en-US" altLang="zh-CN" sz="1800" b="1">
                <a:solidFill>
                  <a:srgbClr val="CE0000"/>
                </a:solidFill>
                <a:latin typeface="Franklin Gothic Book" pitchFamily="34" charset="0"/>
                <a:ea typeface="宋体" panose="02010600030101010101" pitchFamily="2" charset="-122"/>
              </a:endParaRPr>
            </a:p>
            <a:p>
              <a:pPr>
                <a:lnSpc>
                  <a:spcPct val="50000"/>
                </a:lnSpc>
              </a:pPr>
              <a:r>
                <a:rPr lang="en-US" altLang="zh-CN" sz="1800" b="1">
                  <a:solidFill>
                    <a:srgbClr val="CE0000"/>
                  </a:solidFill>
                  <a:latin typeface="Franklin Gothic Book" pitchFamily="34" charset="0"/>
                  <a:ea typeface="宋体" panose="02010600030101010101" pitchFamily="2" charset="-122"/>
                </a:rPr>
                <a:t>•</a:t>
              </a:r>
              <a:endParaRPr lang="en-US" altLang="zh-CN" sz="1800" b="1">
                <a:solidFill>
                  <a:srgbClr val="CE0000"/>
                </a:solidFill>
                <a:latin typeface="Franklin Gothic Book" pitchFamily="34" charset="0"/>
                <a:ea typeface="宋体" panose="02010600030101010101" pitchFamily="2" charset="-122"/>
              </a:endParaRPr>
            </a:p>
            <a:p>
              <a:pPr>
                <a:lnSpc>
                  <a:spcPct val="50000"/>
                </a:lnSpc>
              </a:pPr>
              <a:r>
                <a:rPr lang="en-US" altLang="zh-CN" sz="1800" b="1">
                  <a:solidFill>
                    <a:srgbClr val="CE0000"/>
                  </a:solidFill>
                  <a:latin typeface="Franklin Gothic Book" pitchFamily="34" charset="0"/>
                  <a:ea typeface="宋体" panose="02010600030101010101" pitchFamily="2" charset="-122"/>
                </a:rPr>
                <a:t>•</a:t>
              </a:r>
              <a:endParaRPr lang="en-US" altLang="zh-CN" sz="1800" b="1">
                <a:solidFill>
                  <a:srgbClr val="CE0000"/>
                </a:solidFill>
                <a:latin typeface="Franklin Gothic Book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246" name="Text Box 17"/>
          <p:cNvSpPr txBox="1">
            <a:spLocks noChangeArrowheads="1"/>
          </p:cNvSpPr>
          <p:nvPr/>
        </p:nvSpPr>
        <p:spPr bwMode="auto">
          <a:xfrm>
            <a:off x="6127579" y="2712368"/>
            <a:ext cx="716928" cy="27257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r">
              <a:lnSpc>
                <a:spcPct val="82000"/>
              </a:lnSpc>
            </a:pPr>
            <a:r>
              <a:rPr lang="en-US" altLang="zh-CN" sz="2600" b="1" dirty="0">
                <a:latin typeface="CourierPS" pitchFamily="49" charset="0"/>
                <a:ea typeface="宋体" panose="02010600030101010101" pitchFamily="2" charset="-122"/>
              </a:rPr>
              <a:t>0000</a:t>
            </a:r>
            <a:endParaRPr lang="en-US" altLang="zh-CN" sz="2600" b="1" dirty="0">
              <a:latin typeface="CourierPS" pitchFamily="49" charset="0"/>
              <a:ea typeface="宋体" panose="02010600030101010101" pitchFamily="2" charset="-122"/>
            </a:endParaRPr>
          </a:p>
          <a:p>
            <a:pPr algn="r">
              <a:lnSpc>
                <a:spcPct val="82000"/>
              </a:lnSpc>
            </a:pPr>
            <a:r>
              <a:rPr lang="en-US" altLang="zh-CN" sz="2600" b="1" dirty="0" smtClean="0">
                <a:latin typeface="CourierPS" pitchFamily="49" charset="0"/>
                <a:ea typeface="宋体" panose="02010600030101010101" pitchFamily="2" charset="-122"/>
              </a:rPr>
              <a:t>0001</a:t>
            </a:r>
            <a:endParaRPr lang="en-US" altLang="zh-CN" sz="2600" b="1" dirty="0" smtClean="0">
              <a:latin typeface="CourierPS" pitchFamily="49" charset="0"/>
              <a:ea typeface="宋体" panose="02010600030101010101" pitchFamily="2" charset="-122"/>
            </a:endParaRPr>
          </a:p>
          <a:p>
            <a:pPr algn="r">
              <a:lnSpc>
                <a:spcPct val="82000"/>
              </a:lnSpc>
            </a:pPr>
            <a:r>
              <a:rPr lang="en-US" altLang="zh-CN" sz="2600" b="1" dirty="0" smtClean="0">
                <a:latin typeface="CourierPS" pitchFamily="49" charset="0"/>
                <a:ea typeface="宋体" panose="02010600030101010101" pitchFamily="2" charset="-122"/>
              </a:rPr>
              <a:t>0010</a:t>
            </a:r>
            <a:endParaRPr lang="en-US" altLang="zh-CN" sz="2600" b="1" dirty="0">
              <a:latin typeface="CourierPS" pitchFamily="49" charset="0"/>
              <a:ea typeface="宋体" panose="02010600030101010101" pitchFamily="2" charset="-122"/>
            </a:endParaRPr>
          </a:p>
          <a:p>
            <a:pPr algn="r">
              <a:lnSpc>
                <a:spcPct val="82000"/>
              </a:lnSpc>
            </a:pPr>
            <a:r>
              <a:rPr lang="en-US" altLang="zh-CN" sz="2600" b="1" dirty="0" smtClean="0">
                <a:latin typeface="CourierPS" pitchFamily="49" charset="0"/>
                <a:ea typeface="宋体" panose="02010600030101010101" pitchFamily="2" charset="-122"/>
              </a:rPr>
              <a:t>0011</a:t>
            </a:r>
            <a:endParaRPr lang="en-US" altLang="zh-CN" sz="2600" b="1" dirty="0">
              <a:latin typeface="CourierPS" pitchFamily="49" charset="0"/>
              <a:ea typeface="宋体" panose="02010600030101010101" pitchFamily="2" charset="-122"/>
            </a:endParaRPr>
          </a:p>
          <a:p>
            <a:pPr algn="r">
              <a:lnSpc>
                <a:spcPct val="82000"/>
              </a:lnSpc>
            </a:pPr>
            <a:r>
              <a:rPr lang="en-US" altLang="zh-CN" sz="2600" b="1" dirty="0" smtClean="0">
                <a:latin typeface="CourierPS" pitchFamily="49" charset="0"/>
                <a:ea typeface="宋体" panose="02010600030101010101" pitchFamily="2" charset="-122"/>
              </a:rPr>
              <a:t>0100</a:t>
            </a:r>
            <a:endParaRPr lang="en-US" altLang="zh-CN" sz="2600" b="1" dirty="0">
              <a:latin typeface="CourierPS" pitchFamily="49" charset="0"/>
              <a:ea typeface="宋体" panose="02010600030101010101" pitchFamily="2" charset="-122"/>
            </a:endParaRPr>
          </a:p>
          <a:p>
            <a:pPr algn="r">
              <a:lnSpc>
                <a:spcPct val="82000"/>
              </a:lnSpc>
            </a:pPr>
            <a:r>
              <a:rPr lang="en-US" altLang="zh-CN" sz="2600" b="1" dirty="0" smtClean="0">
                <a:latin typeface="CourierPS" pitchFamily="49" charset="0"/>
                <a:ea typeface="宋体" panose="02010600030101010101" pitchFamily="2" charset="-122"/>
              </a:rPr>
              <a:t>0101</a:t>
            </a:r>
            <a:endParaRPr lang="en-US" altLang="zh-CN" sz="2600" b="1" dirty="0">
              <a:latin typeface="CourierPS" pitchFamily="49" charset="0"/>
              <a:ea typeface="宋体" panose="02010600030101010101" pitchFamily="2" charset="-122"/>
            </a:endParaRPr>
          </a:p>
          <a:p>
            <a:pPr algn="r">
              <a:lnSpc>
                <a:spcPct val="82000"/>
              </a:lnSpc>
            </a:pPr>
            <a:r>
              <a:rPr lang="en-US" altLang="zh-CN" sz="2600" b="1" dirty="0">
                <a:latin typeface="CourierPS" pitchFamily="49" charset="0"/>
                <a:ea typeface="宋体" panose="02010600030101010101" pitchFamily="2" charset="-122"/>
              </a:rPr>
              <a:t>0110</a:t>
            </a:r>
            <a:endParaRPr lang="en-US" altLang="zh-CN" sz="2600" b="1" dirty="0">
              <a:latin typeface="CourierPS" pitchFamily="49" charset="0"/>
              <a:ea typeface="宋体" panose="02010600030101010101" pitchFamily="2" charset="-122"/>
            </a:endParaRPr>
          </a:p>
          <a:p>
            <a:pPr algn="r">
              <a:lnSpc>
                <a:spcPct val="82000"/>
              </a:lnSpc>
            </a:pPr>
            <a:endParaRPr lang="en-US" altLang="zh-CN" sz="2600" b="1" dirty="0">
              <a:latin typeface="CourierPS" pitchFamily="49" charset="0"/>
              <a:ea typeface="宋体" panose="02010600030101010101" pitchFamily="2" charset="-122"/>
            </a:endParaRPr>
          </a:p>
          <a:p>
            <a:pPr algn="r">
              <a:lnSpc>
                <a:spcPct val="82000"/>
              </a:lnSpc>
            </a:pPr>
            <a:endParaRPr lang="en-US" altLang="zh-CN" sz="2600" b="1" dirty="0">
              <a:latin typeface="CourierPS" pitchFamily="49" charset="0"/>
              <a:ea typeface="宋体" panose="02010600030101010101" pitchFamily="2" charset="-122"/>
            </a:endParaRPr>
          </a:p>
          <a:p>
            <a:pPr algn="r">
              <a:lnSpc>
                <a:spcPct val="82000"/>
              </a:lnSpc>
            </a:pPr>
            <a:r>
              <a:rPr lang="en-US" altLang="zh-CN" sz="2600" b="1" dirty="0">
                <a:latin typeface="CourierPS" pitchFamily="49" charset="0"/>
                <a:ea typeface="宋体" panose="02010600030101010101" pitchFamily="2" charset="-122"/>
              </a:rPr>
              <a:t>1101</a:t>
            </a:r>
            <a:endParaRPr lang="en-US" altLang="zh-CN" sz="2600" b="1" dirty="0">
              <a:latin typeface="CourierPS" pitchFamily="49" charset="0"/>
              <a:ea typeface="宋体" panose="02010600030101010101" pitchFamily="2" charset="-122"/>
            </a:endParaRPr>
          </a:p>
          <a:p>
            <a:pPr algn="r">
              <a:lnSpc>
                <a:spcPct val="82000"/>
              </a:lnSpc>
            </a:pPr>
            <a:r>
              <a:rPr lang="en-US" altLang="zh-CN" sz="2600" b="1" dirty="0">
                <a:latin typeface="CourierPS" pitchFamily="49" charset="0"/>
                <a:ea typeface="宋体" panose="02010600030101010101" pitchFamily="2" charset="-122"/>
              </a:rPr>
              <a:t>1110</a:t>
            </a:r>
            <a:endParaRPr lang="en-US" altLang="zh-CN" sz="2600" b="1" dirty="0">
              <a:latin typeface="CourierPS" pitchFamily="49" charset="0"/>
              <a:ea typeface="宋体" panose="02010600030101010101" pitchFamily="2" charset="-122"/>
            </a:endParaRPr>
          </a:p>
          <a:p>
            <a:pPr algn="r">
              <a:lnSpc>
                <a:spcPct val="82000"/>
              </a:lnSpc>
            </a:pPr>
            <a:r>
              <a:rPr lang="en-US" altLang="zh-CN" sz="2600" b="1" dirty="0">
                <a:latin typeface="CourierPS" pitchFamily="49" charset="0"/>
                <a:ea typeface="宋体" panose="02010600030101010101" pitchFamily="2" charset="-122"/>
              </a:rPr>
              <a:t>1111</a:t>
            </a:r>
            <a:endParaRPr lang="en-US" altLang="zh-CN" sz="2600" b="1" dirty="0">
              <a:latin typeface="CourierPS" pitchFamily="49" charset="0"/>
              <a:ea typeface="宋体" panose="02010600030101010101" pitchFamily="2" charset="-122"/>
            </a:endParaRPr>
          </a:p>
        </p:txBody>
      </p:sp>
      <p:sp>
        <p:nvSpPr>
          <p:cNvPr id="10247" name="Text Box 18"/>
          <p:cNvSpPr txBox="1">
            <a:spLocks noChangeArrowheads="1"/>
          </p:cNvSpPr>
          <p:nvPr/>
        </p:nvSpPr>
        <p:spPr bwMode="auto">
          <a:xfrm>
            <a:off x="7191375" y="2695575"/>
            <a:ext cx="1162050" cy="336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CourierPS" pitchFamily="49" charset="0"/>
                <a:ea typeface="宋体" panose="02010600030101010101" pitchFamily="2" charset="-122"/>
              </a:rPr>
              <a:t>00101101</a:t>
            </a:r>
            <a:endParaRPr lang="en-US" altLang="zh-CN" sz="1600" b="1" dirty="0">
              <a:latin typeface="CourierPS" pitchFamily="49" charset="0"/>
              <a:ea typeface="宋体" panose="02010600030101010101" pitchFamily="2" charset="-122"/>
            </a:endParaRPr>
          </a:p>
        </p:txBody>
      </p:sp>
      <p:sp>
        <p:nvSpPr>
          <p:cNvPr id="10248" name="Text Box 19"/>
          <p:cNvSpPr txBox="1">
            <a:spLocks noChangeArrowheads="1"/>
          </p:cNvSpPr>
          <p:nvPr/>
        </p:nvSpPr>
        <p:spPr bwMode="auto">
          <a:xfrm>
            <a:off x="7167563" y="4067175"/>
            <a:ext cx="1162050" cy="336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CourierPS" pitchFamily="49" charset="0"/>
                <a:ea typeface="宋体" panose="02010600030101010101" pitchFamily="2" charset="-122"/>
              </a:rPr>
              <a:t>10100010</a:t>
            </a:r>
            <a:endParaRPr lang="en-US" altLang="zh-CN" sz="1600" b="1" dirty="0">
              <a:latin typeface="CourierPS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266700" indent="-266700"/>
            <a:r>
              <a:rPr lang="zh-CN" altLang="en-US" dirty="0" smtClean="0">
                <a:latin typeface="+mn-ea"/>
              </a:rPr>
              <a:t>运算部件通过两个专用寄存器来访问（读写）内存的数据</a:t>
            </a:r>
            <a:endParaRPr lang="en-US" altLang="zh-CN" dirty="0" smtClean="0">
              <a:latin typeface="+mn-ea"/>
            </a:endParaRPr>
          </a:p>
          <a:p>
            <a:pPr marL="522605" lvl="1" indent="-266700"/>
            <a:r>
              <a:rPr lang="zh-CN" altLang="en-US" dirty="0" smtClean="0">
                <a:solidFill>
                  <a:srgbClr val="CE0000"/>
                </a:solidFill>
                <a:latin typeface="+mn-ea"/>
              </a:rPr>
              <a:t>内存地址寄存器</a:t>
            </a:r>
            <a:r>
              <a:rPr lang="en-US" altLang="zh-CN" dirty="0" smtClean="0">
                <a:solidFill>
                  <a:srgbClr val="CE0000"/>
                </a:solidFill>
                <a:latin typeface="+mn-ea"/>
              </a:rPr>
              <a:t>MAR</a:t>
            </a:r>
            <a:r>
              <a:rPr lang="en-US" altLang="zh-CN" dirty="0" smtClean="0">
                <a:latin typeface="+mn-ea"/>
              </a:rPr>
              <a:t>(Memory </a:t>
            </a:r>
            <a:r>
              <a:rPr lang="en-US" altLang="zh-CN" dirty="0">
                <a:latin typeface="+mn-ea"/>
              </a:rPr>
              <a:t>Address </a:t>
            </a:r>
            <a:r>
              <a:rPr lang="en-US" altLang="zh-CN" dirty="0" smtClean="0">
                <a:latin typeface="+mn-ea"/>
              </a:rPr>
              <a:t>Register)</a:t>
            </a:r>
            <a:endParaRPr lang="en-US" altLang="zh-CN" dirty="0" smtClean="0">
              <a:latin typeface="+mn-ea"/>
            </a:endParaRPr>
          </a:p>
          <a:p>
            <a:pPr marL="522605" lvl="1" indent="-266700"/>
            <a:r>
              <a:rPr lang="zh-CN" altLang="en-US" dirty="0" smtClean="0">
                <a:latin typeface="+mn-ea"/>
              </a:rPr>
              <a:t>内存数据寄存器</a:t>
            </a:r>
            <a:r>
              <a:rPr lang="en-US" altLang="zh-CN" dirty="0" smtClean="0">
                <a:solidFill>
                  <a:srgbClr val="CE0000"/>
                </a:solidFill>
                <a:latin typeface="+mn-ea"/>
              </a:rPr>
              <a:t>MDR</a:t>
            </a:r>
            <a:r>
              <a:rPr lang="en-US" altLang="zh-CN" dirty="0">
                <a:latin typeface="+mn-ea"/>
              </a:rPr>
              <a:t>(Memory </a:t>
            </a:r>
            <a:r>
              <a:rPr lang="en-US" altLang="zh-CN" dirty="0" smtClean="0">
                <a:latin typeface="+mn-ea"/>
              </a:rPr>
              <a:t>Data Register)</a:t>
            </a:r>
            <a:endParaRPr lang="en-US" altLang="zh-CN" dirty="0">
              <a:latin typeface="+mn-ea"/>
            </a:endParaRPr>
          </a:p>
          <a:p>
            <a:pPr marL="266700" indent="-266700"/>
            <a:endParaRPr lang="en-US" altLang="zh-CN" dirty="0" smtClean="0">
              <a:latin typeface="+mn-ea"/>
            </a:endParaRPr>
          </a:p>
          <a:p>
            <a:pPr marL="266700" indent="-266700"/>
            <a:r>
              <a:rPr lang="zh-CN" altLang="en-US" dirty="0" smtClean="0">
                <a:latin typeface="+mn-ea"/>
              </a:rPr>
              <a:t>读内存某个单元（</a:t>
            </a:r>
            <a:r>
              <a:rPr lang="en-US" altLang="zh-CN" dirty="0" smtClean="0">
                <a:latin typeface="+mn-ea"/>
              </a:rPr>
              <a:t> </a:t>
            </a:r>
            <a:r>
              <a:rPr lang="en-US" altLang="zh-CN" dirty="0" smtClean="0">
                <a:solidFill>
                  <a:schemeClr val="accent1"/>
                </a:solidFill>
                <a:latin typeface="+mn-ea"/>
              </a:rPr>
              <a:t>LOAD</a:t>
            </a:r>
            <a:r>
              <a:rPr lang="en-US" altLang="zh-CN" dirty="0" smtClean="0">
                <a:latin typeface="+mn-ea"/>
              </a:rPr>
              <a:t> </a:t>
            </a:r>
            <a:r>
              <a:rPr lang="zh-CN" altLang="en-US" dirty="0" smtClean="0">
                <a:latin typeface="+mn-ea"/>
              </a:rPr>
              <a:t>操作</a:t>
            </a:r>
            <a:r>
              <a:rPr lang="zh-CN" altLang="en-US" dirty="0" smtClean="0">
                <a:latin typeface="+mn-ea"/>
                <a:sym typeface="Wingdings" panose="05000000000000000000" pitchFamily="2" charset="2"/>
              </a:rPr>
              <a:t>）</a:t>
            </a:r>
            <a:endParaRPr lang="en-US" altLang="zh-CN" dirty="0" smtClean="0">
              <a:latin typeface="+mn-ea"/>
            </a:endParaRPr>
          </a:p>
          <a:p>
            <a:pPr marL="722630" lvl="1" indent="-381000">
              <a:buNone/>
            </a:pPr>
            <a:r>
              <a:rPr lang="en-US" altLang="zh-CN" dirty="0" smtClean="0">
                <a:latin typeface="+mn-ea"/>
              </a:rPr>
              <a:t>1</a:t>
            </a:r>
            <a:r>
              <a:rPr lang="zh-CN" altLang="en-US" dirty="0" smtClean="0">
                <a:latin typeface="+mn-ea"/>
              </a:rPr>
              <a:t>）写内存单元地址</a:t>
            </a:r>
            <a:r>
              <a:rPr lang="en-US" altLang="zh-CN" dirty="0" smtClean="0">
                <a:latin typeface="+mn-ea"/>
              </a:rPr>
              <a:t>(A)</a:t>
            </a:r>
            <a:r>
              <a:rPr lang="zh-CN" altLang="en-US" dirty="0" smtClean="0">
                <a:latin typeface="+mn-ea"/>
              </a:rPr>
              <a:t>到</a:t>
            </a:r>
            <a:r>
              <a:rPr lang="en-US" altLang="zh-CN" dirty="0" smtClean="0">
                <a:latin typeface="+mn-ea"/>
              </a:rPr>
              <a:t>MAR</a:t>
            </a:r>
            <a:r>
              <a:rPr lang="zh-CN" altLang="en-US" dirty="0" smtClean="0">
                <a:latin typeface="+mn-ea"/>
              </a:rPr>
              <a:t>中</a:t>
            </a:r>
            <a:r>
              <a:rPr lang="en-US" altLang="zh-CN" dirty="0" smtClean="0">
                <a:latin typeface="+mn-ea"/>
              </a:rPr>
              <a:t>.</a:t>
            </a:r>
            <a:endParaRPr lang="en-US" altLang="zh-CN" dirty="0" smtClean="0">
              <a:latin typeface="+mn-ea"/>
            </a:endParaRPr>
          </a:p>
          <a:p>
            <a:pPr marL="722630" lvl="1" indent="-381000">
              <a:buNone/>
            </a:pPr>
            <a:r>
              <a:rPr lang="en-US" altLang="zh-CN" dirty="0" smtClean="0">
                <a:latin typeface="+mn-ea"/>
              </a:rPr>
              <a:t>2</a:t>
            </a:r>
            <a:r>
              <a:rPr lang="zh-CN" altLang="en-US" dirty="0" smtClean="0">
                <a:latin typeface="+mn-ea"/>
              </a:rPr>
              <a:t>）发</a:t>
            </a:r>
            <a:r>
              <a:rPr lang="en-US" altLang="zh-CN" dirty="0" smtClean="0">
                <a:latin typeface="+mn-ea"/>
              </a:rPr>
              <a:t> “read”</a:t>
            </a:r>
            <a:r>
              <a:rPr lang="zh-CN" altLang="en-US" dirty="0" smtClean="0">
                <a:latin typeface="+mn-ea"/>
              </a:rPr>
              <a:t>信号给内存</a:t>
            </a:r>
            <a:r>
              <a:rPr lang="en-US" altLang="zh-CN" dirty="0" smtClean="0">
                <a:latin typeface="+mn-ea"/>
              </a:rPr>
              <a:t>.</a:t>
            </a:r>
            <a:r>
              <a:rPr lang="zh-CN" altLang="en-US" dirty="0" smtClean="0">
                <a:latin typeface="+mn-ea"/>
              </a:rPr>
              <a:t> 内存将</a:t>
            </a:r>
            <a:r>
              <a:rPr lang="en-US" altLang="zh-CN" dirty="0" smtClean="0">
                <a:latin typeface="+mn-ea"/>
              </a:rPr>
              <a:t>MAR</a:t>
            </a:r>
            <a:r>
              <a:rPr lang="zh-CN" altLang="en-US" dirty="0" smtClean="0">
                <a:latin typeface="+mn-ea"/>
              </a:rPr>
              <a:t>中地址对应的数据送到</a:t>
            </a:r>
            <a:r>
              <a:rPr lang="en-US" altLang="zh-CN" dirty="0" smtClean="0">
                <a:latin typeface="+mn-ea"/>
              </a:rPr>
              <a:t>MDR</a:t>
            </a:r>
            <a:r>
              <a:rPr lang="zh-CN" altLang="en-US" dirty="0" smtClean="0">
                <a:latin typeface="+mn-ea"/>
              </a:rPr>
              <a:t>中准备好。</a:t>
            </a:r>
            <a:endParaRPr lang="en-US" altLang="zh-CN" dirty="0" smtClean="0">
              <a:latin typeface="+mn-ea"/>
            </a:endParaRPr>
          </a:p>
          <a:p>
            <a:pPr marL="722630" lvl="1" indent="-381000">
              <a:buNone/>
            </a:pPr>
            <a:r>
              <a:rPr lang="en-US" altLang="zh-CN" dirty="0" smtClean="0">
                <a:latin typeface="+mn-ea"/>
              </a:rPr>
              <a:t>3</a:t>
            </a:r>
            <a:r>
              <a:rPr lang="zh-CN" altLang="en-US" dirty="0" smtClean="0">
                <a:latin typeface="+mn-ea"/>
              </a:rPr>
              <a:t>）运算器从</a:t>
            </a:r>
            <a:r>
              <a:rPr lang="en-US" altLang="zh-CN" dirty="0" smtClean="0">
                <a:latin typeface="+mn-ea"/>
              </a:rPr>
              <a:t>MDR</a:t>
            </a:r>
            <a:r>
              <a:rPr lang="zh-CN" altLang="en-US" dirty="0" smtClean="0">
                <a:latin typeface="+mn-ea"/>
              </a:rPr>
              <a:t>中读取数据</a:t>
            </a:r>
            <a:r>
              <a:rPr lang="en-US" altLang="zh-CN" dirty="0" smtClean="0">
                <a:latin typeface="+mn-ea"/>
              </a:rPr>
              <a:t>(X)</a:t>
            </a:r>
            <a:r>
              <a:rPr lang="zh-CN" altLang="en-US" dirty="0" smtClean="0">
                <a:latin typeface="+mn-ea"/>
              </a:rPr>
              <a:t>。</a:t>
            </a:r>
            <a:endParaRPr lang="en-US" altLang="zh-CN" dirty="0" smtClean="0">
              <a:latin typeface="+mn-ea"/>
            </a:endParaRPr>
          </a:p>
          <a:p>
            <a:pPr marL="466090" indent="-381000"/>
            <a:endParaRPr lang="en-US" altLang="zh-CN" dirty="0" smtClean="0">
              <a:solidFill>
                <a:schemeClr val="accent1"/>
              </a:solidFill>
              <a:latin typeface="+mn-ea"/>
            </a:endParaRPr>
          </a:p>
          <a:p>
            <a:pPr marL="266700" indent="-182880"/>
            <a:r>
              <a:rPr lang="zh-CN" altLang="en-US" dirty="0" smtClean="0">
                <a:solidFill>
                  <a:schemeClr val="accent1"/>
                </a:solidFill>
                <a:latin typeface="+mn-ea"/>
              </a:rPr>
              <a:t>写内存某个单元（</a:t>
            </a:r>
            <a:r>
              <a:rPr lang="en-US" altLang="zh-CN" dirty="0" smtClean="0">
                <a:solidFill>
                  <a:schemeClr val="accent1"/>
                </a:solidFill>
                <a:latin typeface="+mn-ea"/>
              </a:rPr>
              <a:t>STORE</a:t>
            </a:r>
            <a:r>
              <a:rPr lang="en-US" altLang="zh-CN" dirty="0" smtClean="0">
                <a:latin typeface="+mn-ea"/>
              </a:rPr>
              <a:t> </a:t>
            </a:r>
            <a:r>
              <a:rPr lang="zh-CN" altLang="en-US" dirty="0" smtClean="0">
                <a:latin typeface="+mn-ea"/>
              </a:rPr>
              <a:t>操作）</a:t>
            </a:r>
            <a:endParaRPr lang="en-US" altLang="zh-CN" dirty="0" smtClean="0">
              <a:latin typeface="+mn-ea"/>
            </a:endParaRPr>
          </a:p>
          <a:p>
            <a:pPr marL="722630" lvl="1" indent="-381000">
              <a:buNone/>
            </a:pPr>
            <a:r>
              <a:rPr lang="en-US" altLang="zh-CN" dirty="0" smtClean="0">
                <a:latin typeface="+mn-ea"/>
              </a:rPr>
              <a:t>1</a:t>
            </a:r>
            <a:r>
              <a:rPr lang="zh-CN" altLang="en-US" dirty="0" smtClean="0">
                <a:latin typeface="+mn-ea"/>
              </a:rPr>
              <a:t>）将数据</a:t>
            </a:r>
            <a:r>
              <a:rPr lang="en-US" altLang="zh-CN" dirty="0" smtClean="0">
                <a:latin typeface="+mn-ea"/>
              </a:rPr>
              <a:t> (X) </a:t>
            </a:r>
            <a:r>
              <a:rPr lang="zh-CN" altLang="en-US" dirty="0" smtClean="0">
                <a:latin typeface="+mn-ea"/>
              </a:rPr>
              <a:t>写入</a:t>
            </a:r>
            <a:r>
              <a:rPr lang="en-US" altLang="zh-CN" dirty="0" smtClean="0">
                <a:latin typeface="+mn-ea"/>
              </a:rPr>
              <a:t> MDR.</a:t>
            </a:r>
            <a:endParaRPr lang="en-US" altLang="zh-CN" dirty="0" smtClean="0">
              <a:latin typeface="+mn-ea"/>
            </a:endParaRPr>
          </a:p>
          <a:p>
            <a:pPr marL="722630" lvl="1" indent="-381000">
              <a:buNone/>
            </a:pPr>
            <a:r>
              <a:rPr lang="en-US" altLang="zh-CN" dirty="0" smtClean="0">
                <a:latin typeface="+mn-ea"/>
              </a:rPr>
              <a:t>2</a:t>
            </a:r>
            <a:r>
              <a:rPr lang="zh-CN" altLang="en-US" dirty="0" smtClean="0">
                <a:latin typeface="+mn-ea"/>
              </a:rPr>
              <a:t>）将地址</a:t>
            </a:r>
            <a:r>
              <a:rPr lang="en-US" altLang="zh-CN" dirty="0" smtClean="0">
                <a:latin typeface="+mn-ea"/>
              </a:rPr>
              <a:t> (A) </a:t>
            </a:r>
            <a:r>
              <a:rPr lang="zh-CN" altLang="en-US" dirty="0" smtClean="0">
                <a:latin typeface="+mn-ea"/>
              </a:rPr>
              <a:t>写入 </a:t>
            </a:r>
            <a:r>
              <a:rPr lang="en-US" altLang="zh-CN" dirty="0" smtClean="0">
                <a:latin typeface="+mn-ea"/>
              </a:rPr>
              <a:t>MAR.</a:t>
            </a:r>
            <a:endParaRPr lang="en-US" altLang="zh-CN" dirty="0" smtClean="0">
              <a:latin typeface="+mn-ea"/>
            </a:endParaRPr>
          </a:p>
          <a:p>
            <a:pPr marL="722630" lvl="1" indent="-381000">
              <a:buNone/>
            </a:pPr>
            <a:r>
              <a:rPr lang="en-US" altLang="zh-CN" dirty="0" smtClean="0">
                <a:latin typeface="+mn-ea"/>
              </a:rPr>
              <a:t>3</a:t>
            </a:r>
            <a:r>
              <a:rPr lang="zh-CN" altLang="en-US" dirty="0" smtClean="0">
                <a:latin typeface="+mn-ea"/>
              </a:rPr>
              <a:t>）发</a:t>
            </a:r>
            <a:r>
              <a:rPr lang="en-US" altLang="zh-CN" dirty="0" smtClean="0">
                <a:latin typeface="+mn-ea"/>
              </a:rPr>
              <a:t> “write”</a:t>
            </a:r>
            <a:r>
              <a:rPr lang="zh-CN" altLang="en-US" dirty="0" smtClean="0">
                <a:latin typeface="+mn-ea"/>
              </a:rPr>
              <a:t>信号给内存</a:t>
            </a:r>
            <a:endParaRPr lang="en-US" altLang="zh-CN" dirty="0" smtClean="0">
              <a:latin typeface="+mn-ea"/>
            </a:endParaRPr>
          </a:p>
        </p:txBody>
      </p:sp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内存访问接口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graphicFrame>
        <p:nvGraphicFramePr>
          <p:cNvPr id="2050" name="Object 0"/>
          <p:cNvGraphicFramePr>
            <a:graphicFrameLocks noChangeAspect="1"/>
          </p:cNvGraphicFramePr>
          <p:nvPr/>
        </p:nvGraphicFramePr>
        <p:xfrm>
          <a:off x="5796137" y="2204864"/>
          <a:ext cx="2664295" cy="1086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443" name="CorelDRAW" r:id="rId1" imgW="2316480" imgH="944880" progId="">
                  <p:embed/>
                </p:oleObj>
              </mc:Choice>
              <mc:Fallback>
                <p:oleObj name="CorelDRAW" r:id="rId1" imgW="2316480" imgH="944880" progId="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7" y="2204864"/>
                        <a:ext cx="2664295" cy="1086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dirty="0" smtClean="0">
                <a:solidFill>
                  <a:srgbClr val="CE0000"/>
                </a:solidFill>
                <a:ea typeface="宋体" panose="02010600030101010101" pitchFamily="2" charset="-122"/>
              </a:rPr>
              <a:t>功能单元</a:t>
            </a:r>
            <a:r>
              <a:rPr lang="en-US" altLang="zh-CN" dirty="0" smtClean="0">
                <a:solidFill>
                  <a:srgbClr val="CE0000"/>
                </a:solidFill>
                <a:ea typeface="宋体" panose="02010600030101010101" pitchFamily="2" charset="-122"/>
              </a:rPr>
              <a:t>(Functional Units)</a:t>
            </a:r>
            <a:br>
              <a:rPr lang="en-US" altLang="zh-CN" dirty="0" smtClean="0">
                <a:solidFill>
                  <a:srgbClr val="CE0000"/>
                </a:solidFill>
                <a:ea typeface="宋体" panose="02010600030101010101" pitchFamily="2" charset="-122"/>
              </a:rPr>
            </a:br>
            <a:r>
              <a:rPr lang="en-US" altLang="zh-CN" dirty="0" smtClean="0">
                <a:ea typeface="宋体" panose="02010600030101010101" pitchFamily="2" charset="-122"/>
              </a:rPr>
              <a:t>ALU = Arithmetic and Logic Unit,</a:t>
            </a:r>
            <a:r>
              <a:rPr lang="zh-CN" altLang="en-US" dirty="0" smtClean="0">
                <a:ea typeface="宋体" panose="02010600030101010101" pitchFamily="2" charset="-122"/>
              </a:rPr>
              <a:t>算术逻辑运算单元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dirty="0" smtClean="0">
                <a:ea typeface="宋体" panose="02010600030101010101" pitchFamily="2" charset="-122"/>
              </a:rPr>
              <a:t>对操作数进行算术和逻辑运算。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 smtClean="0">
                <a:ea typeface="宋体" panose="02010600030101010101" pitchFamily="2" charset="-122"/>
              </a:rPr>
              <a:t>(</a:t>
            </a:r>
            <a:r>
              <a:rPr lang="zh-CN" altLang="en-US" dirty="0" smtClean="0">
                <a:ea typeface="宋体" panose="02010600030101010101" pitchFamily="2" charset="-122"/>
              </a:rPr>
              <a:t>常规：</a:t>
            </a:r>
            <a:r>
              <a:rPr lang="en-US" altLang="zh-CN" dirty="0" smtClean="0">
                <a:ea typeface="宋体" panose="02010600030101010101" pitchFamily="2" charset="-122"/>
              </a:rPr>
              <a:t>+</a:t>
            </a:r>
            <a:r>
              <a:rPr lang="zh-CN" altLang="en-US" dirty="0" smtClean="0">
                <a:ea typeface="宋体" panose="02010600030101010101" pitchFamily="2" charset="-122"/>
              </a:rPr>
              <a:t>，</a:t>
            </a:r>
            <a:r>
              <a:rPr lang="en-US" altLang="zh-CN" dirty="0" smtClean="0">
                <a:ea typeface="宋体" panose="02010600030101010101" pitchFamily="2" charset="-122"/>
              </a:rPr>
              <a:t>-</a:t>
            </a:r>
            <a:r>
              <a:rPr lang="zh-CN" altLang="en-US" dirty="0" smtClean="0">
                <a:ea typeface="宋体" panose="02010600030101010101" pitchFamily="2" charset="-122"/>
              </a:rPr>
              <a:t>，</a:t>
            </a:r>
            <a:r>
              <a:rPr lang="en-US" altLang="zh-CN" dirty="0" smtClean="0">
                <a:ea typeface="宋体" panose="02010600030101010101" pitchFamily="2" charset="-122"/>
              </a:rPr>
              <a:t>and, or, not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</a:t>
            </a:r>
            <a:r>
              <a:rPr lang="zh-CN" altLang="en-US" dirty="0" smtClean="0">
                <a:ea typeface="宋体" panose="02010600030101010101" pitchFamily="2" charset="-122"/>
              </a:rPr>
              <a:t>或者特殊的：</a:t>
            </a:r>
            <a:r>
              <a:rPr lang="en-US" altLang="zh-CN" dirty="0" smtClean="0">
                <a:ea typeface="宋体" panose="02010600030101010101" pitchFamily="2" charset="-122"/>
              </a:rPr>
              <a:t>multiply, divide,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square root, …)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en-US" altLang="zh-CN" dirty="0" smtClean="0">
                <a:ea typeface="宋体" panose="02010600030101010101" pitchFamily="2" charset="-122"/>
              </a:rPr>
              <a:t>LC-3 performs only ADD, AND, NOT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endParaRPr lang="en-US" altLang="zh-CN" dirty="0" smtClean="0">
              <a:solidFill>
                <a:srgbClr val="CE0000"/>
              </a:solidFill>
              <a:ea typeface="宋体" panose="02010600030101010101" pitchFamily="2" charset="-122"/>
            </a:endParaRPr>
          </a:p>
          <a:p>
            <a:r>
              <a:rPr lang="zh-CN" altLang="en-US" dirty="0" smtClean="0">
                <a:solidFill>
                  <a:srgbClr val="CE0000"/>
                </a:solidFill>
                <a:ea typeface="宋体" panose="02010600030101010101" pitchFamily="2" charset="-122"/>
              </a:rPr>
              <a:t>寄存器（临时存储单元）</a:t>
            </a:r>
            <a:endParaRPr lang="en-US" altLang="zh-CN" dirty="0" smtClean="0">
              <a:solidFill>
                <a:srgbClr val="CE0000"/>
              </a:solidFill>
              <a:ea typeface="宋体" panose="02010600030101010101" pitchFamily="2" charset="-122"/>
            </a:endParaRPr>
          </a:p>
          <a:p>
            <a:pPr lvl="1"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用于存放操作数、运算中间结果的小容量的临时存储单元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LC-3 </a:t>
            </a:r>
            <a:r>
              <a:rPr lang="zh-CN" altLang="en-US" dirty="0" smtClean="0">
                <a:ea typeface="宋体" panose="02010600030101010101" pitchFamily="2" charset="-122"/>
              </a:rPr>
              <a:t>有</a:t>
            </a:r>
            <a:r>
              <a:rPr lang="en-US" altLang="zh-CN" dirty="0" smtClean="0">
                <a:ea typeface="宋体" panose="02010600030101010101" pitchFamily="2" charset="-122"/>
              </a:rPr>
              <a:t>8</a:t>
            </a:r>
            <a:r>
              <a:rPr lang="zh-CN" altLang="en-US" dirty="0" smtClean="0">
                <a:ea typeface="宋体" panose="02010600030101010101" pitchFamily="2" charset="-122"/>
              </a:rPr>
              <a:t>个</a:t>
            </a:r>
            <a:r>
              <a:rPr lang="en-US" altLang="zh-CN" dirty="0" smtClean="0">
                <a:ea typeface="宋体" panose="02010600030101010101" pitchFamily="2" charset="-122"/>
              </a:rPr>
              <a:t>16</a:t>
            </a:r>
            <a:r>
              <a:rPr lang="zh-CN" altLang="en-US" dirty="0" smtClean="0">
                <a:ea typeface="宋体" panose="02010600030101010101" pitchFamily="2" charset="-122"/>
              </a:rPr>
              <a:t>位</a:t>
            </a:r>
            <a:r>
              <a:rPr lang="en-US" altLang="zh-CN" dirty="0" smtClean="0">
                <a:ea typeface="宋体" panose="02010600030101010101" pitchFamily="2" charset="-122"/>
              </a:rPr>
              <a:t>(R0, …, R7)</a:t>
            </a:r>
            <a:r>
              <a:rPr lang="zh-CN" altLang="en-US" dirty="0" smtClean="0">
                <a:ea typeface="宋体" panose="02010600030101010101" pitchFamily="2" charset="-122"/>
              </a:rPr>
              <a:t>的寄存器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endParaRPr lang="en-US" altLang="zh-CN" dirty="0" smtClean="0">
              <a:solidFill>
                <a:srgbClr val="CE0000"/>
              </a:solidFill>
              <a:ea typeface="宋体" panose="02010600030101010101" pitchFamily="2" charset="-122"/>
            </a:endParaRPr>
          </a:p>
          <a:p>
            <a:r>
              <a:rPr lang="zh-CN" altLang="en-US" dirty="0" smtClean="0">
                <a:solidFill>
                  <a:srgbClr val="CE0000"/>
                </a:solidFill>
                <a:ea typeface="宋体" panose="02010600030101010101" pitchFamily="2" charset="-122"/>
              </a:rPr>
              <a:t>字长</a:t>
            </a:r>
            <a:endParaRPr lang="en-US" altLang="zh-CN" dirty="0" smtClean="0">
              <a:solidFill>
                <a:srgbClr val="CE0000"/>
              </a:solidFill>
              <a:ea typeface="宋体" panose="02010600030101010101" pitchFamily="2" charset="-122"/>
            </a:endParaRPr>
          </a:p>
          <a:p>
            <a:pPr lvl="1"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运算器支持的操作数的最大宽度</a:t>
            </a:r>
            <a:r>
              <a:rPr lang="en-US" altLang="zh-CN" dirty="0" smtClean="0">
                <a:ea typeface="宋体" panose="02010600030101010101" pitchFamily="2" charset="-122"/>
              </a:rPr>
              <a:t>/</a:t>
            </a:r>
            <a:r>
              <a:rPr lang="zh-CN" altLang="en-US" dirty="0" smtClean="0">
                <a:ea typeface="宋体" panose="02010600030101010101" pitchFamily="2" charset="-122"/>
              </a:rPr>
              <a:t>寄存器的宽度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LC-3 </a:t>
            </a:r>
            <a:r>
              <a:rPr lang="zh-CN" altLang="en-US" dirty="0" smtClean="0">
                <a:ea typeface="宋体" panose="02010600030101010101" pitchFamily="2" charset="-122"/>
              </a:rPr>
              <a:t>是</a:t>
            </a:r>
            <a:r>
              <a:rPr lang="en-US" altLang="zh-CN" dirty="0" smtClean="0">
                <a:ea typeface="宋体" panose="02010600030101010101" pitchFamily="2" charset="-122"/>
              </a:rPr>
              <a:t>16</a:t>
            </a:r>
            <a:r>
              <a:rPr lang="zh-CN" altLang="en-US" dirty="0" smtClean="0">
                <a:ea typeface="宋体" panose="02010600030101010101" pitchFamily="2" charset="-122"/>
              </a:rPr>
              <a:t>位的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运算单元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graphicFrame>
        <p:nvGraphicFramePr>
          <p:cNvPr id="3074" name="Object 4"/>
          <p:cNvGraphicFramePr>
            <a:graphicFrameLocks noChangeAspect="1"/>
          </p:cNvGraphicFramePr>
          <p:nvPr/>
        </p:nvGraphicFramePr>
        <p:xfrm>
          <a:off x="5663282" y="2276872"/>
          <a:ext cx="2941166" cy="1345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7468" name="CorelDRAW" r:id="rId1" imgW="2316480" imgH="1057910" progId="">
                  <p:embed/>
                </p:oleObj>
              </mc:Choice>
              <mc:Fallback>
                <p:oleObj name="CorelDRAW" r:id="rId1" imgW="2316480" imgH="105791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3282" y="2276872"/>
                        <a:ext cx="2941166" cy="13455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dirty="0" smtClean="0">
                <a:ea typeface="宋体" panose="02010600030101010101" pitchFamily="2" charset="-122"/>
              </a:rPr>
              <a:t>输入设备：提供数据给内存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zh-CN" altLang="en-US" dirty="0" smtClean="0">
                <a:ea typeface="宋体" panose="02010600030101010101" pitchFamily="2" charset="-122"/>
              </a:rPr>
              <a:t>输出设备：负责从内存转换数据给用户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 smtClean="0">
                <a:ea typeface="宋体" panose="02010600030101010101" pitchFamily="2" charset="-122"/>
              </a:rPr>
              <a:t>每个输入输出设备具有自己的访问接口，一般是一组专用寄存器。</a:t>
            </a:r>
            <a:br>
              <a:rPr lang="en-US" altLang="zh-CN" dirty="0" smtClean="0">
                <a:ea typeface="宋体" panose="02010600030101010101" pitchFamily="2" charset="-122"/>
              </a:rPr>
            </a:br>
            <a:r>
              <a:rPr lang="zh-CN" altLang="en-US" dirty="0" smtClean="0">
                <a:ea typeface="宋体" panose="02010600030101010101" pitchFamily="2" charset="-122"/>
              </a:rPr>
              <a:t>类似内存接口的</a:t>
            </a:r>
            <a:r>
              <a:rPr lang="en-US" altLang="zh-CN" dirty="0" smtClean="0">
                <a:ea typeface="宋体" panose="02010600030101010101" pitchFamily="2" charset="-122"/>
              </a:rPr>
              <a:t>MDR/MAR</a:t>
            </a:r>
            <a:r>
              <a:rPr lang="zh-CN" altLang="en-US" dirty="0" smtClean="0">
                <a:ea typeface="宋体" panose="02010600030101010101" pitchFamily="2" charset="-122"/>
              </a:rPr>
              <a:t>寄存器。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ea typeface="宋体" panose="02010600030101010101" pitchFamily="2" charset="-122"/>
              </a:rPr>
              <a:t>LC-3 </a:t>
            </a:r>
            <a:r>
              <a:rPr lang="zh-CN" altLang="en-US" dirty="0" smtClean="0">
                <a:ea typeface="宋体" panose="02010600030101010101" pitchFamily="2" charset="-122"/>
              </a:rPr>
              <a:t>支持：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 smtClean="0">
                <a:ea typeface="宋体" panose="02010600030101010101" pitchFamily="2" charset="-122"/>
              </a:rPr>
              <a:t>键盘输入</a:t>
            </a:r>
            <a:r>
              <a:rPr lang="en-US" altLang="zh-CN" dirty="0" smtClean="0">
                <a:ea typeface="宋体" panose="02010600030101010101" pitchFamily="2" charset="-122"/>
              </a:rPr>
              <a:t>keyboard (input) </a:t>
            </a:r>
            <a:r>
              <a:rPr lang="zh-CN" altLang="en-US" dirty="0" smtClean="0">
                <a:ea typeface="宋体" panose="02010600030101010101" pitchFamily="2" charset="-122"/>
              </a:rPr>
              <a:t>和 显示输出</a:t>
            </a:r>
            <a:r>
              <a:rPr lang="en-US" altLang="zh-CN" dirty="0" smtClean="0">
                <a:ea typeface="宋体" panose="02010600030101010101" pitchFamily="2" charset="-122"/>
              </a:rPr>
              <a:t>monitor (output)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 smtClean="0">
                <a:ea typeface="宋体" panose="02010600030101010101" pitchFamily="2" charset="-122"/>
              </a:rPr>
              <a:t>keyboard: </a:t>
            </a:r>
            <a:r>
              <a:rPr lang="zh-CN" altLang="en-US" dirty="0" smtClean="0">
                <a:ea typeface="宋体" panose="02010600030101010101" pitchFamily="2" charset="-122"/>
              </a:rPr>
              <a:t>两个寄存器 </a:t>
            </a:r>
            <a:r>
              <a:rPr lang="en-US" altLang="zh-CN" dirty="0" smtClean="0">
                <a:ea typeface="宋体" panose="02010600030101010101" pitchFamily="2" charset="-122"/>
              </a:rPr>
              <a:t>data register (KBDR) / status register (KBSR)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 smtClean="0">
                <a:ea typeface="宋体" panose="02010600030101010101" pitchFamily="2" charset="-122"/>
              </a:rPr>
              <a:t>monitor:</a:t>
            </a:r>
            <a:r>
              <a:rPr lang="zh-CN" altLang="en-US" dirty="0" smtClean="0">
                <a:ea typeface="宋体" panose="02010600030101010101" pitchFamily="2" charset="-122"/>
              </a:rPr>
              <a:t>  </a:t>
            </a:r>
            <a:r>
              <a:rPr lang="en-US" altLang="zh-CN" dirty="0" smtClean="0">
                <a:ea typeface="宋体" panose="02010600030101010101" pitchFamily="2" charset="-122"/>
              </a:rPr>
              <a:t> </a:t>
            </a:r>
            <a:r>
              <a:rPr lang="zh-CN" altLang="en-US" dirty="0" smtClean="0">
                <a:ea typeface="宋体" panose="02010600030101010101" pitchFamily="2" charset="-122"/>
              </a:rPr>
              <a:t>两个寄存器   </a:t>
            </a:r>
            <a:r>
              <a:rPr lang="en-US" altLang="zh-CN" dirty="0" smtClean="0">
                <a:ea typeface="宋体" panose="02010600030101010101" pitchFamily="2" charset="-122"/>
              </a:rPr>
              <a:t>data register (DDR) /status register (DSR)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 smtClean="0">
                <a:ea typeface="宋体" panose="02010600030101010101" pitchFamily="2" charset="-122"/>
              </a:rPr>
              <a:t>设备可同时支持输出和输入功能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 smtClean="0">
                <a:ea typeface="宋体" panose="02010600030101010101" pitchFamily="2" charset="-122"/>
              </a:rPr>
              <a:t>disk, network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 smtClean="0">
                <a:ea typeface="宋体" panose="02010600030101010101" pitchFamily="2" charset="-122"/>
              </a:rPr>
              <a:t>控制设备访问的程序通常称为设备驱动程序（</a:t>
            </a:r>
            <a:r>
              <a:rPr lang="en-US" altLang="zh-CN" u="sng" dirty="0" smtClean="0">
                <a:ea typeface="宋体" panose="02010600030101010101" pitchFamily="2" charset="-122"/>
              </a:rPr>
              <a:t>driver</a:t>
            </a:r>
            <a:r>
              <a:rPr lang="zh-CN" altLang="en-US" i="1" dirty="0" smtClean="0">
                <a:ea typeface="宋体" panose="02010600030101010101" pitchFamily="2" charset="-122"/>
              </a:rPr>
              <a:t>）</a:t>
            </a:r>
            <a:r>
              <a:rPr lang="en-US" altLang="zh-CN" dirty="0" smtClean="0">
                <a:ea typeface="宋体" panose="02010600030101010101" pitchFamily="2" charset="-122"/>
              </a:rPr>
              <a:t>.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输入和输出设备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graphicFrame>
        <p:nvGraphicFramePr>
          <p:cNvPr id="4098" name="Object 4"/>
          <p:cNvGraphicFramePr>
            <a:graphicFrameLocks noChangeAspect="1"/>
          </p:cNvGraphicFramePr>
          <p:nvPr/>
        </p:nvGraphicFramePr>
        <p:xfrm>
          <a:off x="5652120" y="620688"/>
          <a:ext cx="1287463" cy="151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8532" name="CorelDRAW" r:id="rId1" imgW="1286510" imgH="1515110" progId="">
                  <p:embed/>
                </p:oleObj>
              </mc:Choice>
              <mc:Fallback>
                <p:oleObj name="CorelDRAW" r:id="rId1" imgW="1286510" imgH="151511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2120" y="620688"/>
                        <a:ext cx="1287463" cy="1516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5"/>
          <p:cNvGraphicFramePr>
            <a:graphicFrameLocks noChangeAspect="1"/>
          </p:cNvGraphicFramePr>
          <p:nvPr/>
        </p:nvGraphicFramePr>
        <p:xfrm>
          <a:off x="6920433" y="620688"/>
          <a:ext cx="1287463" cy="151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8533" name="CorelDRAW" r:id="rId3" imgW="1286510" imgH="1515110" progId="">
                  <p:embed/>
                </p:oleObj>
              </mc:Choice>
              <mc:Fallback>
                <p:oleObj name="CorelDRAW" r:id="rId3" imgW="1286510" imgH="151511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0433" y="620688"/>
                        <a:ext cx="1287463" cy="1516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81328"/>
            <a:ext cx="8229600" cy="4467951"/>
          </a:xfrm>
        </p:spPr>
        <p:txBody>
          <a:bodyPr>
            <a:noAutofit/>
          </a:bodyPr>
          <a:lstStyle/>
          <a:p>
            <a:r>
              <a:rPr lang="zh-CN" altLang="en-US" sz="2400" dirty="0" smtClean="0">
                <a:latin typeface="+mn-ea"/>
              </a:rPr>
              <a:t>协同其他所有单元之间的工作。</a:t>
            </a:r>
            <a:endParaRPr lang="en-US" altLang="zh-CN" sz="2400" dirty="0" smtClean="0">
              <a:latin typeface="+mn-ea"/>
            </a:endParaRPr>
          </a:p>
          <a:p>
            <a:pPr>
              <a:buNone/>
            </a:pPr>
            <a:endParaRPr lang="en-US" altLang="zh-CN" sz="2400" dirty="0" smtClean="0">
              <a:solidFill>
                <a:srgbClr val="CE0000"/>
              </a:solidFill>
              <a:latin typeface="+mn-ea"/>
            </a:endParaRPr>
          </a:p>
          <a:p>
            <a:pPr>
              <a:buNone/>
            </a:pPr>
            <a:endParaRPr lang="en-US" altLang="zh-CN" sz="2400" dirty="0" smtClean="0">
              <a:solidFill>
                <a:srgbClr val="CE0000"/>
              </a:solidFill>
              <a:latin typeface="+mn-ea"/>
            </a:endParaRPr>
          </a:p>
          <a:p>
            <a:r>
              <a:rPr lang="zh-CN" altLang="en-US" sz="2400" dirty="0" smtClean="0">
                <a:solidFill>
                  <a:srgbClr val="CE0000"/>
                </a:solidFill>
                <a:latin typeface="+mn-ea"/>
              </a:rPr>
              <a:t>两个重要的寄存器：</a:t>
            </a:r>
            <a:endParaRPr lang="en-US" altLang="zh-CN" sz="2400" dirty="0" smtClean="0">
              <a:solidFill>
                <a:srgbClr val="CE0000"/>
              </a:solidFill>
              <a:latin typeface="+mn-ea"/>
            </a:endParaRPr>
          </a:p>
          <a:p>
            <a:pPr lvl="1"/>
            <a:r>
              <a:rPr lang="zh-CN" altLang="en-US" sz="2000" dirty="0" smtClean="0">
                <a:solidFill>
                  <a:srgbClr val="CE0000"/>
                </a:solidFill>
                <a:latin typeface="+mn-ea"/>
              </a:rPr>
              <a:t>指令寄存器：</a:t>
            </a:r>
            <a:r>
              <a:rPr lang="en-US" altLang="zh-CN" sz="2000" dirty="0" smtClean="0">
                <a:solidFill>
                  <a:srgbClr val="CE0000"/>
                </a:solidFill>
                <a:latin typeface="+mn-ea"/>
              </a:rPr>
              <a:t>Instruction Register</a:t>
            </a:r>
            <a:r>
              <a:rPr lang="en-US" altLang="zh-CN" sz="2000" dirty="0" smtClean="0">
                <a:latin typeface="+mn-ea"/>
              </a:rPr>
              <a:t> (IR) </a:t>
            </a:r>
            <a:r>
              <a:rPr lang="zh-CN" altLang="en-US" sz="2000" dirty="0" smtClean="0">
                <a:latin typeface="+mn-ea"/>
              </a:rPr>
              <a:t>存放当前执行指令的内容。</a:t>
            </a:r>
            <a:endParaRPr lang="en-US" altLang="zh-CN" sz="2000" dirty="0" smtClean="0">
              <a:latin typeface="+mn-ea"/>
            </a:endParaRPr>
          </a:p>
          <a:p>
            <a:pPr lvl="1"/>
            <a:r>
              <a:rPr lang="zh-CN" altLang="en-US" sz="2000" dirty="0" smtClean="0">
                <a:solidFill>
                  <a:srgbClr val="CE0000"/>
                </a:solidFill>
                <a:latin typeface="+mn-ea"/>
              </a:rPr>
              <a:t>程序寄存器：</a:t>
            </a:r>
            <a:r>
              <a:rPr lang="en-US" altLang="zh-CN" sz="2000" dirty="0" smtClean="0">
                <a:solidFill>
                  <a:srgbClr val="CE0000"/>
                </a:solidFill>
                <a:latin typeface="+mn-ea"/>
              </a:rPr>
              <a:t>Program Counter</a:t>
            </a:r>
            <a:r>
              <a:rPr lang="en-US" altLang="zh-CN" sz="2000" dirty="0" smtClean="0">
                <a:latin typeface="+mn-ea"/>
              </a:rPr>
              <a:t> (PC) </a:t>
            </a:r>
            <a:r>
              <a:rPr lang="zh-CN" altLang="en-US" sz="2000" dirty="0" smtClean="0">
                <a:latin typeface="+mn-ea"/>
              </a:rPr>
              <a:t>存放下一条要执行指令的地址</a:t>
            </a:r>
            <a:endParaRPr lang="en-US" altLang="zh-CN" sz="2000" dirty="0" smtClean="0">
              <a:latin typeface="+mn-ea"/>
            </a:endParaRPr>
          </a:p>
          <a:p>
            <a:pPr lvl="2"/>
            <a:r>
              <a:rPr lang="zh-CN" altLang="en-US" sz="1400" b="1" dirty="0" smtClean="0">
                <a:solidFill>
                  <a:schemeClr val="tx2"/>
                </a:solidFill>
                <a:latin typeface="+mn-ea"/>
              </a:rPr>
              <a:t>自加</a:t>
            </a:r>
            <a:r>
              <a:rPr lang="en-US" altLang="zh-CN" sz="1400" b="1" dirty="0" smtClean="0">
                <a:solidFill>
                  <a:schemeClr val="tx2"/>
                </a:solidFill>
                <a:latin typeface="+mn-ea"/>
              </a:rPr>
              <a:t>:</a:t>
            </a:r>
            <a:r>
              <a:rPr lang="zh-CN" altLang="en-US" sz="1400" b="1" dirty="0" smtClean="0">
                <a:solidFill>
                  <a:schemeClr val="tx2"/>
                </a:solidFill>
                <a:latin typeface="+mn-ea"/>
              </a:rPr>
              <a:t>   当指令顺序执行时，由</a:t>
            </a:r>
            <a:r>
              <a:rPr lang="en-US" altLang="zh-CN" sz="1400" b="1" dirty="0" smtClean="0">
                <a:solidFill>
                  <a:schemeClr val="tx2"/>
                </a:solidFill>
                <a:latin typeface="+mn-ea"/>
              </a:rPr>
              <a:t>PC+1</a:t>
            </a:r>
            <a:r>
              <a:rPr lang="zh-CN" altLang="en-US" sz="1400" b="1" dirty="0" smtClean="0">
                <a:solidFill>
                  <a:schemeClr val="tx2"/>
                </a:solidFill>
                <a:latin typeface="+mn-ea"/>
              </a:rPr>
              <a:t>产生下一条指令的地址；</a:t>
            </a:r>
            <a:endParaRPr lang="en-US" altLang="zh-CN" sz="1400" b="1" dirty="0" smtClean="0">
              <a:solidFill>
                <a:schemeClr val="tx2"/>
              </a:solidFill>
              <a:latin typeface="+mn-ea"/>
            </a:endParaRPr>
          </a:p>
          <a:p>
            <a:pPr lvl="2"/>
            <a:r>
              <a:rPr lang="zh-CN" altLang="en-US" sz="1600" b="1" dirty="0" smtClean="0">
                <a:solidFill>
                  <a:schemeClr val="tx2"/>
                </a:solidFill>
                <a:latin typeface="+mn-ea"/>
              </a:rPr>
              <a:t>可改写</a:t>
            </a:r>
            <a:r>
              <a:rPr lang="en-US" altLang="zh-CN" sz="1600" b="1" dirty="0" smtClean="0">
                <a:solidFill>
                  <a:schemeClr val="tx2"/>
                </a:solidFill>
                <a:latin typeface="+mn-ea"/>
              </a:rPr>
              <a:t>:</a:t>
            </a:r>
            <a:r>
              <a:rPr lang="zh-CN" altLang="en-US" sz="1600" b="1" dirty="0" smtClean="0">
                <a:solidFill>
                  <a:schemeClr val="tx2"/>
                </a:solidFill>
                <a:latin typeface="+mn-ea"/>
              </a:rPr>
              <a:t>当遇到转移指令时，</a:t>
            </a:r>
            <a:r>
              <a:rPr lang="zh-CN" altLang="en-US" sz="1600" b="1" dirty="0" smtClean="0">
                <a:solidFill>
                  <a:srgbClr val="006600"/>
                </a:solidFill>
                <a:latin typeface="+mn-ea"/>
              </a:rPr>
              <a:t>转移地址</a:t>
            </a:r>
            <a:r>
              <a:rPr lang="zh-CN" altLang="en-US" sz="1600" b="1" dirty="0" smtClean="0">
                <a:solidFill>
                  <a:schemeClr val="tx2"/>
                </a:solidFill>
                <a:latin typeface="+mn-ea"/>
                <a:sym typeface="Wingdings" panose="05000000000000000000" pitchFamily="2" charset="2"/>
              </a:rPr>
              <a:t></a:t>
            </a:r>
            <a:r>
              <a:rPr lang="en-US" altLang="zh-CN" sz="1600" b="1" dirty="0" smtClean="0">
                <a:solidFill>
                  <a:schemeClr val="tx2"/>
                </a:solidFill>
                <a:latin typeface="+mn-ea"/>
              </a:rPr>
              <a:t>PC</a:t>
            </a:r>
            <a:r>
              <a:rPr lang="zh-CN" altLang="en-US" sz="1600" b="1" dirty="0" smtClean="0">
                <a:solidFill>
                  <a:schemeClr val="tx2"/>
                </a:solidFill>
                <a:latin typeface="+mn-ea"/>
              </a:rPr>
              <a:t>作为下一条指令的地址。</a:t>
            </a:r>
            <a:endParaRPr lang="zh-CN" altLang="en-US" sz="1600" b="1" dirty="0" smtClean="0">
              <a:solidFill>
                <a:schemeClr val="tx2"/>
              </a:solidFill>
              <a:latin typeface="+mn-ea"/>
            </a:endParaRPr>
          </a:p>
          <a:p>
            <a:pPr>
              <a:buNone/>
            </a:pPr>
            <a:endParaRPr lang="en-US" altLang="zh-CN" sz="2400" dirty="0" smtClean="0">
              <a:latin typeface="+mn-ea"/>
            </a:endParaRPr>
          </a:p>
          <a:p>
            <a:pPr marL="457200" indent="-457200">
              <a:lnSpc>
                <a:spcPct val="90000"/>
              </a:lnSpc>
            </a:pPr>
            <a:r>
              <a:rPr lang="zh-CN" altLang="en-US" sz="2400" b="1" dirty="0" smtClean="0">
                <a:solidFill>
                  <a:schemeClr val="tx2"/>
                </a:solidFill>
                <a:latin typeface="+mn-ea"/>
              </a:rPr>
              <a:t>控制器的功能就是控制指令的执行过程</a:t>
            </a:r>
            <a:endParaRPr lang="zh-CN" altLang="en-US" sz="2400" b="1" dirty="0" smtClean="0">
              <a:solidFill>
                <a:srgbClr val="FF6600"/>
              </a:solidFill>
              <a:latin typeface="+mn-ea"/>
            </a:endParaRPr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控制单元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graphicFrame>
        <p:nvGraphicFramePr>
          <p:cNvPr id="5122" name="Object 5"/>
          <p:cNvGraphicFramePr>
            <a:graphicFrameLocks noChangeAspect="1"/>
          </p:cNvGraphicFramePr>
          <p:nvPr/>
        </p:nvGraphicFramePr>
        <p:xfrm>
          <a:off x="3963392" y="1916832"/>
          <a:ext cx="4689475" cy="119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515" name="CorelDRAW" r:id="rId1" imgW="3916680" imgH="1057910" progId="">
                  <p:embed/>
                </p:oleObj>
              </mc:Choice>
              <mc:Fallback>
                <p:oleObj name="CorelDRAW" r:id="rId1" imgW="3916680" imgH="105791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3392" y="1916832"/>
                        <a:ext cx="4689475" cy="1192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LC-3</a:t>
            </a:r>
            <a:r>
              <a:rPr lang="zh-CN" altLang="en-US" dirty="0" smtClean="0"/>
              <a:t>体系结构</a:t>
            </a:r>
            <a:endParaRPr lang="zh-CN" altLang="en-US" dirty="0"/>
          </a:p>
        </p:txBody>
      </p:sp>
      <p:pic>
        <p:nvPicPr>
          <p:cNvPr id="515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31640" y="836712"/>
            <a:ext cx="6429375" cy="545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 smtClean="0"/>
              <a:t>内存：包括存储单元，以及</a:t>
            </a:r>
            <a:r>
              <a:rPr lang="en-US" altLang="zh-CN" dirty="0" smtClean="0"/>
              <a:t>16</a:t>
            </a:r>
            <a:r>
              <a:rPr lang="zh-CN" altLang="en-US" dirty="0" smtClean="0"/>
              <a:t>位的</a:t>
            </a:r>
            <a:r>
              <a:rPr lang="en-US" altLang="zh-CN" dirty="0" smtClean="0"/>
              <a:t>MAR</a:t>
            </a:r>
            <a:r>
              <a:rPr lang="zh-CN" altLang="en-US" dirty="0" smtClean="0"/>
              <a:t>和</a:t>
            </a:r>
            <a:r>
              <a:rPr lang="en-US" altLang="zh-CN" dirty="0" smtClean="0"/>
              <a:t>16</a:t>
            </a:r>
            <a:r>
              <a:rPr lang="zh-CN" altLang="en-US" dirty="0" smtClean="0"/>
              <a:t>位的</a:t>
            </a:r>
            <a:r>
              <a:rPr lang="en-US" altLang="zh-CN" dirty="0" smtClean="0"/>
              <a:t>MDR</a:t>
            </a:r>
            <a:r>
              <a:rPr lang="zh-CN" altLang="en-US" dirty="0" smtClean="0"/>
              <a:t>寄存器。</a:t>
            </a:r>
            <a:r>
              <a:rPr lang="en-US" altLang="zh-CN" dirty="0" smtClean="0"/>
              <a:t>2</a:t>
            </a:r>
            <a:r>
              <a:rPr lang="en-US" altLang="zh-CN" baseline="30000" dirty="0" smtClean="0"/>
              <a:t>16</a:t>
            </a:r>
            <a:r>
              <a:rPr lang="en-US" altLang="zh-CN" dirty="0" smtClean="0"/>
              <a:t>x16bit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处理单元</a:t>
            </a:r>
            <a:r>
              <a:rPr lang="en-US" altLang="zh-CN" dirty="0" smtClean="0"/>
              <a:t>: </a:t>
            </a:r>
            <a:r>
              <a:rPr lang="zh-CN" altLang="en-US" dirty="0" smtClean="0"/>
              <a:t>包括</a:t>
            </a:r>
            <a:r>
              <a:rPr lang="en-US" altLang="zh-CN" dirty="0" smtClean="0"/>
              <a:t>ALU</a:t>
            </a:r>
            <a:r>
              <a:rPr lang="zh-CN" altLang="en-US" dirty="0" smtClean="0"/>
              <a:t>和</a:t>
            </a:r>
            <a:r>
              <a:rPr lang="en-US" altLang="zh-CN" dirty="0" smtClean="0"/>
              <a:t>8</a:t>
            </a:r>
            <a:r>
              <a:rPr lang="zh-CN" altLang="en-US" dirty="0" smtClean="0"/>
              <a:t>个</a:t>
            </a:r>
            <a:r>
              <a:rPr lang="en-US" altLang="zh-CN" dirty="0" smtClean="0"/>
              <a:t>16</a:t>
            </a:r>
            <a:r>
              <a:rPr lang="zh-CN" altLang="en-US" dirty="0" smtClean="0"/>
              <a:t>位的寄存器</a:t>
            </a:r>
            <a:r>
              <a:rPr lang="en-US" altLang="zh-CN" dirty="0" smtClean="0"/>
              <a:t>(R0-R7)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控制单元：</a:t>
            </a:r>
            <a:r>
              <a:rPr lang="en-US" altLang="zh-CN" dirty="0" smtClean="0"/>
              <a:t>PC, IR</a:t>
            </a:r>
            <a:r>
              <a:rPr lang="zh-CN" altLang="en-US" dirty="0" smtClean="0"/>
              <a:t>寄存器</a:t>
            </a:r>
            <a:r>
              <a:rPr lang="en-US" altLang="zh-CN" dirty="0" smtClean="0"/>
              <a:t>, </a:t>
            </a:r>
            <a:r>
              <a:rPr lang="zh-CN" altLang="en-US" dirty="0" smtClean="0"/>
              <a:t>和控制逻辑有限状态机</a:t>
            </a:r>
            <a:r>
              <a:rPr lang="en-US" altLang="zh-CN" dirty="0" smtClean="0"/>
              <a:t>FSM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输入和输出单元：键盘和显示器。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部件的连接</a:t>
            </a:r>
            <a:r>
              <a:rPr lang="en-US" altLang="zh-CN" dirty="0" smtClean="0"/>
              <a:t>:</a:t>
            </a:r>
            <a:r>
              <a:rPr lang="zh-CN" altLang="en-US" dirty="0" smtClean="0"/>
              <a:t> 总线 </a:t>
            </a:r>
            <a:r>
              <a:rPr lang="en-US" altLang="zh-CN" dirty="0" smtClean="0"/>
              <a:t>,</a:t>
            </a:r>
            <a:r>
              <a:rPr lang="zh-CN" altLang="en-US" dirty="0" smtClean="0"/>
              <a:t>同一时间只允许一个主设备使用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LC-3</a:t>
            </a:r>
            <a:r>
              <a:rPr lang="zh-CN" altLang="en-US" dirty="0" smtClean="0"/>
              <a:t>的</a:t>
            </a:r>
            <a:r>
              <a:rPr lang="en-US" altLang="zh-CN" dirty="0" smtClean="0"/>
              <a:t>5</a:t>
            </a:r>
            <a:r>
              <a:rPr lang="zh-CN" altLang="en-US" dirty="0" smtClean="0"/>
              <a:t>大部件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冯</a:t>
            </a:r>
            <a:r>
              <a:rPr lang="en-US" altLang="zh-CN" dirty="0"/>
              <a:t>∙</a:t>
            </a:r>
            <a:r>
              <a:rPr lang="zh-CN" altLang="en-US" dirty="0" smtClean="0"/>
              <a:t>诺伊曼模型的核心思想：程序和数据都是以</a:t>
            </a:r>
            <a:r>
              <a:rPr lang="en-US" altLang="zh-CN" dirty="0" smtClean="0"/>
              <a:t>bit</a:t>
            </a:r>
            <a:r>
              <a:rPr lang="zh-CN" altLang="en-US" dirty="0" smtClean="0"/>
              <a:t>流的方式存放在计算机内存中，程序在控制单元的控制下，依次完成指令的读取和执行。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指令处理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dirty="0" smtClean="0">
                <a:ea typeface="宋体" panose="02010600030101010101" pitchFamily="2" charset="-122"/>
              </a:rPr>
              <a:t>指令是由硬件电路直接完成的计算机执行的最小单位。</a:t>
            </a:r>
            <a:endParaRPr lang="en-US" altLang="zh-CN" sz="2000" dirty="0" smtClean="0">
              <a:ea typeface="宋体" panose="02010600030101010101" pitchFamily="2" charset="-122"/>
            </a:endParaRPr>
          </a:p>
          <a:p>
            <a:r>
              <a:rPr lang="zh-CN" altLang="en-US" sz="2000" dirty="0" smtClean="0">
                <a:ea typeface="宋体" panose="02010600030101010101" pitchFamily="2" charset="-122"/>
              </a:rPr>
              <a:t>指令由两部分组成</a:t>
            </a:r>
            <a:r>
              <a:rPr lang="en-US" altLang="zh-CN" sz="2000" dirty="0" smtClean="0">
                <a:ea typeface="宋体" panose="02010600030101010101" pitchFamily="2" charset="-122"/>
              </a:rPr>
              <a:t>:</a:t>
            </a:r>
            <a:endParaRPr lang="en-US" altLang="zh-CN" sz="2000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sz="2000" i="1" u="sng" dirty="0" smtClean="0">
                <a:ea typeface="宋体" panose="02010600030101010101" pitchFamily="2" charset="-122"/>
              </a:rPr>
              <a:t>操作码 </a:t>
            </a:r>
            <a:r>
              <a:rPr lang="en-US" altLang="zh-CN" sz="2000" i="1" u="sng" dirty="0" err="1" smtClean="0">
                <a:ea typeface="宋体" panose="02010600030101010101" pitchFamily="2" charset="-122"/>
              </a:rPr>
              <a:t>opcode</a:t>
            </a:r>
            <a:r>
              <a:rPr lang="en-US" altLang="zh-CN" sz="2000" dirty="0" smtClean="0">
                <a:ea typeface="宋体" panose="02010600030101010101" pitchFamily="2" charset="-122"/>
              </a:rPr>
              <a:t>: </a:t>
            </a:r>
            <a:r>
              <a:rPr lang="zh-CN" altLang="en-US" sz="2000" dirty="0" smtClean="0">
                <a:ea typeface="宋体" panose="02010600030101010101" pitchFamily="2" charset="-122"/>
              </a:rPr>
              <a:t>   指示指令具体做什么操作</a:t>
            </a:r>
            <a:endParaRPr lang="en-US" altLang="zh-CN" sz="2000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sz="2000" i="1" u="sng" dirty="0" smtClean="0">
                <a:ea typeface="宋体" panose="02010600030101010101" pitchFamily="2" charset="-122"/>
              </a:rPr>
              <a:t>操作数 </a:t>
            </a:r>
            <a:r>
              <a:rPr lang="en-US" altLang="zh-CN" sz="2000" i="1" u="sng" dirty="0" smtClean="0">
                <a:ea typeface="宋体" panose="02010600030101010101" pitchFamily="2" charset="-122"/>
              </a:rPr>
              <a:t>operands</a:t>
            </a:r>
            <a:r>
              <a:rPr lang="en-US" altLang="zh-CN" sz="2000" dirty="0" smtClean="0">
                <a:ea typeface="宋体" panose="02010600030101010101" pitchFamily="2" charset="-122"/>
              </a:rPr>
              <a:t>: </a:t>
            </a:r>
            <a:r>
              <a:rPr lang="zh-CN" altLang="en-US" sz="2000" dirty="0" smtClean="0">
                <a:ea typeface="宋体" panose="02010600030101010101" pitchFamily="2" charset="-122"/>
              </a:rPr>
              <a:t>指示操作的对象，一般存放操作数的地址（寄存器和内存地址），也可以在指令中直接存放较小的操作数。</a:t>
            </a:r>
            <a:endParaRPr lang="en-US" altLang="zh-CN" sz="2000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sz="2000" dirty="0" smtClean="0">
                <a:ea typeface="宋体" panose="02010600030101010101" pitchFamily="2" charset="-122"/>
              </a:rPr>
              <a:t>指令实质是一串二进制代码</a:t>
            </a:r>
            <a:endParaRPr lang="en-US" altLang="zh-CN" sz="2000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sz="2000" dirty="0" smtClean="0">
                <a:ea typeface="宋体" panose="02010600030101010101" pitchFamily="2" charset="-122"/>
              </a:rPr>
              <a:t>指令的助记形式</a:t>
            </a:r>
            <a:r>
              <a:rPr lang="en-US" altLang="zh-CN" sz="2000" dirty="0" smtClean="0">
                <a:ea typeface="宋体" panose="02010600030101010101" pitchFamily="2" charset="-122"/>
              </a:rPr>
              <a:t>:</a:t>
            </a:r>
            <a:r>
              <a:rPr lang="zh-CN" altLang="en-US" sz="2000" dirty="0" smtClean="0"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ea typeface="宋体" panose="02010600030101010101" pitchFamily="2" charset="-122"/>
              </a:rPr>
              <a:t>ADD R1,R2,R3     ADD R1,R2,1</a:t>
            </a:r>
            <a:endParaRPr lang="en-US" altLang="zh-CN" sz="2000" dirty="0" smtClean="0">
              <a:ea typeface="宋体" panose="02010600030101010101" pitchFamily="2" charset="-122"/>
            </a:endParaRPr>
          </a:p>
          <a:p>
            <a:r>
              <a:rPr lang="zh-CN" altLang="en-US" sz="2000" dirty="0" smtClean="0">
                <a:ea typeface="宋体" panose="02010600030101010101" pitchFamily="2" charset="-122"/>
              </a:rPr>
              <a:t>和数据信息一样，指令信息也必需用二进制编码。</a:t>
            </a:r>
            <a:endParaRPr lang="en-US" altLang="zh-CN" sz="2000" i="1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sz="2000" b="0" dirty="0" smtClean="0">
                <a:ea typeface="宋体" panose="02010600030101010101" pitchFamily="2" charset="-122"/>
              </a:rPr>
              <a:t>简单的计算机系统里面指令一般具有固定的二进制编码长度比如说</a:t>
            </a:r>
            <a:r>
              <a:rPr lang="en-US" altLang="zh-CN" sz="2000" b="0" dirty="0" smtClean="0">
                <a:ea typeface="宋体" panose="02010600030101010101" pitchFamily="2" charset="-122"/>
              </a:rPr>
              <a:t>16 </a:t>
            </a:r>
            <a:r>
              <a:rPr lang="zh-CN" altLang="en-US" sz="2000" b="0" dirty="0" smtClean="0">
                <a:ea typeface="宋体" panose="02010600030101010101" pitchFamily="2" charset="-122"/>
              </a:rPr>
              <a:t>或者</a:t>
            </a:r>
            <a:r>
              <a:rPr lang="en-US" altLang="zh-CN" sz="2000" b="0" dirty="0" smtClean="0">
                <a:ea typeface="宋体" panose="02010600030101010101" pitchFamily="2" charset="-122"/>
              </a:rPr>
              <a:t> 32 </a:t>
            </a:r>
            <a:r>
              <a:rPr lang="zh-CN" altLang="en-US" sz="2000" b="0" dirty="0" smtClean="0">
                <a:ea typeface="宋体" panose="02010600030101010101" pitchFamily="2" charset="-122"/>
              </a:rPr>
              <a:t>位（指令字长）</a:t>
            </a:r>
            <a:r>
              <a:rPr lang="en-US" altLang="zh-CN" sz="2000" b="0" dirty="0" smtClean="0">
                <a:ea typeface="宋体" panose="02010600030101010101" pitchFamily="2" charset="-122"/>
              </a:rPr>
              <a:t>.</a:t>
            </a:r>
            <a:endParaRPr lang="en-US" altLang="zh-CN" sz="2000" b="0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sz="2000" b="0" dirty="0" smtClean="0">
                <a:ea typeface="宋体" panose="02010600030101010101" pitchFamily="2" charset="-122"/>
              </a:rPr>
              <a:t>控制单元负责具体解释每条指令并</a:t>
            </a:r>
            <a:r>
              <a:rPr lang="zh-CN" altLang="en-US" sz="2000" dirty="0" smtClean="0">
                <a:ea typeface="宋体" panose="02010600030101010101" pitchFamily="2" charset="-122"/>
              </a:rPr>
              <a:t>产生控制信号协调其它部件来完成指令执行。</a:t>
            </a:r>
            <a:endParaRPr lang="en-US" altLang="zh-CN" sz="2000" b="0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sz="2000" b="0" dirty="0" smtClean="0">
                <a:ea typeface="宋体" panose="02010600030101010101" pitchFamily="2" charset="-122"/>
              </a:rPr>
              <a:t>指令的执行具有原子性</a:t>
            </a:r>
            <a:endParaRPr lang="en-US" altLang="zh-CN" sz="2000" b="0" dirty="0" smtClean="0">
              <a:ea typeface="宋体" panose="02010600030101010101" pitchFamily="2" charset="-122"/>
            </a:endParaRPr>
          </a:p>
          <a:p>
            <a:r>
              <a:rPr lang="zh-CN" altLang="en-US" sz="2000" dirty="0" smtClean="0">
                <a:ea typeface="宋体" panose="02010600030101010101" pitchFamily="2" charset="-122"/>
              </a:rPr>
              <a:t>一个计算机系统的所有指令和格式称为指令集。</a:t>
            </a:r>
            <a:r>
              <a:rPr lang="en-US" altLang="zh-CN" sz="2000" b="0" i="1" dirty="0" smtClean="0">
                <a:solidFill>
                  <a:srgbClr val="CE0000"/>
                </a:solidFill>
                <a:ea typeface="宋体" panose="02010600030101010101" pitchFamily="2" charset="-122"/>
              </a:rPr>
              <a:t>Instruction Set Architecture</a:t>
            </a:r>
            <a:r>
              <a:rPr lang="en-US" altLang="zh-CN" sz="2000" b="0" i="1" dirty="0" smtClean="0">
                <a:ea typeface="宋体" panose="02010600030101010101" pitchFamily="2" charset="-122"/>
              </a:rPr>
              <a:t> </a:t>
            </a:r>
            <a:r>
              <a:rPr lang="en-US" altLang="zh-CN" sz="2000" b="0" dirty="0" smtClean="0">
                <a:ea typeface="宋体" panose="02010600030101010101" pitchFamily="2" charset="-122"/>
              </a:rPr>
              <a:t>(ISA)</a:t>
            </a:r>
            <a:r>
              <a:rPr lang="en-US" altLang="zh-CN" sz="2000" dirty="0" smtClean="0">
                <a:ea typeface="宋体" panose="02010600030101010101" pitchFamily="2" charset="-122"/>
              </a:rPr>
              <a:t>.</a:t>
            </a:r>
            <a:endParaRPr lang="en-US" altLang="zh-CN" sz="2000" dirty="0" smtClean="0">
              <a:ea typeface="宋体" panose="02010600030101010101" pitchFamily="2" charset="-122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指令：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LC-3</a:t>
            </a:r>
            <a:r>
              <a:rPr lang="zh-CN" altLang="en-US" sz="2800" dirty="0" smtClean="0">
                <a:ea typeface="宋体" panose="02010600030101010101" pitchFamily="2" charset="-122"/>
              </a:rPr>
              <a:t>指令字长 ：</a:t>
            </a:r>
            <a:r>
              <a:rPr lang="en-US" altLang="zh-CN" sz="2800" dirty="0" smtClean="0">
                <a:ea typeface="宋体" panose="02010600030101010101" pitchFamily="2" charset="-122"/>
              </a:rPr>
              <a:t>16bit</a:t>
            </a:r>
            <a:r>
              <a:rPr lang="en-US" altLang="zh-CN" dirty="0" smtClean="0">
                <a:ea typeface="宋体" panose="02010600030101010101" pitchFamily="2" charset="-122"/>
              </a:rPr>
              <a:t>.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dirty="0" smtClean="0">
                <a:ea typeface="宋体" panose="02010600030101010101" pitchFamily="2" charset="-122"/>
              </a:rPr>
              <a:t>高四位</a:t>
            </a:r>
            <a:r>
              <a:rPr lang="en-US" altLang="zh-CN" dirty="0" smtClean="0">
                <a:ea typeface="宋体" panose="02010600030101010101" pitchFamily="2" charset="-122"/>
              </a:rPr>
              <a:t>bits [15:12]</a:t>
            </a:r>
            <a:r>
              <a:rPr lang="zh-CN" altLang="en-US" dirty="0" smtClean="0">
                <a:ea typeface="宋体" panose="02010600030101010101" pitchFamily="2" charset="-122"/>
              </a:rPr>
              <a:t>编码指令的操作码，最多</a:t>
            </a:r>
            <a:r>
              <a:rPr lang="en-US" altLang="zh-CN" dirty="0" smtClean="0">
                <a:ea typeface="宋体" panose="02010600030101010101" pitchFamily="2" charset="-122"/>
              </a:rPr>
              <a:t>16</a:t>
            </a:r>
            <a:r>
              <a:rPr lang="zh-CN" altLang="en-US" dirty="0" smtClean="0">
                <a:ea typeface="宋体" panose="02010600030101010101" pitchFamily="2" charset="-122"/>
              </a:rPr>
              <a:t>条指令。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r>
              <a:rPr lang="en-US" altLang="zh-CN" dirty="0" smtClean="0">
                <a:ea typeface="宋体" panose="02010600030101010101" pitchFamily="2" charset="-122"/>
              </a:rPr>
              <a:t>LC-3 </a:t>
            </a:r>
            <a:r>
              <a:rPr lang="zh-CN" altLang="en-US" dirty="0" smtClean="0">
                <a:ea typeface="宋体" panose="02010600030101010101" pitchFamily="2" charset="-122"/>
              </a:rPr>
              <a:t>运算单元具有</a:t>
            </a:r>
            <a:r>
              <a:rPr lang="en-US" altLang="zh-CN" dirty="0" smtClean="0">
                <a:ea typeface="宋体" panose="02010600030101010101" pitchFamily="2" charset="-122"/>
              </a:rPr>
              <a:t>8</a:t>
            </a:r>
            <a:r>
              <a:rPr lang="zh-CN" altLang="en-US" dirty="0" smtClean="0">
                <a:ea typeface="宋体" panose="02010600030101010101" pitchFamily="2" charset="-122"/>
              </a:rPr>
              <a:t>个</a:t>
            </a:r>
            <a:r>
              <a:rPr lang="en-US" altLang="zh-CN" dirty="0" smtClean="0">
                <a:ea typeface="宋体" panose="02010600030101010101" pitchFamily="2" charset="-122"/>
              </a:rPr>
              <a:t>16</a:t>
            </a:r>
            <a:r>
              <a:rPr lang="zh-CN" altLang="en-US" dirty="0" smtClean="0">
                <a:ea typeface="宋体" panose="02010600030101010101" pitchFamily="2" charset="-122"/>
              </a:rPr>
              <a:t>位的寄存器</a:t>
            </a:r>
            <a:r>
              <a:rPr lang="en-US" altLang="zh-CN" dirty="0" smtClean="0">
                <a:ea typeface="宋体" panose="02010600030101010101" pitchFamily="2" charset="-122"/>
              </a:rPr>
              <a:t> (R0-R7) </a:t>
            </a:r>
            <a:r>
              <a:rPr lang="zh-CN" altLang="en-US" dirty="0" smtClean="0">
                <a:ea typeface="宋体" panose="02010600030101010101" pitchFamily="2" charset="-122"/>
              </a:rPr>
              <a:t>用来暂存操作数和计算中间结果</a:t>
            </a:r>
            <a:r>
              <a:rPr lang="en-US" altLang="zh-CN" dirty="0" smtClean="0">
                <a:ea typeface="宋体" panose="02010600030101010101" pitchFamily="2" charset="-122"/>
              </a:rPr>
              <a:t>.</a:t>
            </a:r>
            <a:r>
              <a:rPr lang="zh-CN" altLang="en-US" dirty="0" smtClean="0">
                <a:ea typeface="宋体" panose="02010600030101010101" pitchFamily="2" charset="-122"/>
              </a:rPr>
              <a:t>可用三位二进制数编码每个寄存器。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en-US" altLang="zh-CN" dirty="0" smtClean="0">
                <a:ea typeface="宋体" panose="02010600030101010101" pitchFamily="2" charset="-122"/>
              </a:rPr>
              <a:t>ADD</a:t>
            </a:r>
            <a:r>
              <a:rPr lang="zh-CN" altLang="en-US" dirty="0" smtClean="0">
                <a:ea typeface="宋体" panose="02010600030101010101" pitchFamily="2" charset="-122"/>
              </a:rPr>
              <a:t>指令编码：目的操作数和源操作数都在寄存器中。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指令编码 例</a:t>
            </a:r>
            <a:r>
              <a:rPr lang="en-US" altLang="zh-CN" dirty="0" smtClean="0">
                <a:ea typeface="宋体" panose="02010600030101010101" pitchFamily="2" charset="-122"/>
              </a:rPr>
              <a:t>: LC-3</a:t>
            </a:r>
            <a:r>
              <a:rPr lang="zh-CN" altLang="en-US" dirty="0" smtClean="0">
                <a:ea typeface="宋体" panose="02010600030101010101" pitchFamily="2" charset="-122"/>
              </a:rPr>
              <a:t>的</a:t>
            </a:r>
            <a:r>
              <a:rPr lang="en-US" altLang="zh-CN" dirty="0" smtClean="0">
                <a:ea typeface="宋体" panose="02010600030101010101" pitchFamily="2" charset="-122"/>
              </a:rPr>
              <a:t>ADD</a:t>
            </a:r>
            <a:r>
              <a:rPr lang="zh-CN" altLang="en-US" dirty="0" smtClean="0">
                <a:ea typeface="宋体" panose="02010600030101010101" pitchFamily="2" charset="-122"/>
              </a:rPr>
              <a:t>指令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13317" name="Text Box 16"/>
          <p:cNvSpPr txBox="1">
            <a:spLocks noChangeArrowheads="1"/>
          </p:cNvSpPr>
          <p:nvPr/>
        </p:nvSpPr>
        <p:spPr bwMode="auto">
          <a:xfrm>
            <a:off x="1763688" y="5990870"/>
            <a:ext cx="5718232" cy="29751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000" i="1" dirty="0">
                <a:solidFill>
                  <a:srgbClr val="FF0000"/>
                </a:solidFill>
                <a:ea typeface="宋体" panose="02010600030101010101" pitchFamily="2" charset="-122"/>
              </a:rPr>
              <a:t>“Add the contents of R2 to the contents of R6</a:t>
            </a:r>
            <a:r>
              <a:rPr lang="en-US" altLang="zh-CN" sz="2000" i="1" dirty="0" smtClean="0">
                <a:solidFill>
                  <a:srgbClr val="FF0000"/>
                </a:solidFill>
                <a:ea typeface="宋体" panose="02010600030101010101" pitchFamily="2" charset="-122"/>
              </a:rPr>
              <a:t>, and </a:t>
            </a:r>
            <a:r>
              <a:rPr lang="en-US" altLang="zh-CN" sz="2000" i="1" dirty="0">
                <a:solidFill>
                  <a:srgbClr val="FF0000"/>
                </a:solidFill>
                <a:ea typeface="宋体" panose="02010600030101010101" pitchFamily="2" charset="-122"/>
              </a:rPr>
              <a:t>store the result in R6.”</a:t>
            </a:r>
            <a:endParaRPr lang="en-US" altLang="zh-CN" sz="2000" i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pic>
        <p:nvPicPr>
          <p:cNvPr id="13318" name="Picture 20" descr="C:\Documents and Settings\Greg Byrd\My Documents\ece206\mh-slides\ch04\ch04-11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99592" y="4077072"/>
            <a:ext cx="7315200" cy="182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>
                <a:ea typeface="宋体" panose="02010600030101010101" pitchFamily="2" charset="-122"/>
              </a:rPr>
              <a:t>Load </a:t>
            </a:r>
            <a:r>
              <a:rPr lang="zh-CN" altLang="en-US" dirty="0" smtClean="0">
                <a:ea typeface="宋体" panose="02010600030101010101" pitchFamily="2" charset="-122"/>
              </a:rPr>
              <a:t>指令</a:t>
            </a:r>
            <a:r>
              <a:rPr lang="en-US" altLang="zh-CN" dirty="0" smtClean="0">
                <a:ea typeface="宋体" panose="02010600030101010101" pitchFamily="2" charset="-122"/>
              </a:rPr>
              <a:t>– </a:t>
            </a:r>
            <a:r>
              <a:rPr lang="zh-CN" altLang="en-US" dirty="0" smtClean="0">
                <a:ea typeface="宋体" panose="02010600030101010101" pitchFamily="2" charset="-122"/>
              </a:rPr>
              <a:t>从内存读数据到寄存器中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r>
              <a:rPr lang="zh-CN" altLang="en-US" dirty="0" smtClean="0">
                <a:ea typeface="宋体" panose="02010600030101010101" pitchFamily="2" charset="-122"/>
              </a:rPr>
              <a:t>指令中访问</a:t>
            </a:r>
            <a:r>
              <a:rPr lang="en-US" altLang="zh-CN" dirty="0" smtClean="0">
                <a:ea typeface="宋体" panose="02010600030101010101" pitchFamily="2" charset="-122"/>
              </a:rPr>
              <a:t>16</a:t>
            </a:r>
            <a:r>
              <a:rPr lang="zh-CN" altLang="en-US" dirty="0" smtClean="0">
                <a:ea typeface="宋体" panose="02010600030101010101" pitchFamily="2" charset="-122"/>
              </a:rPr>
              <a:t>位地址的方法：使用基址</a:t>
            </a:r>
            <a:r>
              <a:rPr lang="en-US" altLang="zh-CN" dirty="0" smtClean="0">
                <a:ea typeface="宋体" panose="02010600030101010101" pitchFamily="2" charset="-122"/>
              </a:rPr>
              <a:t>+</a:t>
            </a:r>
            <a:r>
              <a:rPr lang="zh-CN" altLang="en-US" dirty="0" smtClean="0">
                <a:ea typeface="宋体" panose="02010600030101010101" pitchFamily="2" charset="-122"/>
              </a:rPr>
              <a:t>偏移的模式</a:t>
            </a:r>
            <a:r>
              <a:rPr lang="en-US" altLang="zh-CN" dirty="0" smtClean="0">
                <a:ea typeface="宋体" panose="02010600030101010101" pitchFamily="2" charset="-122"/>
              </a:rPr>
              <a:t>: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dirty="0" smtClean="0">
                <a:ea typeface="宋体" panose="02010600030101010101" pitchFamily="2" charset="-122"/>
              </a:rPr>
              <a:t>基地</a:t>
            </a:r>
            <a:r>
              <a:rPr lang="en-US" altLang="zh-CN" dirty="0" smtClean="0">
                <a:ea typeface="宋体" panose="02010600030101010101" pitchFamily="2" charset="-122"/>
              </a:rPr>
              <a:t>add offset to base register -- result is memory address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en-US" altLang="zh-CN" dirty="0" smtClean="0">
                <a:ea typeface="宋体" panose="02010600030101010101" pitchFamily="2" charset="-122"/>
              </a:rPr>
              <a:t>load from memory address into destination register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指令编码 例</a:t>
            </a:r>
            <a:r>
              <a:rPr lang="en-US" altLang="zh-CN" dirty="0" smtClean="0">
                <a:ea typeface="宋体" panose="02010600030101010101" pitchFamily="2" charset="-122"/>
              </a:rPr>
              <a:t>: LC-3</a:t>
            </a:r>
            <a:r>
              <a:rPr lang="zh-CN" altLang="en-US" dirty="0" smtClean="0">
                <a:ea typeface="宋体" panose="02010600030101010101" pitchFamily="2" charset="-122"/>
              </a:rPr>
              <a:t>的</a:t>
            </a:r>
            <a:r>
              <a:rPr lang="en-US" altLang="zh-CN" dirty="0" smtClean="0">
                <a:ea typeface="宋体" panose="02010600030101010101" pitchFamily="2" charset="-122"/>
              </a:rPr>
              <a:t>LDR</a:t>
            </a:r>
            <a:r>
              <a:rPr lang="zh-CN" altLang="en-US" dirty="0" smtClean="0">
                <a:ea typeface="宋体" panose="02010600030101010101" pitchFamily="2" charset="-122"/>
              </a:rPr>
              <a:t>指令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14341" name="Text Box 6"/>
          <p:cNvSpPr txBox="1">
            <a:spLocks noChangeArrowheads="1"/>
          </p:cNvSpPr>
          <p:nvPr/>
        </p:nvSpPr>
        <p:spPr bwMode="auto">
          <a:xfrm>
            <a:off x="914400" y="6135687"/>
            <a:ext cx="7170553" cy="5027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000" i="1" dirty="0">
                <a:solidFill>
                  <a:srgbClr val="FF0000"/>
                </a:solidFill>
                <a:ea typeface="宋体" panose="02010600030101010101" pitchFamily="2" charset="-122"/>
              </a:rPr>
              <a:t>“Add the value 6 to the contents of R3 to form </a:t>
            </a:r>
            <a:r>
              <a:rPr lang="en-US" altLang="zh-CN" sz="2000" i="1" dirty="0" smtClean="0">
                <a:solidFill>
                  <a:srgbClr val="FF0000"/>
                </a:solidFill>
                <a:ea typeface="宋体" panose="02010600030101010101" pitchFamily="2" charset="-122"/>
              </a:rPr>
              <a:t>a memory </a:t>
            </a:r>
            <a:r>
              <a:rPr lang="en-US" altLang="zh-CN" sz="2000" i="1" dirty="0">
                <a:solidFill>
                  <a:srgbClr val="FF0000"/>
                </a:solidFill>
                <a:ea typeface="宋体" panose="02010600030101010101" pitchFamily="2" charset="-122"/>
              </a:rPr>
              <a:t>address.  Load the contents of that </a:t>
            </a:r>
            <a:endParaRPr lang="en-US" altLang="zh-CN" sz="2000" i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algn="l"/>
            <a:r>
              <a:rPr lang="en-US" altLang="zh-CN" sz="2000" i="1" dirty="0">
                <a:solidFill>
                  <a:srgbClr val="FF0000"/>
                </a:solidFill>
                <a:ea typeface="宋体" panose="02010600030101010101" pitchFamily="2" charset="-122"/>
              </a:rPr>
              <a:t>memory location to R2.”</a:t>
            </a:r>
            <a:endParaRPr lang="en-US" altLang="zh-CN" sz="2000" i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pic>
        <p:nvPicPr>
          <p:cNvPr id="14342" name="Picture 8" descr="C:\Documents and Settings\Greg Byrd\My Documents\ece206\mh-slides\ch04\ch04-12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38200" y="4154785"/>
            <a:ext cx="7315200" cy="182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指令编码 例</a:t>
            </a:r>
            <a:r>
              <a:rPr lang="en-US" altLang="zh-CN" dirty="0">
                <a:ea typeface="宋体" panose="02010600030101010101" pitchFamily="2" charset="-122"/>
              </a:rPr>
              <a:t>: </a:t>
            </a:r>
            <a:r>
              <a:rPr lang="en-US" altLang="zh-CN" dirty="0" smtClean="0">
                <a:ea typeface="宋体" panose="02010600030101010101" pitchFamily="2" charset="-122"/>
              </a:rPr>
              <a:t>LC-3</a:t>
            </a:r>
            <a:r>
              <a:rPr lang="zh-CN" altLang="en-US" dirty="0">
                <a:ea typeface="宋体" panose="02010600030101010101" pitchFamily="2" charset="-122"/>
              </a:rPr>
              <a:t>的</a:t>
            </a:r>
            <a:r>
              <a:rPr lang="en-US" altLang="zh-CN" dirty="0" smtClean="0">
                <a:ea typeface="宋体" panose="02010600030101010101" pitchFamily="2" charset="-122"/>
              </a:rPr>
              <a:t>JMP </a:t>
            </a:r>
            <a:r>
              <a:rPr lang="zh-CN" altLang="en-US" dirty="0" smtClean="0">
                <a:ea typeface="宋体" panose="02010600030101010101" pitchFamily="2" charset="-122"/>
              </a:rPr>
              <a:t>指令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把</a:t>
            </a:r>
            <a:r>
              <a:rPr lang="en-US" altLang="zh-CN" dirty="0" smtClean="0">
                <a:ea typeface="宋体" panose="02010600030101010101" pitchFamily="2" charset="-122"/>
              </a:rPr>
              <a:t> PC </a:t>
            </a:r>
            <a:r>
              <a:rPr lang="zh-CN" altLang="en-US" dirty="0" smtClean="0">
                <a:ea typeface="宋体" panose="02010600030101010101" pitchFamily="2" charset="-122"/>
              </a:rPr>
              <a:t>值改写为某个寄存器的内容。改变下一条要执行的指令地址为寄存器里面存放的地址值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22533" name="Text Box 6"/>
          <p:cNvSpPr txBox="1">
            <a:spLocks noChangeArrowheads="1"/>
          </p:cNvSpPr>
          <p:nvPr/>
        </p:nvSpPr>
        <p:spPr bwMode="auto">
          <a:xfrm>
            <a:off x="2411760" y="5267763"/>
            <a:ext cx="3632726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</a:rPr>
              <a:t>“Load the contents of R3 into the PC.”</a:t>
            </a:r>
            <a:endParaRPr lang="en-US" altLang="zh-CN" sz="2400" i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pic>
        <p:nvPicPr>
          <p:cNvPr id="22534" name="Picture 9" descr="C:\Documents and Settings\gbyrd\My Documents\ece206\mh-slides\ch04\ch04-20-lc3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27584" y="2996952"/>
            <a:ext cx="7313613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指令周期的六个步骤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1714500" y="2438400"/>
            <a:ext cx="4343400" cy="379591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800" dirty="0" smtClean="0">
                <a:solidFill>
                  <a:schemeClr val="accent2"/>
                </a:solidFill>
                <a:ea typeface="宋体" panose="02010600030101010101" pitchFamily="2" charset="-122"/>
              </a:rPr>
              <a:t>Decode</a:t>
            </a:r>
            <a:r>
              <a:rPr lang="zh-CN" altLang="en-US" sz="2800" dirty="0" smtClean="0">
                <a:solidFill>
                  <a:schemeClr val="accent2"/>
                </a:solidFill>
                <a:ea typeface="宋体" panose="02010600030101010101" pitchFamily="2" charset="-122"/>
              </a:rPr>
              <a:t>：译码</a:t>
            </a:r>
            <a:endParaRPr lang="en-US" altLang="zh-CN" sz="2800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11269" name="Line 18"/>
          <p:cNvSpPr>
            <a:spLocks noChangeShapeType="1"/>
          </p:cNvSpPr>
          <p:nvPr/>
        </p:nvSpPr>
        <p:spPr bwMode="auto">
          <a:xfrm>
            <a:off x="2324100" y="20574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70" name="Line 19"/>
          <p:cNvSpPr>
            <a:spLocks noChangeShapeType="1"/>
          </p:cNvSpPr>
          <p:nvPr/>
        </p:nvSpPr>
        <p:spPr bwMode="auto">
          <a:xfrm>
            <a:off x="2324100" y="28956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71" name="Line 20"/>
          <p:cNvSpPr>
            <a:spLocks noChangeShapeType="1"/>
          </p:cNvSpPr>
          <p:nvPr/>
        </p:nvSpPr>
        <p:spPr bwMode="auto">
          <a:xfrm>
            <a:off x="2324100" y="37338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72" name="Line 21"/>
          <p:cNvSpPr>
            <a:spLocks noChangeShapeType="1"/>
          </p:cNvSpPr>
          <p:nvPr/>
        </p:nvSpPr>
        <p:spPr bwMode="auto">
          <a:xfrm>
            <a:off x="2324100" y="45720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73" name="Line 22"/>
          <p:cNvSpPr>
            <a:spLocks noChangeShapeType="1"/>
          </p:cNvSpPr>
          <p:nvPr/>
        </p:nvSpPr>
        <p:spPr bwMode="auto">
          <a:xfrm>
            <a:off x="2324100" y="54102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110" name="Text Box 6"/>
          <p:cNvSpPr txBox="1">
            <a:spLocks noChangeArrowheads="1"/>
          </p:cNvSpPr>
          <p:nvPr/>
        </p:nvSpPr>
        <p:spPr bwMode="auto">
          <a:xfrm>
            <a:off x="1714500" y="3276600"/>
            <a:ext cx="4343400" cy="379591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Evaluate </a:t>
            </a:r>
            <a:r>
              <a:rPr lang="en-US" altLang="zh-CN" sz="2800" dirty="0" smtClean="0">
                <a:solidFill>
                  <a:schemeClr val="accent2"/>
                </a:solidFill>
                <a:ea typeface="宋体" panose="02010600030101010101" pitchFamily="2" charset="-122"/>
              </a:rPr>
              <a:t>address</a:t>
            </a:r>
            <a:r>
              <a:rPr lang="zh-CN" altLang="en-US" sz="2800" dirty="0" smtClean="0">
                <a:solidFill>
                  <a:schemeClr val="accent2"/>
                </a:solidFill>
                <a:ea typeface="宋体" panose="02010600030101010101" pitchFamily="2" charset="-122"/>
              </a:rPr>
              <a:t>：地址计算</a:t>
            </a:r>
            <a:endParaRPr lang="en-US" altLang="zh-CN" sz="2800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47111" name="Text Box 7"/>
          <p:cNvSpPr txBox="1">
            <a:spLocks noChangeArrowheads="1"/>
          </p:cNvSpPr>
          <p:nvPr/>
        </p:nvSpPr>
        <p:spPr bwMode="auto">
          <a:xfrm>
            <a:off x="1714500" y="4114800"/>
            <a:ext cx="4343400" cy="379591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800" dirty="0" smtClean="0">
                <a:solidFill>
                  <a:schemeClr val="accent2"/>
                </a:solidFill>
                <a:ea typeface="宋体" panose="02010600030101010101" pitchFamily="2" charset="-122"/>
              </a:rPr>
              <a:t>Fetch operands </a:t>
            </a:r>
            <a:r>
              <a:rPr lang="zh-CN" altLang="en-US" sz="2800" dirty="0" smtClean="0">
                <a:solidFill>
                  <a:schemeClr val="accent2"/>
                </a:solidFill>
                <a:ea typeface="宋体" panose="02010600030101010101" pitchFamily="2" charset="-122"/>
              </a:rPr>
              <a:t>：取操作数</a:t>
            </a:r>
            <a:endParaRPr lang="en-US" altLang="zh-CN" sz="2800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47112" name="Text Box 8"/>
          <p:cNvSpPr txBox="1">
            <a:spLocks noChangeArrowheads="1"/>
          </p:cNvSpPr>
          <p:nvPr/>
        </p:nvSpPr>
        <p:spPr bwMode="auto">
          <a:xfrm>
            <a:off x="1714500" y="4953000"/>
            <a:ext cx="4343400" cy="379591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800" dirty="0" smtClean="0">
                <a:solidFill>
                  <a:schemeClr val="accent2"/>
                </a:solidFill>
                <a:ea typeface="宋体" panose="02010600030101010101" pitchFamily="2" charset="-122"/>
              </a:rPr>
              <a:t>Execute</a:t>
            </a:r>
            <a:r>
              <a:rPr lang="zh-CN" altLang="en-US" sz="2800" dirty="0" smtClean="0">
                <a:solidFill>
                  <a:schemeClr val="accent2"/>
                </a:solidFill>
                <a:ea typeface="宋体" panose="02010600030101010101" pitchFamily="2" charset="-122"/>
              </a:rPr>
              <a:t>：执行</a:t>
            </a:r>
            <a:endParaRPr lang="en-US" altLang="zh-CN" sz="2800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11277" name="Line 25"/>
          <p:cNvSpPr>
            <a:spLocks noChangeShapeType="1"/>
          </p:cNvSpPr>
          <p:nvPr/>
        </p:nvSpPr>
        <p:spPr bwMode="auto">
          <a:xfrm>
            <a:off x="2324100" y="62484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78" name="Line 26"/>
          <p:cNvSpPr>
            <a:spLocks noChangeShapeType="1"/>
          </p:cNvSpPr>
          <p:nvPr/>
        </p:nvSpPr>
        <p:spPr bwMode="auto">
          <a:xfrm flipH="1">
            <a:off x="1485900" y="6553200"/>
            <a:ext cx="838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79" name="Line 27"/>
          <p:cNvSpPr>
            <a:spLocks noChangeShapeType="1"/>
          </p:cNvSpPr>
          <p:nvPr/>
        </p:nvSpPr>
        <p:spPr bwMode="auto">
          <a:xfrm flipV="1">
            <a:off x="1485900" y="1295400"/>
            <a:ext cx="0" cy="5257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80" name="Line 28"/>
          <p:cNvSpPr>
            <a:spLocks noChangeShapeType="1"/>
          </p:cNvSpPr>
          <p:nvPr/>
        </p:nvSpPr>
        <p:spPr bwMode="auto">
          <a:xfrm>
            <a:off x="1485900" y="1295400"/>
            <a:ext cx="838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81" name="Line 29"/>
          <p:cNvSpPr>
            <a:spLocks noChangeShapeType="1"/>
          </p:cNvSpPr>
          <p:nvPr/>
        </p:nvSpPr>
        <p:spPr bwMode="auto">
          <a:xfrm>
            <a:off x="2324100" y="12954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113" name="Text Box 9"/>
          <p:cNvSpPr txBox="1">
            <a:spLocks noChangeArrowheads="1"/>
          </p:cNvSpPr>
          <p:nvPr/>
        </p:nvSpPr>
        <p:spPr bwMode="auto">
          <a:xfrm>
            <a:off x="1714500" y="5791200"/>
            <a:ext cx="4343400" cy="379591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Store </a:t>
            </a:r>
            <a:r>
              <a:rPr lang="en-US" altLang="zh-CN" sz="2800" dirty="0" smtClean="0">
                <a:solidFill>
                  <a:schemeClr val="accent2"/>
                </a:solidFill>
                <a:ea typeface="宋体" panose="02010600030101010101" pitchFamily="2" charset="-122"/>
              </a:rPr>
              <a:t>result</a:t>
            </a:r>
            <a:r>
              <a:rPr lang="zh-CN" altLang="en-US" sz="2800" dirty="0" smtClean="0">
                <a:solidFill>
                  <a:schemeClr val="accent2"/>
                </a:solidFill>
                <a:ea typeface="宋体" panose="02010600030101010101" pitchFamily="2" charset="-122"/>
              </a:rPr>
              <a:t>：存放结果</a:t>
            </a:r>
            <a:endParaRPr lang="en-US" altLang="zh-CN" sz="2800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1714500" y="1600200"/>
            <a:ext cx="4297660" cy="379591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zh-CN" sz="2800" dirty="0" smtClean="0">
                <a:solidFill>
                  <a:schemeClr val="accent2"/>
                </a:solidFill>
                <a:ea typeface="宋体" panose="02010600030101010101" pitchFamily="2" charset="-122"/>
              </a:rPr>
              <a:t>Fetch </a:t>
            </a:r>
            <a:r>
              <a:rPr lang="zh-CN" altLang="en-US" sz="2800" dirty="0" smtClean="0">
                <a:solidFill>
                  <a:schemeClr val="accent2"/>
                </a:solidFill>
                <a:ea typeface="宋体" panose="02010600030101010101" pitchFamily="2" charset="-122"/>
              </a:rPr>
              <a:t>：取指令</a:t>
            </a:r>
            <a:endParaRPr lang="en-US" altLang="zh-CN" sz="2800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指令周期</a:t>
            </a:r>
            <a:r>
              <a:rPr lang="en-US" altLang="zh-CN" dirty="0" smtClean="0">
                <a:ea typeface="宋体" panose="02010600030101010101" pitchFamily="2" charset="-122"/>
              </a:rPr>
              <a:t>: FETCH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1328"/>
            <a:ext cx="6923112" cy="4525963"/>
          </a:xfrm>
        </p:spPr>
        <p:txBody>
          <a:bodyPr>
            <a:normAutofit/>
          </a:bodyPr>
          <a:lstStyle/>
          <a:p>
            <a:r>
              <a:rPr lang="zh-CN" altLang="en-US" sz="3200" dirty="0" smtClean="0">
                <a:ea typeface="宋体" panose="02010600030101010101" pitchFamily="2" charset="-122"/>
              </a:rPr>
              <a:t>从内存中取下一条指令</a:t>
            </a:r>
            <a:r>
              <a:rPr lang="en-US" altLang="zh-CN" sz="3200" dirty="0" smtClean="0">
                <a:ea typeface="宋体" panose="02010600030101010101" pitchFamily="2" charset="-122"/>
              </a:rPr>
              <a:t>(</a:t>
            </a:r>
            <a:r>
              <a:rPr lang="zh-CN" altLang="en-US" sz="3200" dirty="0" smtClean="0">
                <a:ea typeface="宋体" panose="02010600030101010101" pitchFamily="2" charset="-122"/>
              </a:rPr>
              <a:t>地址存放在</a:t>
            </a:r>
            <a:r>
              <a:rPr lang="en-US" altLang="zh-CN" sz="3200" dirty="0" smtClean="0">
                <a:ea typeface="宋体" panose="02010600030101010101" pitchFamily="2" charset="-122"/>
              </a:rPr>
              <a:t> PC</a:t>
            </a:r>
            <a:r>
              <a:rPr lang="zh-CN" altLang="en-US" sz="3200" dirty="0" smtClean="0">
                <a:ea typeface="宋体" panose="02010600030101010101" pitchFamily="2" charset="-122"/>
              </a:rPr>
              <a:t>寄存器</a:t>
            </a:r>
            <a:r>
              <a:rPr lang="en-US" altLang="zh-CN" sz="3200" dirty="0" smtClean="0">
                <a:ea typeface="宋体" panose="02010600030101010101" pitchFamily="2" charset="-122"/>
              </a:rPr>
              <a:t>) </a:t>
            </a:r>
            <a:r>
              <a:rPr lang="zh-CN" altLang="en-US" sz="3200" dirty="0" smtClean="0">
                <a:ea typeface="宋体" panose="02010600030101010101" pitchFamily="2" charset="-122"/>
              </a:rPr>
              <a:t>到指令寄存器</a:t>
            </a:r>
            <a:r>
              <a:rPr lang="en-US" altLang="zh-CN" sz="3200" dirty="0" smtClean="0">
                <a:ea typeface="宋体" panose="02010600030101010101" pitchFamily="2" charset="-122"/>
              </a:rPr>
              <a:t> (IR)</a:t>
            </a:r>
            <a:r>
              <a:rPr lang="zh-CN" altLang="en-US" sz="3200" dirty="0" smtClean="0">
                <a:ea typeface="宋体" panose="02010600030101010101" pitchFamily="2" charset="-122"/>
              </a:rPr>
              <a:t>。</a:t>
            </a:r>
            <a:endParaRPr lang="en-US" altLang="zh-CN" sz="3200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sz="3200" dirty="0" smtClean="0">
                <a:ea typeface="宋体" panose="02010600030101010101" pitchFamily="2" charset="-122"/>
              </a:rPr>
              <a:t>把</a:t>
            </a:r>
            <a:r>
              <a:rPr lang="en-US" altLang="zh-CN" sz="3200" dirty="0" smtClean="0">
                <a:ea typeface="宋体" panose="02010600030101010101" pitchFamily="2" charset="-122"/>
              </a:rPr>
              <a:t>PC</a:t>
            </a:r>
            <a:r>
              <a:rPr lang="zh-CN" altLang="en-US" sz="3200" dirty="0" smtClean="0">
                <a:ea typeface="宋体" panose="02010600030101010101" pitchFamily="2" charset="-122"/>
              </a:rPr>
              <a:t>中存放的内容拷贝到内存的</a:t>
            </a:r>
            <a:r>
              <a:rPr lang="en-US" altLang="zh-CN" sz="3200" dirty="0" smtClean="0">
                <a:ea typeface="宋体" panose="02010600030101010101" pitchFamily="2" charset="-122"/>
              </a:rPr>
              <a:t>MAR</a:t>
            </a:r>
            <a:r>
              <a:rPr lang="zh-CN" altLang="en-US" sz="3200" dirty="0" smtClean="0">
                <a:ea typeface="宋体" panose="02010600030101010101" pitchFamily="2" charset="-122"/>
              </a:rPr>
              <a:t>寄存器中。</a:t>
            </a:r>
            <a:endParaRPr lang="en-US" altLang="zh-CN" sz="3200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sz="3200" dirty="0" smtClean="0">
                <a:ea typeface="宋体" panose="02010600030101010101" pitchFamily="2" charset="-122"/>
              </a:rPr>
              <a:t>给内存发读信号。</a:t>
            </a:r>
            <a:endParaRPr lang="en-US" altLang="zh-CN" sz="3200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sz="3200" dirty="0" smtClean="0">
                <a:ea typeface="宋体" panose="02010600030101010101" pitchFamily="2" charset="-122"/>
              </a:rPr>
              <a:t>拷贝</a:t>
            </a:r>
            <a:r>
              <a:rPr lang="en-US" altLang="zh-CN" sz="3200" dirty="0" smtClean="0">
                <a:ea typeface="宋体" panose="02010600030101010101" pitchFamily="2" charset="-122"/>
              </a:rPr>
              <a:t>MDR</a:t>
            </a:r>
            <a:r>
              <a:rPr lang="zh-CN" altLang="en-US" sz="3200" dirty="0" smtClean="0">
                <a:ea typeface="宋体" panose="02010600030101010101" pitchFamily="2" charset="-122"/>
              </a:rPr>
              <a:t>的内容到</a:t>
            </a:r>
            <a:r>
              <a:rPr lang="en-US" altLang="zh-CN" sz="3200" dirty="0" smtClean="0">
                <a:ea typeface="宋体" panose="02010600030101010101" pitchFamily="2" charset="-122"/>
              </a:rPr>
              <a:t>IR</a:t>
            </a:r>
            <a:r>
              <a:rPr lang="zh-CN" altLang="en-US" sz="3200" dirty="0" smtClean="0">
                <a:ea typeface="宋体" panose="02010600030101010101" pitchFamily="2" charset="-122"/>
              </a:rPr>
              <a:t>寄存器中。</a:t>
            </a:r>
            <a:endParaRPr lang="en-US" altLang="zh-CN" sz="3200" dirty="0" smtClean="0">
              <a:ea typeface="宋体" panose="02010600030101010101" pitchFamily="2" charset="-122"/>
            </a:endParaRPr>
          </a:p>
          <a:p>
            <a:pPr lvl="1"/>
            <a:r>
              <a:rPr lang="en-US" altLang="zh-CN" sz="3200" dirty="0" smtClean="0">
                <a:ea typeface="宋体" panose="02010600030101010101" pitchFamily="2" charset="-122"/>
              </a:rPr>
              <a:t>PC=PC+1, PC</a:t>
            </a:r>
            <a:r>
              <a:rPr lang="zh-CN" altLang="en-US" sz="3200" dirty="0" smtClean="0">
                <a:ea typeface="宋体" panose="02010600030101010101" pitchFamily="2" charset="-122"/>
              </a:rPr>
              <a:t>指向下一条待执行的指令。</a:t>
            </a:r>
            <a:endParaRPr lang="en-US" altLang="zh-CN" sz="3200" dirty="0" smtClean="0">
              <a:ea typeface="宋体" panose="02010600030101010101" pitchFamily="2" charset="-122"/>
            </a:endParaRPr>
          </a:p>
          <a:p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15365" name="Line 5"/>
          <p:cNvSpPr>
            <a:spLocks noChangeShapeType="1"/>
          </p:cNvSpPr>
          <p:nvPr/>
        </p:nvSpPr>
        <p:spPr bwMode="auto">
          <a:xfrm>
            <a:off x="8077200" y="19050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66" name="Line 6"/>
          <p:cNvSpPr>
            <a:spLocks noChangeShapeType="1"/>
          </p:cNvSpPr>
          <p:nvPr/>
        </p:nvSpPr>
        <p:spPr bwMode="auto">
          <a:xfrm>
            <a:off x="8101013" y="27432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67" name="Line 7"/>
          <p:cNvSpPr>
            <a:spLocks noChangeShapeType="1"/>
          </p:cNvSpPr>
          <p:nvPr/>
        </p:nvSpPr>
        <p:spPr bwMode="auto">
          <a:xfrm>
            <a:off x="8077200" y="35814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68" name="Line 8"/>
          <p:cNvSpPr>
            <a:spLocks noChangeShapeType="1"/>
          </p:cNvSpPr>
          <p:nvPr/>
        </p:nvSpPr>
        <p:spPr bwMode="auto">
          <a:xfrm>
            <a:off x="8056563" y="44196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69" name="Line 9"/>
          <p:cNvSpPr>
            <a:spLocks noChangeShapeType="1"/>
          </p:cNvSpPr>
          <p:nvPr/>
        </p:nvSpPr>
        <p:spPr bwMode="auto">
          <a:xfrm>
            <a:off x="8070850" y="52578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234" name="Text Box 10"/>
          <p:cNvSpPr txBox="1">
            <a:spLocks noChangeArrowheads="1"/>
          </p:cNvSpPr>
          <p:nvPr/>
        </p:nvSpPr>
        <p:spPr bwMode="auto">
          <a:xfrm>
            <a:off x="7772400" y="31242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EA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2235" name="Text Box 11"/>
          <p:cNvSpPr txBox="1">
            <a:spLocks noChangeArrowheads="1"/>
          </p:cNvSpPr>
          <p:nvPr/>
        </p:nvSpPr>
        <p:spPr bwMode="auto">
          <a:xfrm>
            <a:off x="7772400" y="39624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OP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2236" name="Text Box 12"/>
          <p:cNvSpPr txBox="1">
            <a:spLocks noChangeArrowheads="1"/>
          </p:cNvSpPr>
          <p:nvPr/>
        </p:nvSpPr>
        <p:spPr bwMode="auto">
          <a:xfrm>
            <a:off x="7772400" y="48006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EX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15373" name="Line 13"/>
          <p:cNvSpPr>
            <a:spLocks noChangeShapeType="1"/>
          </p:cNvSpPr>
          <p:nvPr/>
        </p:nvSpPr>
        <p:spPr bwMode="auto">
          <a:xfrm>
            <a:off x="8077200" y="6096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74" name="Line 14"/>
          <p:cNvSpPr>
            <a:spLocks noChangeShapeType="1"/>
          </p:cNvSpPr>
          <p:nvPr/>
        </p:nvSpPr>
        <p:spPr bwMode="auto">
          <a:xfrm flipH="1">
            <a:off x="7543800" y="64008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75" name="Line 15"/>
          <p:cNvSpPr>
            <a:spLocks noChangeShapeType="1"/>
          </p:cNvSpPr>
          <p:nvPr/>
        </p:nvSpPr>
        <p:spPr bwMode="auto">
          <a:xfrm flipV="1">
            <a:off x="7543800" y="1143000"/>
            <a:ext cx="0" cy="5257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76" name="Line 16"/>
          <p:cNvSpPr>
            <a:spLocks noChangeShapeType="1"/>
          </p:cNvSpPr>
          <p:nvPr/>
        </p:nvSpPr>
        <p:spPr bwMode="auto">
          <a:xfrm>
            <a:off x="7543800" y="11430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77" name="Line 17"/>
          <p:cNvSpPr>
            <a:spLocks noChangeShapeType="1"/>
          </p:cNvSpPr>
          <p:nvPr/>
        </p:nvSpPr>
        <p:spPr bwMode="auto">
          <a:xfrm>
            <a:off x="8077200" y="1143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242" name="Text Box 18"/>
          <p:cNvSpPr txBox="1">
            <a:spLocks noChangeArrowheads="1"/>
          </p:cNvSpPr>
          <p:nvPr/>
        </p:nvSpPr>
        <p:spPr bwMode="auto">
          <a:xfrm>
            <a:off x="7772400" y="56388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S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2243" name="Text Box 19"/>
          <p:cNvSpPr txBox="1">
            <a:spLocks noChangeArrowheads="1"/>
          </p:cNvSpPr>
          <p:nvPr/>
        </p:nvSpPr>
        <p:spPr bwMode="auto">
          <a:xfrm>
            <a:off x="7772400" y="1447800"/>
            <a:ext cx="685800" cy="4667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>
                <a:solidFill>
                  <a:schemeClr val="bg1"/>
                </a:solidFill>
                <a:ea typeface="宋体" panose="02010600030101010101" pitchFamily="2" charset="-122"/>
              </a:rPr>
              <a:t>F</a:t>
            </a:r>
            <a:endParaRPr lang="en-US" altLang="zh-CN" b="1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7772400" y="22860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D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指令周期</a:t>
            </a:r>
            <a:r>
              <a:rPr lang="en-US" altLang="zh-CN" dirty="0" smtClean="0">
                <a:ea typeface="宋体" panose="02010600030101010101" pitchFamily="2" charset="-122"/>
              </a:rPr>
              <a:t>:  DECODE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1328"/>
            <a:ext cx="6851104" cy="4525963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ea typeface="宋体" panose="02010600030101010101" pitchFamily="2" charset="-122"/>
              </a:rPr>
              <a:t>首先从指令中识别操作码（</a:t>
            </a:r>
            <a:r>
              <a:rPr lang="en-US" altLang="zh-CN" dirty="0" err="1" smtClean="0">
                <a:ea typeface="宋体" panose="02010600030101010101" pitchFamily="2" charset="-122"/>
              </a:rPr>
              <a:t>opcode</a:t>
            </a:r>
            <a:r>
              <a:rPr lang="zh-CN" altLang="en-US" dirty="0" smtClean="0">
                <a:ea typeface="宋体" panose="02010600030101010101" pitchFamily="2" charset="-122"/>
              </a:rPr>
              <a:t>）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en-US" altLang="zh-CN" dirty="0" smtClean="0">
                <a:ea typeface="宋体" panose="02010600030101010101" pitchFamily="2" charset="-122"/>
              </a:rPr>
              <a:t>LC-3</a:t>
            </a:r>
            <a:r>
              <a:rPr lang="zh-CN" altLang="en-US" dirty="0" smtClean="0">
                <a:ea typeface="宋体" panose="02010600030101010101" pitchFamily="2" charset="-122"/>
              </a:rPr>
              <a:t>：指令的高</a:t>
            </a:r>
            <a:r>
              <a:rPr lang="en-US" altLang="zh-CN" dirty="0" smtClean="0">
                <a:ea typeface="宋体" panose="02010600030101010101" pitchFamily="2" charset="-122"/>
              </a:rPr>
              <a:t>4</a:t>
            </a:r>
            <a:r>
              <a:rPr lang="zh-CN" altLang="en-US" dirty="0" smtClean="0">
                <a:ea typeface="宋体" panose="02010600030101010101" pitchFamily="2" charset="-122"/>
              </a:rPr>
              <a:t>位总是操作码。利用一个</a:t>
            </a:r>
            <a:r>
              <a:rPr lang="en-US" altLang="zh-CN" dirty="0" smtClean="0">
                <a:ea typeface="宋体" panose="02010600030101010101" pitchFamily="2" charset="-122"/>
              </a:rPr>
              <a:t> 4-to-16 </a:t>
            </a:r>
            <a:r>
              <a:rPr lang="zh-CN" altLang="en-US" dirty="0" smtClean="0">
                <a:ea typeface="宋体" panose="02010600030101010101" pitchFamily="2" charset="-122"/>
              </a:rPr>
              <a:t>译码器对操作码译码，有效对应的控制线</a:t>
            </a:r>
            <a:r>
              <a:rPr lang="en-US" altLang="zh-CN" dirty="0" smtClean="0">
                <a:ea typeface="宋体" panose="02010600030101010101" pitchFamily="2" charset="-122"/>
              </a:rPr>
              <a:t>.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r>
              <a:rPr lang="zh-CN" altLang="en-US" dirty="0" smtClean="0">
                <a:ea typeface="宋体" panose="02010600030101010101" pitchFamily="2" charset="-122"/>
              </a:rPr>
              <a:t>根据操作码，确定对应的操作数。操作码不同，需要的操作数和定义不同。</a:t>
            </a:r>
            <a:br>
              <a:rPr lang="en-US" altLang="zh-CN" dirty="0" smtClean="0">
                <a:ea typeface="宋体" panose="02010600030101010101" pitchFamily="2" charset="-122"/>
              </a:rPr>
            </a:br>
            <a:r>
              <a:rPr lang="zh-CN" altLang="en-US" dirty="0" smtClean="0">
                <a:ea typeface="宋体" panose="02010600030101010101" pitchFamily="2" charset="-122"/>
              </a:rPr>
              <a:t>例</a:t>
            </a:r>
            <a:r>
              <a:rPr lang="en-US" altLang="zh-CN" dirty="0" smtClean="0">
                <a:ea typeface="宋体" panose="02010600030101010101" pitchFamily="2" charset="-122"/>
              </a:rPr>
              <a:t>: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2"/>
            <a:r>
              <a:rPr lang="zh-CN" altLang="en-US" dirty="0" smtClean="0">
                <a:ea typeface="宋体" panose="02010600030101010101" pitchFamily="2" charset="-122"/>
              </a:rPr>
              <a:t>指令</a:t>
            </a:r>
            <a:r>
              <a:rPr lang="en-US" altLang="zh-CN" dirty="0" smtClean="0">
                <a:ea typeface="宋体" panose="02010600030101010101" pitchFamily="2" charset="-122"/>
              </a:rPr>
              <a:t>LDR, </a:t>
            </a:r>
            <a:r>
              <a:rPr lang="zh-CN" altLang="en-US" dirty="0" smtClean="0">
                <a:ea typeface="宋体" panose="02010600030101010101" pitchFamily="2" charset="-122"/>
              </a:rPr>
              <a:t>最后六位是地址偏移 （</a:t>
            </a:r>
            <a:r>
              <a:rPr lang="en-US" altLang="zh-CN" dirty="0" smtClean="0">
                <a:ea typeface="宋体" panose="02010600030101010101" pitchFamily="2" charset="-122"/>
              </a:rPr>
              <a:t>offset)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2"/>
            <a:r>
              <a:rPr lang="zh-CN" altLang="en-US" dirty="0" smtClean="0">
                <a:ea typeface="宋体" panose="02010600030101010101" pitchFamily="2" charset="-122"/>
              </a:rPr>
              <a:t>指令</a:t>
            </a:r>
            <a:r>
              <a:rPr lang="en-US" altLang="zh-CN" dirty="0" smtClean="0">
                <a:ea typeface="宋体" panose="02010600030101010101" pitchFamily="2" charset="-122"/>
              </a:rPr>
              <a:t>ADD, </a:t>
            </a:r>
            <a:r>
              <a:rPr lang="zh-CN" altLang="en-US" dirty="0" smtClean="0">
                <a:ea typeface="宋体" panose="02010600030101010101" pitchFamily="2" charset="-122"/>
              </a:rPr>
              <a:t>最后三位定义了参与运算的第二个源操作数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16389" name="Line 5"/>
          <p:cNvSpPr>
            <a:spLocks noChangeShapeType="1"/>
          </p:cNvSpPr>
          <p:nvPr/>
        </p:nvSpPr>
        <p:spPr bwMode="auto">
          <a:xfrm>
            <a:off x="8077200" y="19050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90" name="Line 6"/>
          <p:cNvSpPr>
            <a:spLocks noChangeShapeType="1"/>
          </p:cNvSpPr>
          <p:nvPr/>
        </p:nvSpPr>
        <p:spPr bwMode="auto">
          <a:xfrm>
            <a:off x="8101013" y="27432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91" name="Line 7"/>
          <p:cNvSpPr>
            <a:spLocks noChangeShapeType="1"/>
          </p:cNvSpPr>
          <p:nvPr/>
        </p:nvSpPr>
        <p:spPr bwMode="auto">
          <a:xfrm>
            <a:off x="8077200" y="35814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92" name="Line 8"/>
          <p:cNvSpPr>
            <a:spLocks noChangeShapeType="1"/>
          </p:cNvSpPr>
          <p:nvPr/>
        </p:nvSpPr>
        <p:spPr bwMode="auto">
          <a:xfrm>
            <a:off x="8056563" y="44196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93" name="Line 9"/>
          <p:cNvSpPr>
            <a:spLocks noChangeShapeType="1"/>
          </p:cNvSpPr>
          <p:nvPr/>
        </p:nvSpPr>
        <p:spPr bwMode="auto">
          <a:xfrm>
            <a:off x="8070850" y="52578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258" name="Text Box 10"/>
          <p:cNvSpPr txBox="1">
            <a:spLocks noChangeArrowheads="1"/>
          </p:cNvSpPr>
          <p:nvPr/>
        </p:nvSpPr>
        <p:spPr bwMode="auto">
          <a:xfrm>
            <a:off x="7772400" y="31242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EA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3259" name="Text Box 11"/>
          <p:cNvSpPr txBox="1">
            <a:spLocks noChangeArrowheads="1"/>
          </p:cNvSpPr>
          <p:nvPr/>
        </p:nvSpPr>
        <p:spPr bwMode="auto">
          <a:xfrm>
            <a:off x="7772400" y="39624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OP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3260" name="Text Box 12"/>
          <p:cNvSpPr txBox="1">
            <a:spLocks noChangeArrowheads="1"/>
          </p:cNvSpPr>
          <p:nvPr/>
        </p:nvSpPr>
        <p:spPr bwMode="auto">
          <a:xfrm>
            <a:off x="7772400" y="48006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EX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16397" name="Line 13"/>
          <p:cNvSpPr>
            <a:spLocks noChangeShapeType="1"/>
          </p:cNvSpPr>
          <p:nvPr/>
        </p:nvSpPr>
        <p:spPr bwMode="auto">
          <a:xfrm>
            <a:off x="8077200" y="6096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98" name="Line 14"/>
          <p:cNvSpPr>
            <a:spLocks noChangeShapeType="1"/>
          </p:cNvSpPr>
          <p:nvPr/>
        </p:nvSpPr>
        <p:spPr bwMode="auto">
          <a:xfrm flipH="1">
            <a:off x="7543800" y="64008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99" name="Line 15"/>
          <p:cNvSpPr>
            <a:spLocks noChangeShapeType="1"/>
          </p:cNvSpPr>
          <p:nvPr/>
        </p:nvSpPr>
        <p:spPr bwMode="auto">
          <a:xfrm flipV="1">
            <a:off x="7543800" y="1143000"/>
            <a:ext cx="0" cy="5257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00" name="Line 16"/>
          <p:cNvSpPr>
            <a:spLocks noChangeShapeType="1"/>
          </p:cNvSpPr>
          <p:nvPr/>
        </p:nvSpPr>
        <p:spPr bwMode="auto">
          <a:xfrm>
            <a:off x="7543800" y="11430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01" name="Line 17"/>
          <p:cNvSpPr>
            <a:spLocks noChangeShapeType="1"/>
          </p:cNvSpPr>
          <p:nvPr/>
        </p:nvSpPr>
        <p:spPr bwMode="auto">
          <a:xfrm>
            <a:off x="8077200" y="1143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266" name="Text Box 18"/>
          <p:cNvSpPr txBox="1">
            <a:spLocks noChangeArrowheads="1"/>
          </p:cNvSpPr>
          <p:nvPr/>
        </p:nvSpPr>
        <p:spPr bwMode="auto">
          <a:xfrm>
            <a:off x="7772400" y="56388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S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3267" name="Text Box 19"/>
          <p:cNvSpPr txBox="1">
            <a:spLocks noChangeArrowheads="1"/>
          </p:cNvSpPr>
          <p:nvPr/>
        </p:nvSpPr>
        <p:spPr bwMode="auto">
          <a:xfrm>
            <a:off x="7772400" y="14478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F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3268" name="Text Box 20"/>
          <p:cNvSpPr txBox="1">
            <a:spLocks noChangeArrowheads="1"/>
          </p:cNvSpPr>
          <p:nvPr/>
        </p:nvSpPr>
        <p:spPr bwMode="auto">
          <a:xfrm>
            <a:off x="7772400" y="2286000"/>
            <a:ext cx="685800" cy="4667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>
                <a:solidFill>
                  <a:schemeClr val="bg1"/>
                </a:solidFill>
                <a:ea typeface="宋体" panose="02010600030101010101" pitchFamily="2" charset="-122"/>
              </a:rPr>
              <a:t>D</a:t>
            </a:r>
            <a:endParaRPr lang="en-US" altLang="zh-CN" b="1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指令周期</a:t>
            </a:r>
            <a:r>
              <a:rPr lang="en-US" altLang="zh-CN" dirty="0" smtClean="0">
                <a:ea typeface="宋体" panose="02010600030101010101" pitchFamily="2" charset="-122"/>
              </a:rPr>
              <a:t>:  EVALUATE ADDRESS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1328"/>
            <a:ext cx="6923112" cy="4525963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在指令中通常无法直接给出</a:t>
            </a:r>
            <a:r>
              <a:rPr lang="en-US" altLang="zh-CN" dirty="0" smtClean="0">
                <a:ea typeface="宋体" panose="02010600030101010101" pitchFamily="2" charset="-122"/>
              </a:rPr>
              <a:t>16</a:t>
            </a:r>
            <a:r>
              <a:rPr lang="zh-CN" altLang="en-US" dirty="0" smtClean="0">
                <a:ea typeface="宋体" panose="02010600030101010101" pitchFamily="2" charset="-122"/>
              </a:rPr>
              <a:t>位的有效地址，需要根据指令实际定义的寻址方式进行计算。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endParaRPr lang="en-US" altLang="zh-CN" dirty="0" smtClean="0">
              <a:ea typeface="宋体" panose="02010600030101010101" pitchFamily="2" charset="-122"/>
            </a:endParaRPr>
          </a:p>
          <a:p>
            <a:r>
              <a:rPr lang="en-US" altLang="zh-CN" dirty="0" smtClean="0">
                <a:ea typeface="宋体" panose="02010600030101010101" pitchFamily="2" charset="-122"/>
              </a:rPr>
              <a:t>Examples: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dirty="0" smtClean="0">
                <a:ea typeface="宋体" panose="02010600030101010101" pitchFamily="2" charset="-122"/>
              </a:rPr>
              <a:t>间接寻址：基址存放在寄存器中，通过基址</a:t>
            </a:r>
            <a:r>
              <a:rPr lang="en-US" altLang="zh-CN" dirty="0" smtClean="0">
                <a:ea typeface="宋体" panose="02010600030101010101" pitchFamily="2" charset="-122"/>
              </a:rPr>
              <a:t>+</a:t>
            </a:r>
            <a:r>
              <a:rPr lang="zh-CN" altLang="en-US" dirty="0" smtClean="0">
                <a:ea typeface="宋体" panose="02010600030101010101" pitchFamily="2" charset="-122"/>
              </a:rPr>
              <a:t>偏移来计算数据的实际地址</a:t>
            </a:r>
            <a:r>
              <a:rPr lang="en-US" altLang="zh-CN" dirty="0" smtClean="0">
                <a:ea typeface="宋体" panose="02010600030101010101" pitchFamily="2" charset="-122"/>
              </a:rPr>
              <a:t>(as in LDR)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dirty="0" smtClean="0">
                <a:ea typeface="宋体" panose="02010600030101010101" pitchFamily="2" charset="-122"/>
              </a:rPr>
              <a:t>相对寻址：在指令地址的基础上加偏移。通过</a:t>
            </a:r>
            <a:r>
              <a:rPr lang="en-US" altLang="zh-CN" dirty="0" smtClean="0">
                <a:ea typeface="宋体" panose="02010600030101010101" pitchFamily="2" charset="-122"/>
              </a:rPr>
              <a:t>PC+</a:t>
            </a:r>
            <a:r>
              <a:rPr lang="zh-CN" altLang="en-US" dirty="0" smtClean="0">
                <a:ea typeface="宋体" panose="02010600030101010101" pitchFamily="2" charset="-122"/>
              </a:rPr>
              <a:t>偏移来计算数据的实际地址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dirty="0" smtClean="0">
                <a:ea typeface="宋体" panose="02010600030101010101" pitchFamily="2" charset="-122"/>
              </a:rPr>
              <a:t>立即地址：偏移</a:t>
            </a:r>
            <a:r>
              <a:rPr lang="en-US" altLang="zh-CN" dirty="0" smtClean="0">
                <a:ea typeface="宋体" panose="02010600030101010101" pitchFamily="2" charset="-122"/>
              </a:rPr>
              <a:t>+0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17413" name="Line 5"/>
          <p:cNvSpPr>
            <a:spLocks noChangeShapeType="1"/>
          </p:cNvSpPr>
          <p:nvPr/>
        </p:nvSpPr>
        <p:spPr bwMode="auto">
          <a:xfrm>
            <a:off x="8077200" y="19050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14" name="Line 6"/>
          <p:cNvSpPr>
            <a:spLocks noChangeShapeType="1"/>
          </p:cNvSpPr>
          <p:nvPr/>
        </p:nvSpPr>
        <p:spPr bwMode="auto">
          <a:xfrm>
            <a:off x="8101013" y="27432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15" name="Line 7"/>
          <p:cNvSpPr>
            <a:spLocks noChangeShapeType="1"/>
          </p:cNvSpPr>
          <p:nvPr/>
        </p:nvSpPr>
        <p:spPr bwMode="auto">
          <a:xfrm>
            <a:off x="8077200" y="35814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16" name="Line 8"/>
          <p:cNvSpPr>
            <a:spLocks noChangeShapeType="1"/>
          </p:cNvSpPr>
          <p:nvPr/>
        </p:nvSpPr>
        <p:spPr bwMode="auto">
          <a:xfrm>
            <a:off x="8056563" y="44196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17" name="Line 9"/>
          <p:cNvSpPr>
            <a:spLocks noChangeShapeType="1"/>
          </p:cNvSpPr>
          <p:nvPr/>
        </p:nvSpPr>
        <p:spPr bwMode="auto">
          <a:xfrm>
            <a:off x="8070850" y="52578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282" name="Text Box 10"/>
          <p:cNvSpPr txBox="1">
            <a:spLocks noChangeArrowheads="1"/>
          </p:cNvSpPr>
          <p:nvPr/>
        </p:nvSpPr>
        <p:spPr bwMode="auto">
          <a:xfrm>
            <a:off x="7772400" y="3124200"/>
            <a:ext cx="685800" cy="4667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>
                <a:solidFill>
                  <a:schemeClr val="bg1"/>
                </a:solidFill>
                <a:ea typeface="宋体" panose="02010600030101010101" pitchFamily="2" charset="-122"/>
              </a:rPr>
              <a:t>EA</a:t>
            </a:r>
            <a:endParaRPr lang="en-US" altLang="zh-CN" b="1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54283" name="Text Box 11"/>
          <p:cNvSpPr txBox="1">
            <a:spLocks noChangeArrowheads="1"/>
          </p:cNvSpPr>
          <p:nvPr/>
        </p:nvSpPr>
        <p:spPr bwMode="auto">
          <a:xfrm>
            <a:off x="7772400" y="39624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OP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4284" name="Text Box 12"/>
          <p:cNvSpPr txBox="1">
            <a:spLocks noChangeArrowheads="1"/>
          </p:cNvSpPr>
          <p:nvPr/>
        </p:nvSpPr>
        <p:spPr bwMode="auto">
          <a:xfrm>
            <a:off x="7772400" y="48006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EX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17421" name="Line 13"/>
          <p:cNvSpPr>
            <a:spLocks noChangeShapeType="1"/>
          </p:cNvSpPr>
          <p:nvPr/>
        </p:nvSpPr>
        <p:spPr bwMode="auto">
          <a:xfrm>
            <a:off x="8077200" y="6096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22" name="Line 14"/>
          <p:cNvSpPr>
            <a:spLocks noChangeShapeType="1"/>
          </p:cNvSpPr>
          <p:nvPr/>
        </p:nvSpPr>
        <p:spPr bwMode="auto">
          <a:xfrm flipH="1">
            <a:off x="7543800" y="64008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23" name="Line 15"/>
          <p:cNvSpPr>
            <a:spLocks noChangeShapeType="1"/>
          </p:cNvSpPr>
          <p:nvPr/>
        </p:nvSpPr>
        <p:spPr bwMode="auto">
          <a:xfrm flipV="1">
            <a:off x="7543800" y="1143000"/>
            <a:ext cx="0" cy="5257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24" name="Line 16"/>
          <p:cNvSpPr>
            <a:spLocks noChangeShapeType="1"/>
          </p:cNvSpPr>
          <p:nvPr/>
        </p:nvSpPr>
        <p:spPr bwMode="auto">
          <a:xfrm>
            <a:off x="7543800" y="11430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25" name="Line 17"/>
          <p:cNvSpPr>
            <a:spLocks noChangeShapeType="1"/>
          </p:cNvSpPr>
          <p:nvPr/>
        </p:nvSpPr>
        <p:spPr bwMode="auto">
          <a:xfrm>
            <a:off x="8077200" y="1143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290" name="Text Box 18"/>
          <p:cNvSpPr txBox="1">
            <a:spLocks noChangeArrowheads="1"/>
          </p:cNvSpPr>
          <p:nvPr/>
        </p:nvSpPr>
        <p:spPr bwMode="auto">
          <a:xfrm>
            <a:off x="7772400" y="56388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S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4291" name="Text Box 19"/>
          <p:cNvSpPr txBox="1">
            <a:spLocks noChangeArrowheads="1"/>
          </p:cNvSpPr>
          <p:nvPr/>
        </p:nvSpPr>
        <p:spPr bwMode="auto">
          <a:xfrm>
            <a:off x="7772400" y="14478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F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4292" name="Text Box 20"/>
          <p:cNvSpPr txBox="1">
            <a:spLocks noChangeArrowheads="1"/>
          </p:cNvSpPr>
          <p:nvPr/>
        </p:nvSpPr>
        <p:spPr bwMode="auto">
          <a:xfrm>
            <a:off x="7772400" y="22860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D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指令周期</a:t>
            </a:r>
            <a:r>
              <a:rPr lang="en-US" altLang="zh-CN" dirty="0" smtClean="0">
                <a:ea typeface="宋体" panose="02010600030101010101" pitchFamily="2" charset="-122"/>
              </a:rPr>
              <a:t>: FETCH OPERANDS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1328"/>
            <a:ext cx="6995120" cy="4525963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数据存放地点：寄存器，内存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r>
              <a:rPr lang="zh-CN" altLang="en-US" dirty="0" smtClean="0">
                <a:ea typeface="宋体" panose="02010600030101010101" pitchFamily="2" charset="-122"/>
              </a:rPr>
              <a:t>根据寄存器地址或计算得到的内存地址读取操作数。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endParaRPr lang="en-US" altLang="zh-CN" dirty="0" smtClean="0">
              <a:ea typeface="宋体" panose="02010600030101010101" pitchFamily="2" charset="-122"/>
            </a:endParaRPr>
          </a:p>
          <a:p>
            <a:r>
              <a:rPr lang="en-US" altLang="zh-CN" dirty="0" smtClean="0">
                <a:ea typeface="宋体" panose="02010600030101010101" pitchFamily="2" charset="-122"/>
              </a:rPr>
              <a:t>Examples: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en-US" altLang="zh-CN" dirty="0" smtClean="0">
                <a:ea typeface="宋体" panose="02010600030101010101" pitchFamily="2" charset="-122"/>
              </a:rPr>
              <a:t>load data from memory (LDR)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en-US" altLang="zh-CN" dirty="0" smtClean="0">
                <a:ea typeface="宋体" panose="02010600030101010101" pitchFamily="2" charset="-122"/>
              </a:rPr>
              <a:t>read data from register file (ADD)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18437" name="Line 5"/>
          <p:cNvSpPr>
            <a:spLocks noChangeShapeType="1"/>
          </p:cNvSpPr>
          <p:nvPr/>
        </p:nvSpPr>
        <p:spPr bwMode="auto">
          <a:xfrm>
            <a:off x="8077200" y="19050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38" name="Line 6"/>
          <p:cNvSpPr>
            <a:spLocks noChangeShapeType="1"/>
          </p:cNvSpPr>
          <p:nvPr/>
        </p:nvSpPr>
        <p:spPr bwMode="auto">
          <a:xfrm>
            <a:off x="8101013" y="27432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39" name="Line 7"/>
          <p:cNvSpPr>
            <a:spLocks noChangeShapeType="1"/>
          </p:cNvSpPr>
          <p:nvPr/>
        </p:nvSpPr>
        <p:spPr bwMode="auto">
          <a:xfrm>
            <a:off x="8077200" y="35814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40" name="Line 8"/>
          <p:cNvSpPr>
            <a:spLocks noChangeShapeType="1"/>
          </p:cNvSpPr>
          <p:nvPr/>
        </p:nvSpPr>
        <p:spPr bwMode="auto">
          <a:xfrm>
            <a:off x="8056563" y="44196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41" name="Line 9"/>
          <p:cNvSpPr>
            <a:spLocks noChangeShapeType="1"/>
          </p:cNvSpPr>
          <p:nvPr/>
        </p:nvSpPr>
        <p:spPr bwMode="auto">
          <a:xfrm>
            <a:off x="8070850" y="52578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306" name="Text Box 10"/>
          <p:cNvSpPr txBox="1">
            <a:spLocks noChangeArrowheads="1"/>
          </p:cNvSpPr>
          <p:nvPr/>
        </p:nvSpPr>
        <p:spPr bwMode="auto">
          <a:xfrm>
            <a:off x="7772400" y="31242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EA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5307" name="Text Box 11"/>
          <p:cNvSpPr txBox="1">
            <a:spLocks noChangeArrowheads="1"/>
          </p:cNvSpPr>
          <p:nvPr/>
        </p:nvSpPr>
        <p:spPr bwMode="auto">
          <a:xfrm>
            <a:off x="7772400" y="3962400"/>
            <a:ext cx="685800" cy="4667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>
                <a:solidFill>
                  <a:schemeClr val="bg1"/>
                </a:solidFill>
                <a:ea typeface="宋体" panose="02010600030101010101" pitchFamily="2" charset="-122"/>
              </a:rPr>
              <a:t>OP</a:t>
            </a:r>
            <a:endParaRPr lang="en-US" altLang="zh-CN" b="1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55308" name="Text Box 12"/>
          <p:cNvSpPr txBox="1">
            <a:spLocks noChangeArrowheads="1"/>
          </p:cNvSpPr>
          <p:nvPr/>
        </p:nvSpPr>
        <p:spPr bwMode="auto">
          <a:xfrm>
            <a:off x="7772400" y="48006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EX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18445" name="Line 13"/>
          <p:cNvSpPr>
            <a:spLocks noChangeShapeType="1"/>
          </p:cNvSpPr>
          <p:nvPr/>
        </p:nvSpPr>
        <p:spPr bwMode="auto">
          <a:xfrm>
            <a:off x="8077200" y="6096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46" name="Line 14"/>
          <p:cNvSpPr>
            <a:spLocks noChangeShapeType="1"/>
          </p:cNvSpPr>
          <p:nvPr/>
        </p:nvSpPr>
        <p:spPr bwMode="auto">
          <a:xfrm flipH="1">
            <a:off x="7543800" y="64008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47" name="Line 15"/>
          <p:cNvSpPr>
            <a:spLocks noChangeShapeType="1"/>
          </p:cNvSpPr>
          <p:nvPr/>
        </p:nvSpPr>
        <p:spPr bwMode="auto">
          <a:xfrm flipV="1">
            <a:off x="7543800" y="1143000"/>
            <a:ext cx="0" cy="5257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48" name="Line 16"/>
          <p:cNvSpPr>
            <a:spLocks noChangeShapeType="1"/>
          </p:cNvSpPr>
          <p:nvPr/>
        </p:nvSpPr>
        <p:spPr bwMode="auto">
          <a:xfrm>
            <a:off x="7543800" y="11430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49" name="Line 17"/>
          <p:cNvSpPr>
            <a:spLocks noChangeShapeType="1"/>
          </p:cNvSpPr>
          <p:nvPr/>
        </p:nvSpPr>
        <p:spPr bwMode="auto">
          <a:xfrm>
            <a:off x="8077200" y="1143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314" name="Text Box 18"/>
          <p:cNvSpPr txBox="1">
            <a:spLocks noChangeArrowheads="1"/>
          </p:cNvSpPr>
          <p:nvPr/>
        </p:nvSpPr>
        <p:spPr bwMode="auto">
          <a:xfrm>
            <a:off x="7772400" y="56388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S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5315" name="Text Box 19"/>
          <p:cNvSpPr txBox="1">
            <a:spLocks noChangeArrowheads="1"/>
          </p:cNvSpPr>
          <p:nvPr/>
        </p:nvSpPr>
        <p:spPr bwMode="auto">
          <a:xfrm>
            <a:off x="7772400" y="14478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F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5316" name="Text Box 20"/>
          <p:cNvSpPr txBox="1">
            <a:spLocks noChangeArrowheads="1"/>
          </p:cNvSpPr>
          <p:nvPr/>
        </p:nvSpPr>
        <p:spPr bwMode="auto">
          <a:xfrm>
            <a:off x="7772400" y="22860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D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指令周期</a:t>
            </a:r>
            <a:r>
              <a:rPr lang="en-US" altLang="zh-CN" dirty="0" smtClean="0">
                <a:ea typeface="宋体" panose="02010600030101010101" pitchFamily="2" charset="-122"/>
              </a:rPr>
              <a:t>: </a:t>
            </a:r>
            <a:r>
              <a:rPr lang="zh-CN" altLang="en-US" dirty="0" smtClean="0">
                <a:ea typeface="宋体" panose="02010600030101010101" pitchFamily="2" charset="-122"/>
              </a:rPr>
              <a:t>执行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1328"/>
            <a:ext cx="6923112" cy="4525963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基于得到的操作数完成操作码制定的操作。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endParaRPr lang="en-US" altLang="zh-CN" dirty="0" smtClean="0">
              <a:ea typeface="宋体" panose="02010600030101010101" pitchFamily="2" charset="-122"/>
            </a:endParaRPr>
          </a:p>
          <a:p>
            <a:r>
              <a:rPr lang="en-US" altLang="zh-CN" dirty="0" smtClean="0">
                <a:ea typeface="宋体" panose="02010600030101010101" pitchFamily="2" charset="-122"/>
              </a:rPr>
              <a:t>Examples: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dirty="0" smtClean="0">
                <a:ea typeface="宋体" panose="02010600030101010101" pitchFamily="2" charset="-122"/>
              </a:rPr>
              <a:t>把操作数送到</a:t>
            </a:r>
            <a:r>
              <a:rPr lang="en-US" altLang="zh-CN" dirty="0" smtClean="0">
                <a:ea typeface="宋体" panose="02010600030101010101" pitchFamily="2" charset="-122"/>
              </a:rPr>
              <a:t> ALU</a:t>
            </a:r>
            <a:r>
              <a:rPr lang="zh-CN" altLang="en-US" dirty="0" smtClean="0">
                <a:ea typeface="宋体" panose="02010600030101010101" pitchFamily="2" charset="-122"/>
              </a:rPr>
              <a:t>，发加操作信号（</a:t>
            </a:r>
            <a:r>
              <a:rPr lang="en-US" altLang="zh-CN" dirty="0" smtClean="0">
                <a:ea typeface="宋体" panose="02010600030101010101" pitchFamily="2" charset="-122"/>
              </a:rPr>
              <a:t>ADD</a:t>
            </a:r>
            <a:r>
              <a:rPr lang="zh-CN" altLang="en-US" dirty="0" smtClean="0">
                <a:ea typeface="宋体" panose="02010600030101010101" pitchFamily="2" charset="-122"/>
              </a:rPr>
              <a:t>指令）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dirty="0" smtClean="0">
                <a:ea typeface="宋体" panose="02010600030101010101" pitchFamily="2" charset="-122"/>
              </a:rPr>
              <a:t>什么也不做：数据转移类指令</a:t>
            </a:r>
            <a:r>
              <a:rPr lang="en-US" altLang="zh-CN" dirty="0" smtClean="0">
                <a:ea typeface="宋体" panose="02010600030101010101" pitchFamily="2" charset="-122"/>
              </a:rPr>
              <a:t>(e.g., for loads and stores)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19461" name="Line 5"/>
          <p:cNvSpPr>
            <a:spLocks noChangeShapeType="1"/>
          </p:cNvSpPr>
          <p:nvPr/>
        </p:nvSpPr>
        <p:spPr bwMode="auto">
          <a:xfrm>
            <a:off x="8077200" y="19050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62" name="Line 6"/>
          <p:cNvSpPr>
            <a:spLocks noChangeShapeType="1"/>
          </p:cNvSpPr>
          <p:nvPr/>
        </p:nvSpPr>
        <p:spPr bwMode="auto">
          <a:xfrm>
            <a:off x="8101013" y="27432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>
            <a:off x="8077200" y="35814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64" name="Line 8"/>
          <p:cNvSpPr>
            <a:spLocks noChangeShapeType="1"/>
          </p:cNvSpPr>
          <p:nvPr/>
        </p:nvSpPr>
        <p:spPr bwMode="auto">
          <a:xfrm>
            <a:off x="8056563" y="44196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65" name="Line 9"/>
          <p:cNvSpPr>
            <a:spLocks noChangeShapeType="1"/>
          </p:cNvSpPr>
          <p:nvPr/>
        </p:nvSpPr>
        <p:spPr bwMode="auto">
          <a:xfrm>
            <a:off x="8070850" y="52578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330" name="Text Box 10"/>
          <p:cNvSpPr txBox="1">
            <a:spLocks noChangeArrowheads="1"/>
          </p:cNvSpPr>
          <p:nvPr/>
        </p:nvSpPr>
        <p:spPr bwMode="auto">
          <a:xfrm>
            <a:off x="7772400" y="31242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EA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6331" name="Text Box 11"/>
          <p:cNvSpPr txBox="1">
            <a:spLocks noChangeArrowheads="1"/>
          </p:cNvSpPr>
          <p:nvPr/>
        </p:nvSpPr>
        <p:spPr bwMode="auto">
          <a:xfrm>
            <a:off x="7772400" y="39624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OP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6332" name="Text Box 12"/>
          <p:cNvSpPr txBox="1">
            <a:spLocks noChangeArrowheads="1"/>
          </p:cNvSpPr>
          <p:nvPr/>
        </p:nvSpPr>
        <p:spPr bwMode="auto">
          <a:xfrm>
            <a:off x="7772400" y="4800600"/>
            <a:ext cx="685800" cy="4667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>
                <a:solidFill>
                  <a:schemeClr val="bg1"/>
                </a:solidFill>
                <a:ea typeface="宋体" panose="02010600030101010101" pitchFamily="2" charset="-122"/>
              </a:rPr>
              <a:t>EX</a:t>
            </a:r>
            <a:endParaRPr lang="en-US" altLang="zh-CN" b="1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19469" name="Line 13"/>
          <p:cNvSpPr>
            <a:spLocks noChangeShapeType="1"/>
          </p:cNvSpPr>
          <p:nvPr/>
        </p:nvSpPr>
        <p:spPr bwMode="auto">
          <a:xfrm>
            <a:off x="8077200" y="6096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70" name="Line 14"/>
          <p:cNvSpPr>
            <a:spLocks noChangeShapeType="1"/>
          </p:cNvSpPr>
          <p:nvPr/>
        </p:nvSpPr>
        <p:spPr bwMode="auto">
          <a:xfrm flipH="1">
            <a:off x="7543800" y="64008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71" name="Line 15"/>
          <p:cNvSpPr>
            <a:spLocks noChangeShapeType="1"/>
          </p:cNvSpPr>
          <p:nvPr/>
        </p:nvSpPr>
        <p:spPr bwMode="auto">
          <a:xfrm flipV="1">
            <a:off x="7543800" y="1143000"/>
            <a:ext cx="0" cy="5257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72" name="Line 16"/>
          <p:cNvSpPr>
            <a:spLocks noChangeShapeType="1"/>
          </p:cNvSpPr>
          <p:nvPr/>
        </p:nvSpPr>
        <p:spPr bwMode="auto">
          <a:xfrm>
            <a:off x="7543800" y="11430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73" name="Line 17"/>
          <p:cNvSpPr>
            <a:spLocks noChangeShapeType="1"/>
          </p:cNvSpPr>
          <p:nvPr/>
        </p:nvSpPr>
        <p:spPr bwMode="auto">
          <a:xfrm>
            <a:off x="8077200" y="1143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338" name="Text Box 18"/>
          <p:cNvSpPr txBox="1">
            <a:spLocks noChangeArrowheads="1"/>
          </p:cNvSpPr>
          <p:nvPr/>
        </p:nvSpPr>
        <p:spPr bwMode="auto">
          <a:xfrm>
            <a:off x="7772400" y="56388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S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6339" name="Text Box 19"/>
          <p:cNvSpPr txBox="1">
            <a:spLocks noChangeArrowheads="1"/>
          </p:cNvSpPr>
          <p:nvPr/>
        </p:nvSpPr>
        <p:spPr bwMode="auto">
          <a:xfrm>
            <a:off x="7772400" y="14478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F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6340" name="Text Box 20"/>
          <p:cNvSpPr txBox="1">
            <a:spLocks noChangeArrowheads="1"/>
          </p:cNvSpPr>
          <p:nvPr/>
        </p:nvSpPr>
        <p:spPr bwMode="auto">
          <a:xfrm>
            <a:off x="7772400" y="22860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D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指令周期</a:t>
            </a:r>
            <a:r>
              <a:rPr lang="en-US" altLang="zh-CN" dirty="0" smtClean="0">
                <a:ea typeface="宋体" panose="02010600030101010101" pitchFamily="2" charset="-122"/>
              </a:rPr>
              <a:t>: STORE RESULT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1328"/>
            <a:ext cx="6851104" cy="4525963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把运算结果存放到目标地点</a:t>
            </a:r>
            <a:br>
              <a:rPr lang="en-US" altLang="zh-CN" dirty="0" smtClean="0">
                <a:ea typeface="宋体" panose="02010600030101010101" pitchFamily="2" charset="-122"/>
              </a:rPr>
            </a:br>
            <a:r>
              <a:rPr lang="en-US" altLang="zh-CN" dirty="0" smtClean="0">
                <a:ea typeface="宋体" panose="02010600030101010101" pitchFamily="2" charset="-122"/>
              </a:rPr>
              <a:t>(</a:t>
            </a:r>
            <a:r>
              <a:rPr lang="zh-CN" altLang="en-US" dirty="0" smtClean="0">
                <a:ea typeface="宋体" panose="02010600030101010101" pitchFamily="2" charset="-122"/>
              </a:rPr>
              <a:t>寄存器</a:t>
            </a:r>
            <a:r>
              <a:rPr lang="en-US" altLang="zh-CN" dirty="0" smtClean="0">
                <a:ea typeface="宋体" panose="02010600030101010101" pitchFamily="2" charset="-122"/>
              </a:rPr>
              <a:t> or </a:t>
            </a:r>
            <a:r>
              <a:rPr lang="zh-CN" altLang="en-US" dirty="0" smtClean="0">
                <a:ea typeface="宋体" panose="02010600030101010101" pitchFamily="2" charset="-122"/>
              </a:rPr>
              <a:t>存储器</a:t>
            </a:r>
            <a:r>
              <a:rPr lang="en-US" altLang="zh-CN" dirty="0" smtClean="0">
                <a:ea typeface="宋体" panose="02010600030101010101" pitchFamily="2" charset="-122"/>
              </a:rPr>
              <a:t>)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endParaRPr lang="en-US" altLang="zh-CN" dirty="0" smtClean="0">
              <a:ea typeface="宋体" panose="02010600030101010101" pitchFamily="2" charset="-122"/>
            </a:endParaRPr>
          </a:p>
          <a:p>
            <a:r>
              <a:rPr lang="en-US" altLang="zh-CN" dirty="0" smtClean="0">
                <a:ea typeface="宋体" panose="02010600030101010101" pitchFamily="2" charset="-122"/>
              </a:rPr>
              <a:t>Examples: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en-US" altLang="zh-CN" dirty="0" smtClean="0">
                <a:ea typeface="宋体" panose="02010600030101010101" pitchFamily="2" charset="-122"/>
              </a:rPr>
              <a:t>ADD</a:t>
            </a:r>
            <a:r>
              <a:rPr lang="zh-CN" altLang="en-US" dirty="0" smtClean="0">
                <a:ea typeface="宋体" panose="02010600030101010101" pitchFamily="2" charset="-122"/>
              </a:rPr>
              <a:t>指令的执行结果存放在目标寄存器中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en-US" altLang="zh-CN" dirty="0" smtClean="0">
                <a:ea typeface="宋体" panose="02010600030101010101" pitchFamily="2" charset="-122"/>
              </a:rPr>
              <a:t>LOAD</a:t>
            </a:r>
            <a:r>
              <a:rPr lang="zh-CN" altLang="en-US" dirty="0" smtClean="0">
                <a:ea typeface="宋体" panose="02010600030101010101" pitchFamily="2" charset="-122"/>
              </a:rPr>
              <a:t>类指令的执行结果存放在目标寄存器中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en-US" altLang="zh-CN" dirty="0" smtClean="0">
                <a:ea typeface="宋体" panose="02010600030101010101" pitchFamily="2" charset="-122"/>
              </a:rPr>
              <a:t>STORE</a:t>
            </a:r>
            <a:r>
              <a:rPr lang="zh-CN" altLang="en-US" dirty="0" smtClean="0">
                <a:ea typeface="宋体" panose="02010600030101010101" pitchFamily="2" charset="-122"/>
              </a:rPr>
              <a:t>类指令的执行结果是存放在存储器中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2"/>
            <a:r>
              <a:rPr lang="zh-CN" altLang="en-US" dirty="0" smtClean="0">
                <a:ea typeface="宋体" panose="02010600030101010101" pitchFamily="2" charset="-122"/>
              </a:rPr>
              <a:t>写地址到</a:t>
            </a:r>
            <a:r>
              <a:rPr lang="en-US" altLang="zh-CN" dirty="0" smtClean="0">
                <a:ea typeface="宋体" panose="02010600030101010101" pitchFamily="2" charset="-122"/>
              </a:rPr>
              <a:t> MAR</a:t>
            </a:r>
            <a:r>
              <a:rPr lang="zh-CN" altLang="en-US" dirty="0" smtClean="0">
                <a:ea typeface="宋体" panose="02010600030101010101" pitchFamily="2" charset="-122"/>
              </a:rPr>
              <a:t>寄存器中</a:t>
            </a:r>
            <a:r>
              <a:rPr lang="en-US" altLang="zh-CN" dirty="0" smtClean="0">
                <a:ea typeface="宋体" panose="02010600030101010101" pitchFamily="2" charset="-122"/>
              </a:rPr>
              <a:t>, </a:t>
            </a:r>
            <a:r>
              <a:rPr lang="zh-CN" altLang="en-US" dirty="0" smtClean="0">
                <a:ea typeface="宋体" panose="02010600030101010101" pitchFamily="2" charset="-122"/>
              </a:rPr>
              <a:t>要写的数据送到</a:t>
            </a:r>
            <a:r>
              <a:rPr lang="en-US" altLang="zh-CN" dirty="0" smtClean="0">
                <a:ea typeface="宋体" panose="02010600030101010101" pitchFamily="2" charset="-122"/>
              </a:rPr>
              <a:t> MDR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2"/>
            <a:r>
              <a:rPr lang="zh-CN" altLang="en-US" dirty="0" smtClean="0">
                <a:ea typeface="宋体" panose="02010600030101010101" pitchFamily="2" charset="-122"/>
              </a:rPr>
              <a:t>发写信号给内存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20485" name="Line 5"/>
          <p:cNvSpPr>
            <a:spLocks noChangeShapeType="1"/>
          </p:cNvSpPr>
          <p:nvPr/>
        </p:nvSpPr>
        <p:spPr bwMode="auto">
          <a:xfrm>
            <a:off x="8077200" y="19050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486" name="Line 6"/>
          <p:cNvSpPr>
            <a:spLocks noChangeShapeType="1"/>
          </p:cNvSpPr>
          <p:nvPr/>
        </p:nvSpPr>
        <p:spPr bwMode="auto">
          <a:xfrm>
            <a:off x="8101013" y="27432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487" name="Line 7"/>
          <p:cNvSpPr>
            <a:spLocks noChangeShapeType="1"/>
          </p:cNvSpPr>
          <p:nvPr/>
        </p:nvSpPr>
        <p:spPr bwMode="auto">
          <a:xfrm>
            <a:off x="8077200" y="35814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488" name="Line 8"/>
          <p:cNvSpPr>
            <a:spLocks noChangeShapeType="1"/>
          </p:cNvSpPr>
          <p:nvPr/>
        </p:nvSpPr>
        <p:spPr bwMode="auto">
          <a:xfrm>
            <a:off x="8056563" y="44196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489" name="Line 9"/>
          <p:cNvSpPr>
            <a:spLocks noChangeShapeType="1"/>
          </p:cNvSpPr>
          <p:nvPr/>
        </p:nvSpPr>
        <p:spPr bwMode="auto">
          <a:xfrm>
            <a:off x="8070850" y="52578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354" name="Text Box 10"/>
          <p:cNvSpPr txBox="1">
            <a:spLocks noChangeArrowheads="1"/>
          </p:cNvSpPr>
          <p:nvPr/>
        </p:nvSpPr>
        <p:spPr bwMode="auto">
          <a:xfrm>
            <a:off x="7772400" y="31242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EA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7355" name="Text Box 11"/>
          <p:cNvSpPr txBox="1">
            <a:spLocks noChangeArrowheads="1"/>
          </p:cNvSpPr>
          <p:nvPr/>
        </p:nvSpPr>
        <p:spPr bwMode="auto">
          <a:xfrm>
            <a:off x="7772400" y="39624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OP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7356" name="Text Box 12"/>
          <p:cNvSpPr txBox="1">
            <a:spLocks noChangeArrowheads="1"/>
          </p:cNvSpPr>
          <p:nvPr/>
        </p:nvSpPr>
        <p:spPr bwMode="auto">
          <a:xfrm>
            <a:off x="7772400" y="48006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EX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20493" name="Line 13"/>
          <p:cNvSpPr>
            <a:spLocks noChangeShapeType="1"/>
          </p:cNvSpPr>
          <p:nvPr/>
        </p:nvSpPr>
        <p:spPr bwMode="auto">
          <a:xfrm>
            <a:off x="8077200" y="6096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494" name="Line 14"/>
          <p:cNvSpPr>
            <a:spLocks noChangeShapeType="1"/>
          </p:cNvSpPr>
          <p:nvPr/>
        </p:nvSpPr>
        <p:spPr bwMode="auto">
          <a:xfrm flipH="1">
            <a:off x="7543800" y="64008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495" name="Line 15"/>
          <p:cNvSpPr>
            <a:spLocks noChangeShapeType="1"/>
          </p:cNvSpPr>
          <p:nvPr/>
        </p:nvSpPr>
        <p:spPr bwMode="auto">
          <a:xfrm flipV="1">
            <a:off x="7543800" y="1143000"/>
            <a:ext cx="0" cy="5257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496" name="Line 16"/>
          <p:cNvSpPr>
            <a:spLocks noChangeShapeType="1"/>
          </p:cNvSpPr>
          <p:nvPr/>
        </p:nvSpPr>
        <p:spPr bwMode="auto">
          <a:xfrm>
            <a:off x="7543800" y="11430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497" name="Line 17"/>
          <p:cNvSpPr>
            <a:spLocks noChangeShapeType="1"/>
          </p:cNvSpPr>
          <p:nvPr/>
        </p:nvSpPr>
        <p:spPr bwMode="auto">
          <a:xfrm>
            <a:off x="8077200" y="1143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362" name="Text Box 18"/>
          <p:cNvSpPr txBox="1">
            <a:spLocks noChangeArrowheads="1"/>
          </p:cNvSpPr>
          <p:nvPr/>
        </p:nvSpPr>
        <p:spPr bwMode="auto">
          <a:xfrm>
            <a:off x="7772400" y="5638800"/>
            <a:ext cx="685800" cy="4667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>
                <a:solidFill>
                  <a:schemeClr val="bg1"/>
                </a:solidFill>
                <a:ea typeface="宋体" panose="02010600030101010101" pitchFamily="2" charset="-122"/>
              </a:rPr>
              <a:t>S</a:t>
            </a:r>
            <a:endParaRPr lang="en-US" altLang="zh-CN" b="1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57363" name="Text Box 19"/>
          <p:cNvSpPr txBox="1">
            <a:spLocks noChangeArrowheads="1"/>
          </p:cNvSpPr>
          <p:nvPr/>
        </p:nvSpPr>
        <p:spPr bwMode="auto">
          <a:xfrm>
            <a:off x="7772400" y="14478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F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7364" name="Text Box 20"/>
          <p:cNvSpPr txBox="1">
            <a:spLocks noChangeArrowheads="1"/>
          </p:cNvSpPr>
          <p:nvPr/>
        </p:nvSpPr>
        <p:spPr bwMode="auto">
          <a:xfrm>
            <a:off x="7772400" y="22860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D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dirty="0" smtClean="0">
                <a:ea typeface="宋体" panose="02010600030101010101" pitchFamily="2" charset="-122"/>
              </a:rPr>
              <a:t>指令的顺序执行：在</a:t>
            </a:r>
            <a:r>
              <a:rPr lang="en-US" altLang="zh-CN" dirty="0" smtClean="0">
                <a:ea typeface="宋体" panose="02010600030101010101" pitchFamily="2" charset="-122"/>
              </a:rPr>
              <a:t>FETCH </a:t>
            </a:r>
            <a:r>
              <a:rPr lang="zh-CN" altLang="en-US" dirty="0" smtClean="0">
                <a:ea typeface="宋体" panose="02010600030101010101" pitchFamily="2" charset="-122"/>
              </a:rPr>
              <a:t>阶段的最后</a:t>
            </a:r>
            <a:r>
              <a:rPr lang="en-US" altLang="zh-CN" dirty="0" smtClean="0">
                <a:ea typeface="宋体" panose="02010600030101010101" pitchFamily="2" charset="-122"/>
              </a:rPr>
              <a:t>,</a:t>
            </a:r>
            <a:r>
              <a:rPr lang="zh-CN" altLang="en-US" dirty="0" smtClean="0"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ea typeface="宋体" panose="02010600030101010101" pitchFamily="2" charset="-122"/>
              </a:rPr>
              <a:t>PC=PC+1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dirty="0" smtClean="0">
                <a:ea typeface="宋体" panose="02010600030101010101" pitchFamily="2" charset="-122"/>
              </a:rPr>
              <a:t>但实际程序中的分支指令，循环指令，子程序调用等会改变程序的执行顺序。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dirty="0" smtClean="0">
                <a:ea typeface="宋体" panose="02010600030101010101" pitchFamily="2" charset="-122"/>
              </a:rPr>
              <a:t>控制指令：可以改写</a:t>
            </a:r>
            <a:r>
              <a:rPr lang="en-US" altLang="zh-CN" dirty="0" smtClean="0">
                <a:ea typeface="宋体" panose="02010600030101010101" pitchFamily="2" charset="-122"/>
              </a:rPr>
              <a:t>PC</a:t>
            </a:r>
            <a:r>
              <a:rPr lang="zh-CN" altLang="en-US" dirty="0" smtClean="0">
                <a:ea typeface="宋体" panose="02010600030101010101" pitchFamily="2" charset="-122"/>
              </a:rPr>
              <a:t>寄存器的内容。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dirty="0" smtClean="0">
                <a:ea typeface="宋体" panose="02010600030101010101" pitchFamily="2" charset="-122"/>
              </a:rPr>
              <a:t>无条件跳转</a:t>
            </a:r>
            <a:r>
              <a:rPr lang="en-US" altLang="zh-CN" dirty="0" smtClean="0">
                <a:ea typeface="宋体" panose="02010600030101010101" pitchFamily="2" charset="-122"/>
              </a:rPr>
              <a:t> – </a:t>
            </a:r>
            <a:r>
              <a:rPr lang="zh-CN" altLang="en-US" dirty="0" smtClean="0">
                <a:ea typeface="宋体" panose="02010600030101010101" pitchFamily="2" charset="-122"/>
              </a:rPr>
              <a:t>改变</a:t>
            </a:r>
            <a:r>
              <a:rPr lang="en-US" altLang="zh-CN" dirty="0" smtClean="0">
                <a:ea typeface="宋体" panose="02010600030101010101" pitchFamily="2" charset="-122"/>
              </a:rPr>
              <a:t>PC</a:t>
            </a:r>
            <a:r>
              <a:rPr lang="zh-CN" altLang="en-US" dirty="0" smtClean="0">
                <a:ea typeface="宋体" panose="02010600030101010101" pitchFamily="2" charset="-122"/>
              </a:rPr>
              <a:t>值到目标地址。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dirty="0" smtClean="0">
                <a:ea typeface="宋体" panose="02010600030101010101" pitchFamily="2" charset="-122"/>
              </a:rPr>
              <a:t>条件跳转：分支指令等</a:t>
            </a:r>
            <a:r>
              <a:rPr lang="en-US" altLang="zh-CN" dirty="0" smtClean="0">
                <a:ea typeface="宋体" panose="02010600030101010101" pitchFamily="2" charset="-122"/>
              </a:rPr>
              <a:t> – </a:t>
            </a:r>
            <a:r>
              <a:rPr lang="zh-CN" altLang="en-US" dirty="0" smtClean="0">
                <a:ea typeface="宋体" panose="02010600030101010101" pitchFamily="2" charset="-122"/>
              </a:rPr>
              <a:t>改变</a:t>
            </a:r>
            <a:r>
              <a:rPr lang="en-US" altLang="zh-CN" dirty="0" smtClean="0">
                <a:ea typeface="宋体" panose="02010600030101010101" pitchFamily="2" charset="-122"/>
              </a:rPr>
              <a:t>PC</a:t>
            </a:r>
            <a:r>
              <a:rPr lang="zh-CN" altLang="en-US" dirty="0" smtClean="0">
                <a:ea typeface="宋体" panose="02010600030101010101" pitchFamily="2" charset="-122"/>
              </a:rPr>
              <a:t>值取决于跳转条件是否成立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改变指令执行顺序</a:t>
            </a:r>
            <a:r>
              <a:rPr lang="en-US" altLang="zh-CN" dirty="0" smtClean="0">
                <a:ea typeface="宋体" panose="02010600030101010101" pitchFamily="2" charset="-122"/>
              </a:rPr>
              <a:t>-</a:t>
            </a:r>
            <a:r>
              <a:rPr lang="zh-CN" altLang="en-US" dirty="0" smtClean="0">
                <a:ea typeface="宋体" panose="02010600030101010101" pitchFamily="2" charset="-122"/>
              </a:rPr>
              <a:t>控制指令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7544" y="2420888"/>
            <a:ext cx="8229600" cy="1143000"/>
          </a:xfrm>
        </p:spPr>
        <p:txBody>
          <a:bodyPr/>
          <a:lstStyle/>
          <a:p>
            <a:r>
              <a:rPr lang="en-US" altLang="zh-CN" dirty="0" smtClean="0"/>
              <a:t>ADD</a:t>
            </a:r>
            <a:r>
              <a:rPr lang="zh-CN" altLang="en-US" dirty="0" smtClean="0"/>
              <a:t>指令执行过程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09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39552" y="0"/>
            <a:ext cx="8053908" cy="6618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1712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39552" y="0"/>
            <a:ext cx="7924750" cy="6737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1814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39552" y="0"/>
            <a:ext cx="8178874" cy="675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1917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39552" y="0"/>
            <a:ext cx="8030095" cy="6599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2019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67544" y="0"/>
            <a:ext cx="7843217" cy="651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39552" y="299695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LDR</a:t>
            </a:r>
            <a:r>
              <a:rPr lang="zh-CN" altLang="en-US" dirty="0" smtClean="0"/>
              <a:t>指令执行过程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2224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09550" y="0"/>
            <a:ext cx="8178874" cy="676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2326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11560" y="0"/>
            <a:ext cx="7665863" cy="6582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2429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39552" y="0"/>
            <a:ext cx="8102674" cy="67972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2531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95536" y="0"/>
            <a:ext cx="8183636" cy="6755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26339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39552" y="0"/>
            <a:ext cx="7699201" cy="65604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2736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67544" y="0"/>
            <a:ext cx="8145536" cy="6855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控制单元是一个时序电路状态机</a:t>
            </a:r>
            <a:r>
              <a:rPr lang="en-US" altLang="zh-CN" dirty="0" smtClean="0">
                <a:ea typeface="宋体" panose="02010600030101010101" pitchFamily="2" charset="-122"/>
              </a:rPr>
              <a:t>. </a:t>
            </a:r>
            <a:r>
              <a:rPr lang="zh-CN" altLang="en-US" dirty="0" smtClean="0">
                <a:ea typeface="宋体" panose="02010600030101010101" pitchFamily="2" charset="-122"/>
              </a:rPr>
              <a:t>以下是</a:t>
            </a:r>
            <a:r>
              <a:rPr lang="en-US" altLang="zh-CN" dirty="0" smtClean="0">
                <a:ea typeface="宋体" panose="02010600030101010101" pitchFamily="2" charset="-122"/>
              </a:rPr>
              <a:t>LC-3</a:t>
            </a:r>
            <a:r>
              <a:rPr lang="zh-CN" altLang="en-US" dirty="0" smtClean="0">
                <a:ea typeface="宋体" panose="02010600030101010101" pitchFamily="2" charset="-122"/>
              </a:rPr>
              <a:t>状态机的示意图。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控制单元的控制状态机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pic>
        <p:nvPicPr>
          <p:cNvPr id="24581" name="Picture 4" descr="C:\Documents and Settings\gbyrd\My Documents\ece206\mh-slides\ch04\ch04-22-lc3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38200" y="2503313"/>
            <a:ext cx="6958013" cy="431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2" name="Text Box 5"/>
          <p:cNvSpPr txBox="1">
            <a:spLocks noChangeArrowheads="1"/>
          </p:cNvSpPr>
          <p:nvPr/>
        </p:nvSpPr>
        <p:spPr bwMode="auto">
          <a:xfrm>
            <a:off x="3276600" y="5943600"/>
            <a:ext cx="4589463" cy="581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1600">
                <a:ea typeface="宋体" panose="02010600030101010101" pitchFamily="2" charset="-122"/>
              </a:rPr>
              <a:t>A more complete state diagram is in Appendix C.</a:t>
            </a:r>
            <a:endParaRPr lang="en-US" altLang="zh-CN" sz="1600">
              <a:ea typeface="宋体" panose="02010600030101010101" pitchFamily="2" charset="-122"/>
            </a:endParaRPr>
          </a:p>
          <a:p>
            <a:r>
              <a:rPr lang="en-US" altLang="zh-CN" sz="1600">
                <a:ea typeface="宋体" panose="02010600030101010101" pitchFamily="2" charset="-122"/>
              </a:rPr>
              <a:t>It will be more understandable after Chapter 5.</a:t>
            </a:r>
            <a:endParaRPr lang="en-US" altLang="zh-CN" sz="160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02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75656" y="-1191"/>
            <a:ext cx="665297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05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系统时钟如果不停止，控制单元会不断重复地进行指令处理。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b="0" dirty="0" smtClean="0">
                <a:ea typeface="宋体" panose="02010600030101010101" pitchFamily="2" charset="-122"/>
              </a:rPr>
              <a:t>不是执行程序的指令，就是执行操作系统的指令。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endParaRPr lang="en-US" altLang="zh-CN" sz="2700" dirty="0" smtClean="0">
              <a:ea typeface="宋体" panose="02010600030101010101" pitchFamily="2" charset="-122"/>
            </a:endParaRPr>
          </a:p>
          <a:p>
            <a:pPr marL="365760" lvl="1" indent="-255905">
              <a:spcBef>
                <a:spcPts val="400"/>
              </a:spcBef>
              <a:buSzPct val="68000"/>
              <a:buFont typeface="Wingdings 3"/>
              <a:buChar char=""/>
            </a:pPr>
            <a:r>
              <a:rPr lang="zh-CN" altLang="en-US" sz="2700" dirty="0" smtClean="0">
                <a:ea typeface="宋体" panose="02010600030101010101" pitchFamily="2" charset="-122"/>
              </a:rPr>
              <a:t>系统停机的方法：停止时钟（</a:t>
            </a:r>
            <a:r>
              <a:rPr lang="en-US" altLang="zh-CN" sz="2700" dirty="0" smtClean="0">
                <a:ea typeface="宋体" panose="02010600030101010101" pitchFamily="2" charset="-122"/>
              </a:rPr>
              <a:t>S=1,R=0</a:t>
            </a:r>
            <a:r>
              <a:rPr lang="zh-CN" altLang="en-US" sz="2700" dirty="0" smtClean="0">
                <a:ea typeface="宋体" panose="02010600030101010101" pitchFamily="2" charset="-122"/>
              </a:rPr>
              <a:t>）。控制单元状态机是在时钟变化控制下进行状态切换，时钟停止，状态机停止工作，终止指令的执行。</a:t>
            </a:r>
            <a:endParaRPr lang="en-US" altLang="zh-CN" sz="2700" dirty="0" smtClean="0">
              <a:ea typeface="宋体" panose="02010600030101010101" pitchFamily="2" charset="-122"/>
            </a:endParaRPr>
          </a:p>
        </p:txBody>
      </p:sp>
      <p:sp>
        <p:nvSpPr>
          <p:cNvPr id="25603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停机操作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pic>
        <p:nvPicPr>
          <p:cNvPr id="25605" name="Picture 2056" descr="C:\Documents and Settings\Greg Byrd\My Documents\ece206\mh-slides\ch04\ch04-24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843808" y="4610819"/>
            <a:ext cx="4876800" cy="191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 smtClean="0">
                <a:ea typeface="宋体" panose="02010600030101010101" pitchFamily="2" charset="-122"/>
              </a:rPr>
              <a:t>冯诺依曼体系结构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r>
              <a:rPr lang="zh-CN" altLang="en-US" dirty="0" smtClean="0">
                <a:ea typeface="宋体" panose="02010600030101010101" pitchFamily="2" charset="-122"/>
              </a:rPr>
              <a:t>指令</a:t>
            </a:r>
            <a:r>
              <a:rPr lang="zh-CN" altLang="en-US" dirty="0" smtClean="0">
                <a:ea typeface="宋体" panose="02010600030101010101" pitchFamily="2" charset="-122"/>
              </a:rPr>
              <a:t>和数据一样，要按固定的格式进行二进制编码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r>
              <a:rPr lang="zh-CN" altLang="en-US" dirty="0" smtClean="0">
                <a:ea typeface="宋体" panose="02010600030101010101" pitchFamily="2" charset="-122"/>
              </a:rPr>
              <a:t>三</a:t>
            </a:r>
            <a:r>
              <a:rPr lang="zh-CN" altLang="en-US" dirty="0" smtClean="0">
                <a:ea typeface="宋体" panose="02010600030101010101" pitchFamily="2" charset="-122"/>
              </a:rPr>
              <a:t>种类型的指令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dirty="0" smtClean="0">
                <a:ea typeface="宋体" panose="02010600030101010101" pitchFamily="2" charset="-122"/>
              </a:rPr>
              <a:t>计算型指令</a:t>
            </a:r>
            <a:r>
              <a:rPr lang="en-US" altLang="zh-CN" dirty="0" smtClean="0">
                <a:ea typeface="宋体" panose="02010600030101010101" pitchFamily="2" charset="-122"/>
              </a:rPr>
              <a:t>(ADD, AND, …)</a:t>
            </a:r>
            <a:r>
              <a:rPr lang="zh-CN" altLang="en-US" dirty="0" smtClean="0">
                <a:ea typeface="宋体" panose="02010600030101010101" pitchFamily="2" charset="-122"/>
              </a:rPr>
              <a:t> ，操作数一般都在寄存器中。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dirty="0" smtClean="0">
                <a:ea typeface="宋体" panose="02010600030101010101" pitchFamily="2" charset="-122"/>
              </a:rPr>
              <a:t>数据移动指令</a:t>
            </a:r>
            <a:r>
              <a:rPr lang="en-US" altLang="zh-CN" dirty="0" smtClean="0">
                <a:ea typeface="宋体" panose="02010600030101010101" pitchFamily="2" charset="-122"/>
              </a:rPr>
              <a:t>(LD, ST, …)</a:t>
            </a:r>
            <a:r>
              <a:rPr lang="zh-CN" altLang="en-US" dirty="0" smtClean="0">
                <a:ea typeface="宋体" panose="02010600030101010101" pitchFamily="2" charset="-122"/>
              </a:rPr>
              <a:t>，负责从寄存器和内存之间的数据转移。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dirty="0" smtClean="0">
                <a:ea typeface="宋体" panose="02010600030101010101" pitchFamily="2" charset="-122"/>
              </a:rPr>
              <a:t>控制指令</a:t>
            </a:r>
            <a:r>
              <a:rPr lang="en-US" altLang="zh-CN" dirty="0" smtClean="0">
                <a:ea typeface="宋体" panose="02010600030101010101" pitchFamily="2" charset="-122"/>
              </a:rPr>
              <a:t>(JMP, </a:t>
            </a:r>
            <a:r>
              <a:rPr lang="en-US" altLang="zh-CN" dirty="0" err="1" smtClean="0">
                <a:ea typeface="宋体" panose="02010600030101010101" pitchFamily="2" charset="-122"/>
              </a:rPr>
              <a:t>BRnz</a:t>
            </a:r>
            <a:r>
              <a:rPr lang="en-US" altLang="zh-CN" dirty="0" smtClean="0">
                <a:ea typeface="宋体" panose="02010600030101010101" pitchFamily="2" charset="-122"/>
              </a:rPr>
              <a:t>, …)</a:t>
            </a:r>
            <a:r>
              <a:rPr lang="zh-CN" altLang="en-US" dirty="0" smtClean="0">
                <a:ea typeface="宋体" panose="02010600030101010101" pitchFamily="2" charset="-122"/>
              </a:rPr>
              <a:t> ，根据条件改变指令执行顺序。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endParaRPr lang="en-US" altLang="zh-CN" dirty="0" smtClean="0">
              <a:ea typeface="宋体" panose="02010600030101010101" pitchFamily="2" charset="-122"/>
            </a:endParaRPr>
          </a:p>
          <a:p>
            <a:r>
              <a:rPr lang="zh-CN" altLang="en-US" dirty="0" smtClean="0">
                <a:ea typeface="宋体" panose="02010600030101010101" pitchFamily="2" charset="-122"/>
              </a:rPr>
              <a:t>指令执行的六个基本步骤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     </a:t>
            </a:r>
            <a:r>
              <a:rPr lang="en-US" altLang="zh-CN" sz="3200" b="0" dirty="0" smtClean="0">
                <a:solidFill>
                  <a:schemeClr val="accent2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3200" b="0" dirty="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D  EA  OP  EX  S</a:t>
            </a:r>
            <a:endParaRPr lang="en-US" altLang="zh-CN" sz="3200" b="0" dirty="0" smtClean="0">
              <a:solidFill>
                <a:schemeClr val="accent2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 smtClean="0">
                <a:ea typeface="宋体" panose="02010600030101010101" pitchFamily="2" charset="-122"/>
                <a:sym typeface="Symbol" panose="05050102010706020507" pitchFamily="18" charset="2"/>
              </a:rPr>
              <a:t>并不是所有的指令执行都需要六个步骤完成。每一个步骤的执行时间也可能不同。</a:t>
            </a:r>
            <a:endParaRPr lang="en-US" altLang="zh-CN" dirty="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</a:pPr>
            <a:endParaRPr lang="en-US" altLang="zh-CN" dirty="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</a:pPr>
            <a:endParaRPr lang="en-US" altLang="zh-CN" dirty="0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总结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0</TotalTime>
  <Words>4522</Words>
  <Application>WPS 演示</Application>
  <PresentationFormat>全屏显示(4:3)</PresentationFormat>
  <Paragraphs>395</Paragraphs>
  <Slides>41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41</vt:i4>
      </vt:variant>
    </vt:vector>
  </HeadingPairs>
  <TitlesOfParts>
    <vt:vector size="63" baseType="lpstr">
      <vt:lpstr>Arial</vt:lpstr>
      <vt:lpstr>宋体</vt:lpstr>
      <vt:lpstr>Wingdings</vt:lpstr>
      <vt:lpstr>Wingdings 3</vt:lpstr>
      <vt:lpstr>Symbol</vt:lpstr>
      <vt:lpstr>Verdana</vt:lpstr>
      <vt:lpstr>Wingdings 2</vt:lpstr>
      <vt:lpstr>Wingdings</vt:lpstr>
      <vt:lpstr>Calibri</vt:lpstr>
      <vt:lpstr>Courier</vt:lpstr>
      <vt:lpstr>Courier New</vt:lpstr>
      <vt:lpstr>Times</vt:lpstr>
      <vt:lpstr>Franklin Gothic Book</vt:lpstr>
      <vt:lpstr>CourierPS</vt:lpstr>
      <vt:lpstr>Lucida Sans Unicode</vt:lpstr>
      <vt:lpstr>黑体</vt:lpstr>
      <vt:lpstr>微软雅黑</vt:lpstr>
      <vt:lpstr>Arial Unicode MS</vt:lpstr>
      <vt:lpstr>Symbol</vt:lpstr>
      <vt:lpstr>Times New Roman</vt:lpstr>
      <vt:lpstr>Segoe Print</vt:lpstr>
      <vt:lpstr>Concourse</vt:lpstr>
      <vt:lpstr>计算机系统 I </vt:lpstr>
      <vt:lpstr>计算机系统的抽象层次</vt:lpstr>
      <vt:lpstr>计算机系统微结构</vt:lpstr>
      <vt:lpstr>冯.诺伊曼模型</vt:lpstr>
      <vt:lpstr>内存</vt:lpstr>
      <vt:lpstr>内存访问接口</vt:lpstr>
      <vt:lpstr>运算单元</vt:lpstr>
      <vt:lpstr>输入和输出设备</vt:lpstr>
      <vt:lpstr>控制单元</vt:lpstr>
      <vt:lpstr>LC-3体系结构</vt:lpstr>
      <vt:lpstr>LC-3的5大部件</vt:lpstr>
      <vt:lpstr>指令处理</vt:lpstr>
      <vt:lpstr>指令：</vt:lpstr>
      <vt:lpstr>指令编码 例: LC-3的ADD指令</vt:lpstr>
      <vt:lpstr>指令编码 例: LC-3的LDR指令</vt:lpstr>
      <vt:lpstr>指令编码 例: LC-3的JMP 指令</vt:lpstr>
      <vt:lpstr>指令周期的六个步骤</vt:lpstr>
      <vt:lpstr>指令周期: FETCH</vt:lpstr>
      <vt:lpstr>指令周期:  DECODE</vt:lpstr>
      <vt:lpstr>指令周期:  EVALUATE ADDRESS</vt:lpstr>
      <vt:lpstr>指令周期: FETCH OPERANDS</vt:lpstr>
      <vt:lpstr>指令周期: 执行</vt:lpstr>
      <vt:lpstr>指令周期: STORE RESULT</vt:lpstr>
      <vt:lpstr>改变指令执行顺序-控制指令</vt:lpstr>
      <vt:lpstr>ADD指令执行过程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LDR指令执行过程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控制单元的控制状态机</vt:lpstr>
      <vt:lpstr>PowerPoint 演示文稿</vt:lpstr>
      <vt:lpstr>停机操作</vt:lpstr>
      <vt:lpstr>总结</vt:lpstr>
    </vt:vector>
  </TitlesOfParts>
  <Company>USTC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Introduction   An Hong han@ustc.edu.cn</dc:title>
  <dc:creator>hanhwt</dc:creator>
  <cp:lastModifiedBy>unclearone</cp:lastModifiedBy>
  <cp:revision>524</cp:revision>
  <cp:lastPrinted>2113-01-01T00:00:00Z</cp:lastPrinted>
  <dcterms:created xsi:type="dcterms:W3CDTF">2012-09-03T16:09:00Z</dcterms:created>
  <dcterms:modified xsi:type="dcterms:W3CDTF">2025-03-31T05:27:36Z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2052-12.1.0.20305</vt:lpwstr>
  </property>
  <property fmtid="{D5CDD505-2E9C-101B-9397-08002B2CF9AE}" pid="4" name="ICV">
    <vt:lpwstr>F22D61B76BB048058A36A1890E9F5D3C_13</vt:lpwstr>
  </property>
</Properties>
</file>